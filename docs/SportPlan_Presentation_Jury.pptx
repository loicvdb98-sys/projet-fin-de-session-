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 10 s. Titre du projet. « Bonjour, je vais vous présenter SportPlan, mon projet de fin de formation : une application web de gestion et de suivi de séances sportives.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 1 min 30 (2 min maximum).
« Bonjour, je m'appelle Loïc Vanden Berghe, j'ai 23 ans. Je viens du biomédical et je me suis reconverti en suivant la formation Développeur Full Stack chez Technofutur TIC. La logique et la résolution de problèmes m'ont mené au code. J'apprécie particulièrement le full stack, avec Python (FastAPI) côté serveur et Angular côté interface, ce qui m'a amené à réaliser ce projet. »
Rester concis : donner le contexte, pas tout le parcours.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 ~1 min.
Le problème : une personne qui s'entraîne utilise souvent plusieurs outils séparés (notes, appli de chrono, tableur) pour ses séances, performances, objectifs et progression. Le suivi est moins clair et la motivation peut baisser.
Transition : « D'où l'idée de tout centraliser dans une seule application.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 ~1 min.
Pitch à mémoriser : « Je développe une application qui aide les sportifs à planifier leurs entraînements, enregistrer leurs résultats et visualiser leur progression, afin d'avoir un suivi simple et centralisé. »
Montrer le tableau de bord : la prochaine séance où l'on est inscrit, et les modules (Séances, Calendrier, Participations, Statistiques, Objectifs…).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 ~45 s.
Public cible : les sportifs qui veulent organiser leurs séances et suivre leurs progrès, et les coachs qui suivent leurs athlètes. L'admin supervise les séances et les comptes (il ne peut pas modifier sa propre ligne depuis l'écran Comptes : garde-fou d'interface). Le rappel s'affiche à l'ouverture de l'application si une séance commence dans moins de 3 h.
Point clé : le frontend ne fait jamais confiance au rôle en cache ; chaque endpoint protégé revérifie le rôle côté serveur (require_roles). Un coach ne peut pas modifier la séance d'un autre coach.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 ~1 min.
Parcourir rapidement l'étendue du projet : authentification et profil, séances et calendrier, participations, statistiques avec graphiques, objectifs et records personnels, programmes et journal, notifications et rappels. Les captures viennent des comptes de démonstration (seed.py).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 ~1 min 15.
Versions : FastAPI 0.115, SQLAlchemy 2.0, pyodbc 5.3 (ODBC Driver 18), PyJWT (JWT HS256), argon2-cffi ; Angular 22 + Angular Material, Chart.js.
Chiffres : 56 endpoints REST (55 répartis en 12 routeurs + /health), 13 tables, 17 écrans Angular, 165 tests automatisés (103 backend Pytest, dont des tests d'API sur une base SQLite en mémoire, + 62 frontend Vitest), tous au vert.
Pourquoi Angular : composants, routage et outillage adaptés à une application riche. Pourquoi FastAPI : API rapide à écrire, validation Pydantic, documentation automatique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 ~1 min 30.
« J'ai séparé l'interface Angular du backend FastAPI afin que chaque partie ait une responsabilité claire. Côté backend, les routeurs reçoivent les requêtes et appliquent les règles métier, les schémas valident les données et les modèles représentent la base de données. Cette organisation facilite la maintenance, les tests et l'ajout de nouvelles fonctionnalités. »
Détails : les règles métier (propriété d'une séance, capacité, dates, statuts) sont appliquées dans les routeurs ; le dossier services/ ne contient qu'un utilitaire de dates (is_past). Chaque requête reçoit sa propre session SQLAlchemy (dépendance get_db), fermée automatiquement même en cas d'erreur. 11 routeurs : auth, users, sessions, exercises, participations, performances, statistics, goals, programs, notifications, journal. 6 scripts de migration SQL. Côté Angular : un dossier par fonctionnalité (page + service co-localisés).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 ~1 min.
« L'authentification s'appuie sur des jetons JWT. Les routes protégées du frontend utilisent un guard, tandis qu'un interceptor ajoute le jeton aux requêtes API. Cela évite qu'un utilisateur non connecté accède aux données privées. »
Si question : Argon2id (64 Mio de mémoire, 3 passes, 4 threads). À l'inscription comme au changement de mot de passe : 12 à 128 caractères, minuscule, majuscule et chiffre ; l'inscription publique ne crée que des comptes sportif (403 sinon). Jeton d'accès de 30 min renouvelé automatiquement par l'intercepteur Angular grâce au refresh token (7 jours, stocké en base sous forme d'empreinte SHA-256, rotation à chaque renouvellement, révoqué à la déconnexion ; un jeton déjà remplacé et réutilisé après 60 s ferme toutes les sessions du compte ; bouton « Se déconnecter de tous les appareils »). Connexion limitée à 10 tentatives par minute et par IP, et compte bloqué 15 min après 5 échecs (429) ; un email inconnu reçoit la même réponse, dans le même temps, qu'un mauvais mot de passe. En-têtes de sécurité HTTP (nosniff, CSP, anti-iframe), bibliothèque PyJWT (python-jose, abandonnée, avait des CVE). CORS limité au front Angular. Clé JWT d'au moins 32 caractères imposée au démarrage. 403 si le rôle est insuffisant (require_roles), si un coach touche la séance d'un autre coach, si quelqu'un modifie son propre rôle, ou si un non-coach modifie une présence. Toutes ces règles sont couvertes par les tests d'API. Mot de passe oublié : lien à usage unique valable 30 min, jeton stocké haché, réponse identique pour un email inconnu, et lien construit seulement avec une origine autorisée (sinon un attaquant pourrait faire envoyer un lien vers son site). Exports CSV protégés contre l'injection de formules Excel. La PWA ne met jamais en cache les réponses de l'API.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 ~4 min 30 (2 min de démo interface + 2 min 30 de code).
Démo : se connecter (coach.demo@sportplan.dev), ouvrir /workouts/new, saisir « Push &amp; force », ajouter des exercices depuis la bibliothèque (groupée par groupe musculaire), enregistrer : l'application revient sur « Séances » ; montrer ensuite la séance dans le calendrier.
Validation : vider le nom de la séance, le bouton « Enregistrer la séance » se désactive (Validators.required) ; une date passée est refusée par l'API (400).
Code : require_roles("coach", "admin") bloque les sportifs avant même d'entrer dans la fonction (403). Le code vérifie ensuite qu'un coach ne crée que ses propres séances ; les lignes masquées par « ... » refusent aussi une date passée (400) et un coach introuvable (404). Côté Angular, le formulaire réactif (Validators.required, Validators.min(1)) valide d'abord, puis le service envoie la séance au nom du coach connecté.
Transition : « Côté utilisateur, la création est rapide. Côté technique, les données sont validées d'abord dans le formulaire, puis à nouveau par le backend avant d'être enregistrées en base de données.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 ~4 min 30 (2 min de démo interface + 2 min 30 de code).
Démo : se connecter (sportif.demo@sportplan.dev), ouvrir Statistiques : vue d'ensemble (score moyen, meilleur score), historique, assiduité ; puis Objectifs (« Terminer 12 séances ce mois-ci »). Dans la fiche de l'objectif : champ « Valeur actuelle » et, pour un objectif en séances, le nombre de séances suivies depuis le 1er du mois (présences réelles) avec « Reprendre ce nombre ».
Code : Le serveur ne renvoie que les performances autorisées : toutes pour un admin, celles de ses séances pour un coach, les siennes pour un sportif. Angular calcule ensuite le score moyen et le meilleur score (average() et best() dans performances.component.ts), puis Chart.js trace la courbe avec les couleurs du thème (variables CSS).
Transition : « Cette fonctionnalité ne se contente pas de stocker une valeur : elle transforme les données d'entraînement en indicateurs visuels utiles pour mesurer la progression. »
Si le thème change pendant la démo, recliquer sur « Vue d'ensemble » pour redessiner le graphique.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 ~45 s.
L'application s'adapte au téléphone (menu burger, pages sans débordement horizontal), propose un thème sombre et un rappel (toast à l'ouverture si une séance commence dans moins de 3 h).
Difficulté à raconter : l'encodage des accents (VARCHAR → NVARCHAR), commit 7270ded.
Autres difficultés si on demande :
- Le refresh token était émis par le serveur mais jamais utilisé : déconnexion au bout de 30 min. Solution : renouvellement transparent dans l'intercepteur, avec un seul appel partagé (rotation des jetons).
- Angular 22 démarre par défaut en mode zoneless : même avec zone.js chargé, les réponses HTTP ne déclenchaient plus de rendu et des pages restaient sur « Chargement… ». Solution : provideZoneChangeDetection() et un opérateur RxJS markForCheck() réutilisable.
- Les graphiques Chart.js ne s'affichaient qu'au second clic (canvas de 0×0 derrière un @if). Solution : attendre le rendu avec un double requestAnimationFrame.
- SQL Server refusait « IS 1 » généré par .is_(True). Solution : User.is_active == True.
- Sur téléphone, les pages débordaient (jusqu'à 4 400 px de large) : align-items: flex-start dans une mise en page en colonne. Solution : align-items: stretch et menu burger.
- Les tests ont révélé que deux jetons émis dans la même seconde étaient identiques (erreur 500 sur la contrainte d'unicité en base). Solution : un identifiant aléatoire (jti) dans chaque jeton.
- Les notifications écrivaient l'heure en UTC (2 h de décalage avec l'écran). Solution : conversion Europe/Paris (paquet tzdata sous Windows).
- Le script reset_demo.py aurait échoué après l'ajout de la liste d'attente (clés étrangères). Solution : suppression des nouvelles tables, et un test qui le vérifie.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 20 à 30 s.
« Pour conclure, ce projet répond au besoin de centraliser le suivi sportif : planifier, enregistrer et analyser ses entraînements. J'ai construit une application Angular et FastAPI organisée autour d'une API sécurisée et d'une base de données relationnelle. Les fonctionnalités présentées montrent à la fois la valeur pour l'utilisateur et les choix techniques réalisés. »
Questions probables : pourquoi Angular (composants, routage, outillage) ; pourquoi FastAPI (rapide, validation Pydantic, documentation automatique /docs) ; pourquoi séparer front et back (responsabilités, API réutilisable) ; protection des comptes (Argon2, JWT, rôles revérifiés côté serveur) ; pourquoi SQLAlchemy (modèles Python cohérents avec la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1.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118"/>
        </a:solidFill>
      </p:bgPr>
    </p:bg>
    <p:spTree>
      <p:nvGrpSpPr>
        <p:cNvPr id="1" name=""/>
        <p:cNvGrpSpPr/>
        <p:nvPr/>
      </p:nvGrpSpPr>
      <p:grpSpPr>
        <a:xfrm>
          <a:off x="0" y="0"/>
          <a:ext cx="0" cy="0"/>
          <a:chOff x="0" y="0"/>
          <a:chExt cx="0" cy="0"/>
        </a:xfrm>
      </p:grpSpPr>
      <p:sp>
        <p:nvSpPr>
          <p:cNvPr id="2" name="Shape 0"/>
          <p:cNvSpPr/>
          <p:nvPr/>
        </p:nvSpPr>
        <p:spPr>
          <a:xfrm>
            <a:off x="640080" y="566928"/>
            <a:ext cx="566928" cy="566928"/>
          </a:xfrm>
          <a:prstGeom prst="roundRect">
            <a:avLst>
              <a:gd name="adj" fmla="val 28000"/>
            </a:avLst>
          </a:prstGeom>
          <a:solidFill>
            <a:srgbClr val="9C2F68"/>
          </a:solidFill>
          <a:ln w="12700">
            <a:solidFill>
              <a:srgbClr val="9C2F68"/>
            </a:solidFill>
            <a:prstDash val="solid"/>
          </a:ln>
        </p:spPr>
      </p:sp>
      <p:pic>
        <p:nvPicPr>
          <p:cNvPr id="3" name="Image 0" descr="preencoded.png">    </p:cNvPr>
          <p:cNvPicPr>
            <a:picLocks noChangeAspect="1"/>
          </p:cNvPicPr>
          <p:nvPr/>
        </p:nvPicPr>
        <p:blipFill>
          <a:blip r:embed="rId1"/>
          <a:stretch>
            <a:fillRect/>
          </a:stretch>
        </p:blipFill>
        <p:spPr>
          <a:xfrm>
            <a:off x="776143" y="702991"/>
            <a:ext cx="294803" cy="294803"/>
          </a:xfrm>
          <a:prstGeom prst="rect">
            <a:avLst/>
          </a:prstGeom>
        </p:spPr>
      </p:pic>
      <p:sp>
        <p:nvSpPr>
          <p:cNvPr id="4" name="Text 1"/>
          <p:cNvSpPr txBox="1"/>
          <p:nvPr/>
        </p:nvSpPr>
        <p:spPr>
          <a:xfrm>
            <a:off x="1353312" y="566928"/>
            <a:ext cx="2743200" cy="56692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SportPlan</a:t>
            </a:r>
            <a:endParaRPr lang="en-US" sz="2200" dirty="0"/>
          </a:p>
        </p:txBody>
      </p:sp>
      <p:sp>
        <p:nvSpPr>
          <p:cNvPr id="5" name="Text 2"/>
          <p:cNvSpPr txBox="1"/>
          <p:nvPr/>
        </p:nvSpPr>
        <p:spPr>
          <a:xfrm>
            <a:off x="640080" y="1874520"/>
            <a:ext cx="5669280" cy="274320"/>
          </a:xfrm>
          <a:prstGeom prst="rect">
            <a:avLst/>
          </a:prstGeom>
          <a:noFill/>
          <a:ln/>
        </p:spPr>
        <p:txBody>
          <a:bodyPr wrap="square" lIns="0" tIns="0" rIns="0" bIns="0" rtlCol="0" anchor="t"/>
          <a:lstStyle/>
          <a:p>
            <a:pPr indent="0" marL="0">
              <a:buNone/>
            </a:pPr>
            <a:r>
              <a:rPr lang="en-US" sz="1200" b="1" spc="300" kern="0" dirty="0">
                <a:solidFill>
                  <a:srgbClr val="E3A857"/>
                </a:solidFill>
                <a:latin typeface="Calibri" pitchFamily="34" charset="0"/>
                <a:ea typeface="Calibri" pitchFamily="34" charset="-122"/>
                <a:cs typeface="Calibri" pitchFamily="34" charset="-120"/>
              </a:rPr>
              <a:t>PROJET DE FIN DE FORMATION</a:t>
            </a:r>
            <a:endParaRPr lang="en-US" sz="1200" dirty="0"/>
          </a:p>
        </p:txBody>
      </p:sp>
      <p:sp>
        <p:nvSpPr>
          <p:cNvPr id="6" name="Text 3"/>
          <p:cNvSpPr txBox="1"/>
          <p:nvPr/>
        </p:nvSpPr>
        <p:spPr>
          <a:xfrm>
            <a:off x="640080" y="2240280"/>
            <a:ext cx="4937760" cy="160020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Gérer et suivre ses séances sportives</a:t>
            </a:r>
            <a:endParaRPr lang="en-US" sz="4400" dirty="0"/>
          </a:p>
        </p:txBody>
      </p:sp>
      <p:sp>
        <p:nvSpPr>
          <p:cNvPr id="7" name="Text 4"/>
          <p:cNvSpPr txBox="1"/>
          <p:nvPr/>
        </p:nvSpPr>
        <p:spPr>
          <a:xfrm>
            <a:off x="640080" y="3977640"/>
            <a:ext cx="4846320" cy="868680"/>
          </a:xfrm>
          <a:prstGeom prst="rect">
            <a:avLst/>
          </a:prstGeom>
          <a:noFill/>
          <a:ln/>
        </p:spPr>
        <p:txBody>
          <a:bodyPr wrap="square" lIns="0" tIns="0" rIns="0" bIns="0" rtlCol="0" anchor="t"/>
          <a:lstStyle/>
          <a:p>
            <a:pPr indent="0" marL="0">
              <a:buNone/>
            </a:pPr>
            <a:r>
              <a:rPr lang="en-US" sz="1600" dirty="0">
                <a:solidFill>
                  <a:srgbClr val="D9C7CD"/>
                </a:solidFill>
                <a:latin typeface="Calibri" pitchFamily="34" charset="0"/>
                <a:ea typeface="Calibri" pitchFamily="34" charset="-122"/>
                <a:cs typeface="Calibri" pitchFamily="34" charset="-120"/>
              </a:rPr>
              <a:t>Planifier ses entraînements, enregistrer ses résultats et visualiser sa progression, dans une seule application web.</a:t>
            </a:r>
            <a:endParaRPr lang="en-US" sz="1600" dirty="0"/>
          </a:p>
        </p:txBody>
      </p:sp>
      <p:sp>
        <p:nvSpPr>
          <p:cNvPr id="8" name="Text 5"/>
          <p:cNvSpPr txBox="1"/>
          <p:nvPr/>
        </p:nvSpPr>
        <p:spPr>
          <a:xfrm>
            <a:off x="640080" y="5074920"/>
            <a:ext cx="4572000" cy="36576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Loïc Vanden Berghe</a:t>
            </a:r>
            <a:endParaRPr lang="en-US" sz="1800" dirty="0"/>
          </a:p>
        </p:txBody>
      </p:sp>
      <p:sp>
        <p:nvSpPr>
          <p:cNvPr id="9" name="Text 6"/>
          <p:cNvSpPr txBox="1"/>
          <p:nvPr/>
        </p:nvSpPr>
        <p:spPr>
          <a:xfrm>
            <a:off x="640080" y="5440680"/>
            <a:ext cx="4572000" cy="292608"/>
          </a:xfrm>
          <a:prstGeom prst="rect">
            <a:avLst/>
          </a:prstGeom>
          <a:noFill/>
          <a:ln/>
        </p:spPr>
        <p:txBody>
          <a:bodyPr wrap="square" lIns="0" tIns="0" rIns="0" bIns="0" rtlCol="0" anchor="t"/>
          <a:lstStyle/>
          <a:p>
            <a:pPr indent="0" marL="0">
              <a:buNone/>
            </a:pPr>
            <a:r>
              <a:rPr lang="en-US" sz="1300" dirty="0">
                <a:solidFill>
                  <a:srgbClr val="D9C7CD"/>
                </a:solidFill>
                <a:latin typeface="Calibri" pitchFamily="34" charset="0"/>
                <a:ea typeface="Calibri" pitchFamily="34" charset="-122"/>
                <a:cs typeface="Calibri" pitchFamily="34" charset="-120"/>
              </a:rPr>
              <a:t>Développeur Full Stack · Technofutur TIC · 2026</a:t>
            </a:r>
            <a:endParaRPr lang="en-US" sz="1300" dirty="0"/>
          </a:p>
        </p:txBody>
      </p:sp>
      <p:sp>
        <p:nvSpPr>
          <p:cNvPr id="10" name="Shape 7"/>
          <p:cNvSpPr/>
          <p:nvPr/>
        </p:nvSpPr>
        <p:spPr>
          <a:xfrm>
            <a:off x="640080" y="5943600"/>
            <a:ext cx="1234440" cy="329184"/>
          </a:xfrm>
          <a:prstGeom prst="roundRect">
            <a:avLst>
              <a:gd name="adj" fmla="val 50000"/>
            </a:avLst>
          </a:prstGeom>
          <a:solidFill>
            <a:srgbClr val="2E1C27"/>
          </a:solidFill>
          <a:ln w="12700">
            <a:solidFill>
              <a:srgbClr val="5A3A4A"/>
            </a:solidFill>
            <a:prstDash val="solid"/>
          </a:ln>
        </p:spPr>
      </p:sp>
      <p:sp>
        <p:nvSpPr>
          <p:cNvPr id="11" name="Text 8"/>
          <p:cNvSpPr txBox="1"/>
          <p:nvPr/>
        </p:nvSpPr>
        <p:spPr>
          <a:xfrm>
            <a:off x="640080" y="5943600"/>
            <a:ext cx="1234440" cy="329184"/>
          </a:xfrm>
          <a:prstGeom prst="rect">
            <a:avLst/>
          </a:prstGeom>
          <a:noFill/>
          <a:ln/>
        </p:spPr>
        <p:txBody>
          <a:bodyPr wrap="square" lIns="0" tIns="0" rIns="0" bIns="0" rtlCol="0" anchor="ctr"/>
          <a:lstStyle/>
          <a:p>
            <a:pPr algn="ctr" indent="0" marL="0">
              <a:buNone/>
            </a:pPr>
            <a:r>
              <a:rPr lang="en-US" sz="1100" dirty="0">
                <a:solidFill>
                  <a:srgbClr val="D9C7CD"/>
                </a:solidFill>
                <a:latin typeface="Calibri" pitchFamily="34" charset="0"/>
                <a:ea typeface="Calibri" pitchFamily="34" charset="-122"/>
                <a:cs typeface="Calibri" pitchFamily="34" charset="-120"/>
              </a:rPr>
              <a:t>Angular 22</a:t>
            </a:r>
            <a:endParaRPr lang="en-US" sz="1100" dirty="0"/>
          </a:p>
        </p:txBody>
      </p:sp>
      <p:sp>
        <p:nvSpPr>
          <p:cNvPr id="12" name="Shape 9"/>
          <p:cNvSpPr/>
          <p:nvPr/>
        </p:nvSpPr>
        <p:spPr>
          <a:xfrm>
            <a:off x="2011680" y="5943600"/>
            <a:ext cx="1234440" cy="329184"/>
          </a:xfrm>
          <a:prstGeom prst="roundRect">
            <a:avLst>
              <a:gd name="adj" fmla="val 50000"/>
            </a:avLst>
          </a:prstGeom>
          <a:solidFill>
            <a:srgbClr val="2E1C27"/>
          </a:solidFill>
          <a:ln w="12700">
            <a:solidFill>
              <a:srgbClr val="5A3A4A"/>
            </a:solidFill>
            <a:prstDash val="solid"/>
          </a:ln>
        </p:spPr>
      </p:sp>
      <p:sp>
        <p:nvSpPr>
          <p:cNvPr id="13" name="Text 10"/>
          <p:cNvSpPr txBox="1"/>
          <p:nvPr/>
        </p:nvSpPr>
        <p:spPr>
          <a:xfrm>
            <a:off x="2011680" y="5943600"/>
            <a:ext cx="1234440" cy="329184"/>
          </a:xfrm>
          <a:prstGeom prst="rect">
            <a:avLst/>
          </a:prstGeom>
          <a:noFill/>
          <a:ln/>
        </p:spPr>
        <p:txBody>
          <a:bodyPr wrap="square" lIns="0" tIns="0" rIns="0" bIns="0" rtlCol="0" anchor="ctr"/>
          <a:lstStyle/>
          <a:p>
            <a:pPr algn="ctr" indent="0" marL="0">
              <a:buNone/>
            </a:pPr>
            <a:r>
              <a:rPr lang="en-US" sz="1100" dirty="0">
                <a:solidFill>
                  <a:srgbClr val="D9C7CD"/>
                </a:solidFill>
                <a:latin typeface="Calibri" pitchFamily="34" charset="0"/>
                <a:ea typeface="Calibri" pitchFamily="34" charset="-122"/>
                <a:cs typeface="Calibri" pitchFamily="34" charset="-120"/>
              </a:rPr>
              <a:t>FastAPI</a:t>
            </a:r>
            <a:endParaRPr lang="en-US" sz="1100" dirty="0"/>
          </a:p>
        </p:txBody>
      </p:sp>
      <p:sp>
        <p:nvSpPr>
          <p:cNvPr id="14" name="Shape 11"/>
          <p:cNvSpPr/>
          <p:nvPr/>
        </p:nvSpPr>
        <p:spPr>
          <a:xfrm>
            <a:off x="3383280" y="5943600"/>
            <a:ext cx="1234440" cy="329184"/>
          </a:xfrm>
          <a:prstGeom prst="roundRect">
            <a:avLst>
              <a:gd name="adj" fmla="val 50000"/>
            </a:avLst>
          </a:prstGeom>
          <a:solidFill>
            <a:srgbClr val="2E1C27"/>
          </a:solidFill>
          <a:ln w="12700">
            <a:solidFill>
              <a:srgbClr val="5A3A4A"/>
            </a:solidFill>
            <a:prstDash val="solid"/>
          </a:ln>
        </p:spPr>
      </p:sp>
      <p:sp>
        <p:nvSpPr>
          <p:cNvPr id="15" name="Text 12"/>
          <p:cNvSpPr txBox="1"/>
          <p:nvPr/>
        </p:nvSpPr>
        <p:spPr>
          <a:xfrm>
            <a:off x="3383280" y="5943600"/>
            <a:ext cx="1234440" cy="329184"/>
          </a:xfrm>
          <a:prstGeom prst="rect">
            <a:avLst/>
          </a:prstGeom>
          <a:noFill/>
          <a:ln/>
        </p:spPr>
        <p:txBody>
          <a:bodyPr wrap="square" lIns="0" tIns="0" rIns="0" bIns="0" rtlCol="0" anchor="ctr"/>
          <a:lstStyle/>
          <a:p>
            <a:pPr algn="ctr" indent="0" marL="0">
              <a:buNone/>
            </a:pPr>
            <a:r>
              <a:rPr lang="en-US" sz="1100" dirty="0">
                <a:solidFill>
                  <a:srgbClr val="D9C7CD"/>
                </a:solidFill>
                <a:latin typeface="Calibri" pitchFamily="34" charset="0"/>
                <a:ea typeface="Calibri" pitchFamily="34" charset="-122"/>
                <a:cs typeface="Calibri" pitchFamily="34" charset="-120"/>
              </a:rPr>
              <a:t>SQL Server</a:t>
            </a:r>
            <a:endParaRPr lang="en-US" sz="1100" dirty="0"/>
          </a:p>
        </p:txBody>
      </p:sp>
      <p:sp>
        <p:nvSpPr>
          <p:cNvPr id="16" name="Shape 13"/>
          <p:cNvSpPr/>
          <p:nvPr/>
        </p:nvSpPr>
        <p:spPr>
          <a:xfrm>
            <a:off x="6263640" y="914400"/>
            <a:ext cx="5394960" cy="3374136"/>
          </a:xfrm>
          <a:prstGeom prst="roundRect">
            <a:avLst>
              <a:gd name="adj" fmla="val 2168"/>
            </a:avLst>
          </a:prstGeom>
          <a:solidFill>
            <a:srgbClr val="FFFFFF"/>
          </a:solidFill>
          <a:ln w="9525">
            <a:solidFill>
              <a:srgbClr val="E6D8DE"/>
            </a:solidFill>
            <a:prstDash val="solid"/>
          </a:ln>
          <a:effectLst>
            <a:outerShdw sx="100000" sy="100000" kx="0" ky="0" algn="bl" rotWithShape="0" blurRad="177800" dist="38100" dir="5400000">
              <a:srgbClr val="000000">
                <a:alpha val="16000"/>
              </a:srgbClr>
            </a:outerShdw>
          </a:effectLst>
        </p:spPr>
      </p:sp>
      <p:pic>
        <p:nvPicPr>
          <p:cNvPr id="17" name="Image 1" descr="img/dashboard.png">    </p:cNvPr>
          <p:cNvPicPr>
            <a:picLocks noChangeAspect="1"/>
          </p:cNvPicPr>
          <p:nvPr/>
        </p:nvPicPr>
        <p:blipFill>
          <a:blip r:embed="rId2"/>
          <a:stretch>
            <a:fillRect/>
          </a:stretch>
        </p:blipFill>
        <p:spPr>
          <a:xfrm>
            <a:off x="6263640" y="914400"/>
            <a:ext cx="5394960" cy="3374136"/>
          </a:xfrm>
          <a:prstGeom prst="rect">
            <a:avLst/>
          </a:prstGeom>
        </p:spPr>
      </p:pic>
      <p:sp>
        <p:nvSpPr>
          <p:cNvPr id="18" name="Shape 14"/>
          <p:cNvSpPr/>
          <p:nvPr/>
        </p:nvSpPr>
        <p:spPr>
          <a:xfrm>
            <a:off x="5760720" y="2788920"/>
            <a:ext cx="1572768" cy="3401568"/>
          </a:xfrm>
          <a:prstGeom prst="roundRect">
            <a:avLst>
              <a:gd name="adj" fmla="val 4651"/>
            </a:avLst>
          </a:prstGeom>
          <a:solidFill>
            <a:srgbClr val="FFFFFF"/>
          </a:solidFill>
          <a:ln w="9525">
            <a:solidFill>
              <a:srgbClr val="E6D8DE"/>
            </a:solidFill>
            <a:prstDash val="solid"/>
          </a:ln>
          <a:effectLst>
            <a:outerShdw sx="100000" sy="100000" kx="0" ky="0" algn="bl" rotWithShape="0" blurRad="177800" dist="38100" dir="5400000">
              <a:srgbClr val="000000">
                <a:alpha val="16000"/>
              </a:srgbClr>
            </a:outerShdw>
          </a:effectLst>
        </p:spPr>
      </p:sp>
      <p:pic>
        <p:nvPicPr>
          <p:cNvPr id="19" name="Image 2" descr="img/mobile-dashboard.png">    </p:cNvPr>
          <p:cNvPicPr>
            <a:picLocks noChangeAspect="1"/>
          </p:cNvPicPr>
          <p:nvPr/>
        </p:nvPicPr>
        <p:blipFill>
          <a:blip r:embed="rId3"/>
          <a:stretch>
            <a:fillRect/>
          </a:stretch>
        </p:blipFill>
        <p:spPr>
          <a:xfrm>
            <a:off x="5760720" y="2788920"/>
            <a:ext cx="1572768" cy="34015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300" kern="0" dirty="0">
                <a:solidFill>
                  <a:srgbClr val="7A4A12"/>
                </a:solidFill>
                <a:latin typeface="Calibri" pitchFamily="34" charset="0"/>
                <a:ea typeface="Calibri" pitchFamily="34" charset="-122"/>
                <a:cs typeface="Calibri" pitchFamily="34" charset="-120"/>
              </a:rPr>
              <a:t>INTRODUCTION</a:t>
            </a:r>
            <a:endParaRPr lang="en-US" sz="1200" dirty="0"/>
          </a:p>
        </p:txBody>
      </p:sp>
      <p:sp>
        <p:nvSpPr>
          <p:cNvPr id="3" name="Text 1"/>
          <p:cNvSpPr txBox="1"/>
          <p:nvPr/>
        </p:nvSpPr>
        <p:spPr>
          <a:xfrm>
            <a:off x="548640" y="694944"/>
            <a:ext cx="11064240" cy="685800"/>
          </a:xfrm>
          <a:prstGeom prst="rect">
            <a:avLst/>
          </a:prstGeom>
          <a:noFill/>
          <a:ln/>
        </p:spPr>
        <p:txBody>
          <a:bodyPr wrap="square" lIns="0" tIns="0" rIns="0" bIns="0" rtlCol="0" anchor="t"/>
          <a:lstStyle/>
          <a:p>
            <a:pPr indent="0" marL="0">
              <a:buNone/>
            </a:pPr>
            <a:r>
              <a:rPr lang="en-US" sz="3400" b="1" dirty="0">
                <a:solidFill>
                  <a:srgbClr val="241820"/>
                </a:solidFill>
                <a:latin typeface="Calibri" pitchFamily="34" charset="0"/>
                <a:ea typeface="Calibri" pitchFamily="34" charset="-122"/>
                <a:cs typeface="Calibri" pitchFamily="34" charset="-120"/>
              </a:rPr>
              <a:t>Qui suis-je ?</a:t>
            </a:r>
            <a:endParaRPr lang="en-US" sz="3400" dirty="0"/>
          </a:p>
        </p:txBody>
      </p:sp>
      <p:sp>
        <p:nvSpPr>
          <p:cNvPr id="4" name="Text 2"/>
          <p:cNvSpPr txBox="1"/>
          <p:nvPr/>
        </p:nvSpPr>
        <p:spPr>
          <a:xfrm>
            <a:off x="548640" y="6419088"/>
            <a:ext cx="2743200" cy="256032"/>
          </a:xfrm>
          <a:prstGeom prst="rect">
            <a:avLst/>
          </a:prstGeom>
          <a:noFill/>
          <a:ln/>
        </p:spPr>
        <p:txBody>
          <a:bodyPr wrap="square" lIns="0" tIns="0" rIns="0" bIns="0" rtlCol="0" anchor="t"/>
          <a:lstStyle/>
          <a:p>
            <a:pPr indent="0" marL="0">
              <a:buNone/>
            </a:pPr>
            <a:r>
              <a:rPr lang="en-US" sz="1000" dirty="0">
                <a:solidFill>
                  <a:srgbClr val="A08C96"/>
                </a:solidFill>
                <a:latin typeface="Calibri" pitchFamily="34" charset="0"/>
                <a:ea typeface="Calibri" pitchFamily="34" charset="-122"/>
                <a:cs typeface="Calibri" pitchFamily="34" charset="-120"/>
              </a:rPr>
              <a:t>SportPlan</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t"/>
          <a:lstStyle/>
          <a:p>
            <a:pPr algn="r" indent="0" marL="0">
              <a:buNone/>
            </a:pPr>
            <a:r>
              <a:rPr lang="en-US" sz="1000" dirty="0">
                <a:solidFill>
                  <a:srgbClr val="A08C96"/>
                </a:solidFill>
                <a:latin typeface="Calibri" pitchFamily="34" charset="0"/>
                <a:ea typeface="Calibri" pitchFamily="34" charset="-122"/>
                <a:cs typeface="Calibri" pitchFamily="34" charset="-120"/>
              </a:rPr>
              <a:t>2</a:t>
            </a:r>
            <a:endParaRPr lang="en-US" sz="1000" dirty="0"/>
          </a:p>
        </p:txBody>
      </p:sp>
      <p:sp>
        <p:nvSpPr>
          <p:cNvPr id="6" name="Shape 4"/>
          <p:cNvSpPr/>
          <p:nvPr/>
        </p:nvSpPr>
        <p:spPr>
          <a:xfrm>
            <a:off x="548640" y="1600200"/>
            <a:ext cx="3931920" cy="4114800"/>
          </a:xfrm>
          <a:prstGeom prst="roundRect">
            <a:avLst>
              <a:gd name="adj" fmla="val 3256"/>
            </a:avLst>
          </a:prstGeom>
          <a:solidFill>
            <a:srgbClr val="F6EDF1"/>
          </a:solidFill>
          <a:ln w="12700">
            <a:solidFill>
              <a:srgbClr val="F6EDF1"/>
            </a:solidFill>
            <a:prstDash val="solid"/>
          </a:ln>
        </p:spPr>
      </p:sp>
      <p:sp>
        <p:nvSpPr>
          <p:cNvPr id="7" name="Shape 5"/>
          <p:cNvSpPr/>
          <p:nvPr/>
        </p:nvSpPr>
        <p:spPr>
          <a:xfrm>
            <a:off x="914400" y="1874520"/>
            <a:ext cx="1371600" cy="1371600"/>
          </a:xfrm>
          <a:prstGeom prst="ellipse">
            <a:avLst/>
          </a:prstGeom>
          <a:solidFill>
            <a:srgbClr val="9C2F68"/>
          </a:solidFill>
          <a:ln w="12700">
            <a:solidFill>
              <a:srgbClr val="9C2F68"/>
            </a:solidFill>
            <a:prstDash val="solid"/>
          </a:ln>
        </p:spPr>
      </p:sp>
      <p:sp>
        <p:nvSpPr>
          <p:cNvPr id="8" name="Text 6"/>
          <p:cNvSpPr txBox="1"/>
          <p:nvPr/>
        </p:nvSpPr>
        <p:spPr>
          <a:xfrm>
            <a:off x="914400" y="187452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LV</a:t>
            </a:r>
            <a:endParaRPr lang="en-US" sz="4000" dirty="0"/>
          </a:p>
        </p:txBody>
      </p:sp>
      <p:sp>
        <p:nvSpPr>
          <p:cNvPr id="9" name="Text 7"/>
          <p:cNvSpPr txBox="1"/>
          <p:nvPr/>
        </p:nvSpPr>
        <p:spPr>
          <a:xfrm>
            <a:off x="914400" y="3429000"/>
            <a:ext cx="3383280" cy="411480"/>
          </a:xfrm>
          <a:prstGeom prst="rect">
            <a:avLst/>
          </a:prstGeom>
          <a:noFill/>
          <a:ln/>
        </p:spPr>
        <p:txBody>
          <a:bodyPr wrap="square" lIns="0" tIns="0" rIns="0" bIns="0" rtlCol="0" anchor="t"/>
          <a:lstStyle/>
          <a:p>
            <a:pPr indent="0" marL="0">
              <a:buNone/>
            </a:pPr>
            <a:r>
              <a:rPr lang="en-US" sz="2400" b="1" dirty="0">
                <a:solidFill>
                  <a:srgbClr val="241820"/>
                </a:solidFill>
                <a:latin typeface="Calibri" pitchFamily="34" charset="0"/>
                <a:ea typeface="Calibri" pitchFamily="34" charset="-122"/>
                <a:cs typeface="Calibri" pitchFamily="34" charset="-120"/>
              </a:rPr>
              <a:t>Loïc Vanden Berghe</a:t>
            </a:r>
            <a:endParaRPr lang="en-US" sz="2400" dirty="0"/>
          </a:p>
        </p:txBody>
      </p:sp>
      <p:sp>
        <p:nvSpPr>
          <p:cNvPr id="10" name="Text 8"/>
          <p:cNvSpPr txBox="1"/>
          <p:nvPr/>
        </p:nvSpPr>
        <p:spPr>
          <a:xfrm>
            <a:off x="914400" y="3858768"/>
            <a:ext cx="3291840" cy="320040"/>
          </a:xfrm>
          <a:prstGeom prst="rect">
            <a:avLst/>
          </a:prstGeom>
          <a:noFill/>
          <a:ln/>
        </p:spPr>
        <p:txBody>
          <a:bodyPr wrap="square" lIns="0" tIns="0" rIns="0" bIns="0" rtlCol="0" anchor="t"/>
          <a:lstStyle/>
          <a:p>
            <a:pPr indent="0" marL="0">
              <a:buNone/>
            </a:pPr>
            <a:r>
              <a:rPr lang="en-US" sz="1600" dirty="0">
                <a:solidFill>
                  <a:srgbClr val="6A5660"/>
                </a:solidFill>
                <a:latin typeface="Calibri" pitchFamily="34" charset="0"/>
                <a:ea typeface="Calibri" pitchFamily="34" charset="-122"/>
                <a:cs typeface="Calibri" pitchFamily="34" charset="-120"/>
              </a:rPr>
              <a:t>23 ans</a:t>
            </a:r>
            <a:endParaRPr lang="en-US" sz="1600" dirty="0"/>
          </a:p>
        </p:txBody>
      </p:sp>
      <p:sp>
        <p:nvSpPr>
          <p:cNvPr id="11" name="Text 9"/>
          <p:cNvSpPr txBox="1"/>
          <p:nvPr/>
        </p:nvSpPr>
        <p:spPr>
          <a:xfrm>
            <a:off x="914400" y="4206240"/>
            <a:ext cx="3383280" cy="320040"/>
          </a:xfrm>
          <a:prstGeom prst="rect">
            <a:avLst/>
          </a:prstGeom>
          <a:noFill/>
          <a:ln/>
        </p:spPr>
        <p:txBody>
          <a:bodyPr wrap="square" lIns="0" tIns="0" rIns="0" bIns="0" rtlCol="0" anchor="t"/>
          <a:lstStyle/>
          <a:p>
            <a:pPr indent="0" marL="0">
              <a:buNone/>
            </a:pPr>
            <a:r>
              <a:rPr lang="en-US" sz="1500" b="1" dirty="0">
                <a:solidFill>
                  <a:srgbClr val="9C2F68"/>
                </a:solidFill>
                <a:latin typeface="Calibri" pitchFamily="34" charset="0"/>
                <a:ea typeface="Calibri" pitchFamily="34" charset="-122"/>
                <a:cs typeface="Calibri" pitchFamily="34" charset="-120"/>
              </a:rPr>
              <a:t>Développeur Full Stack en formation</a:t>
            </a:r>
            <a:endParaRPr lang="en-US" sz="1500" dirty="0"/>
          </a:p>
        </p:txBody>
      </p:sp>
      <p:sp>
        <p:nvSpPr>
          <p:cNvPr id="12" name="Text 10"/>
          <p:cNvSpPr txBox="1"/>
          <p:nvPr/>
        </p:nvSpPr>
        <p:spPr>
          <a:xfrm>
            <a:off x="914400" y="4754880"/>
            <a:ext cx="3291840" cy="777240"/>
          </a:xfrm>
          <a:prstGeom prst="rect">
            <a:avLst/>
          </a:prstGeom>
          <a:noFill/>
          <a:ln/>
        </p:spPr>
        <p:txBody>
          <a:bodyPr wrap="square" lIns="0" tIns="0" rIns="0" bIns="0" rtlCol="0" anchor="t"/>
          <a:lstStyle/>
          <a:p>
            <a:pPr indent="0" marL="0">
              <a:buNone/>
            </a:pPr>
            <a:r>
              <a:rPr lang="en-US" sz="1400" i="1" dirty="0">
                <a:solidFill>
                  <a:srgbClr val="241820"/>
                </a:solidFill>
                <a:latin typeface="Calibri" pitchFamily="34" charset="0"/>
                <a:ea typeface="Calibri" pitchFamily="34" charset="-122"/>
                <a:cs typeface="Calibri" pitchFamily="34" charset="-120"/>
              </a:rPr>
              <a:t>« La logique et la résolution de problèmes m’ont mené du biomédical au code. »</a:t>
            </a:r>
            <a:endParaRPr lang="en-US" sz="1400" dirty="0"/>
          </a:p>
        </p:txBody>
      </p:sp>
      <p:sp>
        <p:nvSpPr>
          <p:cNvPr id="13" name="Shape 11"/>
          <p:cNvSpPr/>
          <p:nvPr/>
        </p:nvSpPr>
        <p:spPr>
          <a:xfrm>
            <a:off x="5394960" y="2423160"/>
            <a:ext cx="0" cy="365760"/>
          </a:xfrm>
          <a:prstGeom prst="line">
            <a:avLst/>
          </a:prstGeom>
          <a:noFill/>
          <a:ln w="25400">
            <a:solidFill>
              <a:srgbClr val="E9D3DE"/>
            </a:solidFill>
            <a:prstDash val="solid"/>
          </a:ln>
        </p:spPr>
      </p:sp>
      <p:sp>
        <p:nvSpPr>
          <p:cNvPr id="14" name="Shape 12"/>
          <p:cNvSpPr/>
          <p:nvPr/>
        </p:nvSpPr>
        <p:spPr>
          <a:xfrm>
            <a:off x="5029200" y="1691640"/>
            <a:ext cx="731520" cy="731520"/>
          </a:xfrm>
          <a:prstGeom prst="roundRect">
            <a:avLst>
              <a:gd name="adj" fmla="val 28000"/>
            </a:avLst>
          </a:prstGeom>
          <a:solidFill>
            <a:srgbClr val="E9D3DE"/>
          </a:solidFill>
          <a:ln w="12700">
            <a:solidFill>
              <a:srgbClr val="E9D3DE"/>
            </a:solidFill>
            <a:prstDash val="solid"/>
          </a:ln>
        </p:spPr>
      </p:sp>
      <p:pic>
        <p:nvPicPr>
          <p:cNvPr id="15" name="Image 0" descr="preencoded.png">    </p:cNvPr>
          <p:cNvPicPr>
            <a:picLocks noChangeAspect="1"/>
          </p:cNvPicPr>
          <p:nvPr/>
        </p:nvPicPr>
        <p:blipFill>
          <a:blip r:embed="rId1"/>
          <a:stretch>
            <a:fillRect/>
          </a:stretch>
        </p:blipFill>
        <p:spPr>
          <a:xfrm>
            <a:off x="5204765" y="1867205"/>
            <a:ext cx="380390" cy="380390"/>
          </a:xfrm>
          <a:prstGeom prst="rect">
            <a:avLst/>
          </a:prstGeom>
        </p:spPr>
      </p:pic>
      <p:sp>
        <p:nvSpPr>
          <p:cNvPr id="16" name="Text 13"/>
          <p:cNvSpPr txBox="1"/>
          <p:nvPr/>
        </p:nvSpPr>
        <p:spPr>
          <a:xfrm>
            <a:off x="6035040" y="1709928"/>
            <a:ext cx="5577840" cy="365760"/>
          </a:xfrm>
          <a:prstGeom prst="rect">
            <a:avLst/>
          </a:prstGeom>
          <a:noFill/>
          <a:ln/>
        </p:spPr>
        <p:txBody>
          <a:bodyPr wrap="square" lIns="0" tIns="0" rIns="0" bIns="0" rtlCol="0" anchor="t"/>
          <a:lstStyle/>
          <a:p>
            <a:pPr indent="0" marL="0">
              <a:buNone/>
            </a:pPr>
            <a:r>
              <a:rPr lang="en-US" sz="2000" b="1" dirty="0">
                <a:solidFill>
                  <a:srgbClr val="241820"/>
                </a:solidFill>
                <a:latin typeface="Calibri" pitchFamily="34" charset="0"/>
                <a:ea typeface="Calibri" pitchFamily="34" charset="-122"/>
                <a:cs typeface="Calibri" pitchFamily="34" charset="-120"/>
              </a:rPr>
              <a:t>Biomédical</a:t>
            </a:r>
            <a:endParaRPr lang="en-US" sz="2000" dirty="0"/>
          </a:p>
        </p:txBody>
      </p:sp>
      <p:sp>
        <p:nvSpPr>
          <p:cNvPr id="17" name="Text 14"/>
          <p:cNvSpPr txBox="1"/>
          <p:nvPr/>
        </p:nvSpPr>
        <p:spPr>
          <a:xfrm>
            <a:off x="6035040" y="2075688"/>
            <a:ext cx="5577840" cy="320040"/>
          </a:xfrm>
          <a:prstGeom prst="rect">
            <a:avLst/>
          </a:prstGeom>
          <a:noFill/>
          <a:ln/>
        </p:spPr>
        <p:txBody>
          <a:bodyPr wrap="square" lIns="0" tIns="0" rIns="0" bIns="0" rtlCol="0" anchor="t"/>
          <a:lstStyle/>
          <a:p>
            <a:pPr indent="0" marL="0">
              <a:buNone/>
            </a:pPr>
            <a:r>
              <a:rPr lang="en-US" sz="1400" dirty="0">
                <a:solidFill>
                  <a:srgbClr val="6A5660"/>
                </a:solidFill>
                <a:latin typeface="Calibri" pitchFamily="34" charset="0"/>
                <a:ea typeface="Calibri" pitchFamily="34" charset="-122"/>
                <a:cs typeface="Calibri" pitchFamily="34" charset="-120"/>
              </a:rPr>
              <a:t>Mon parcours de départ</a:t>
            </a:r>
            <a:endParaRPr lang="en-US" sz="1400" dirty="0"/>
          </a:p>
        </p:txBody>
      </p:sp>
      <p:sp>
        <p:nvSpPr>
          <p:cNvPr id="18" name="Shape 15"/>
          <p:cNvSpPr/>
          <p:nvPr/>
        </p:nvSpPr>
        <p:spPr>
          <a:xfrm>
            <a:off x="5394960" y="3520440"/>
            <a:ext cx="0" cy="365760"/>
          </a:xfrm>
          <a:prstGeom prst="line">
            <a:avLst/>
          </a:prstGeom>
          <a:noFill/>
          <a:ln w="25400">
            <a:solidFill>
              <a:srgbClr val="E9D3DE"/>
            </a:solidFill>
            <a:prstDash val="solid"/>
          </a:ln>
        </p:spPr>
      </p:sp>
      <p:sp>
        <p:nvSpPr>
          <p:cNvPr id="19" name="Shape 16"/>
          <p:cNvSpPr/>
          <p:nvPr/>
        </p:nvSpPr>
        <p:spPr>
          <a:xfrm>
            <a:off x="5029200" y="2788920"/>
            <a:ext cx="731520" cy="731520"/>
          </a:xfrm>
          <a:prstGeom prst="roundRect">
            <a:avLst>
              <a:gd name="adj" fmla="val 28000"/>
            </a:avLst>
          </a:prstGeom>
          <a:solidFill>
            <a:srgbClr val="E9D3DE"/>
          </a:solidFill>
          <a:ln w="12700">
            <a:solidFill>
              <a:srgbClr val="E9D3DE"/>
            </a:solidFill>
            <a:prstDash val="solid"/>
          </a:ln>
        </p:spPr>
      </p:sp>
      <p:pic>
        <p:nvPicPr>
          <p:cNvPr id="20" name="Image 1" descr="preencoded.png">    </p:cNvPr>
          <p:cNvPicPr>
            <a:picLocks noChangeAspect="1"/>
          </p:cNvPicPr>
          <p:nvPr/>
        </p:nvPicPr>
        <p:blipFill>
          <a:blip r:embed="rId2"/>
          <a:stretch>
            <a:fillRect/>
          </a:stretch>
        </p:blipFill>
        <p:spPr>
          <a:xfrm>
            <a:off x="5204765" y="2964485"/>
            <a:ext cx="380390" cy="380390"/>
          </a:xfrm>
          <a:prstGeom prst="rect">
            <a:avLst/>
          </a:prstGeom>
        </p:spPr>
      </p:pic>
      <p:sp>
        <p:nvSpPr>
          <p:cNvPr id="21" name="Text 17"/>
          <p:cNvSpPr txBox="1"/>
          <p:nvPr/>
        </p:nvSpPr>
        <p:spPr>
          <a:xfrm>
            <a:off x="6035040" y="2807208"/>
            <a:ext cx="5577840" cy="365760"/>
          </a:xfrm>
          <a:prstGeom prst="rect">
            <a:avLst/>
          </a:prstGeom>
          <a:noFill/>
          <a:ln/>
        </p:spPr>
        <p:txBody>
          <a:bodyPr wrap="square" lIns="0" tIns="0" rIns="0" bIns="0" rtlCol="0" anchor="t"/>
          <a:lstStyle/>
          <a:p>
            <a:pPr indent="0" marL="0">
              <a:buNone/>
            </a:pPr>
            <a:r>
              <a:rPr lang="en-US" sz="2000" b="1" dirty="0">
                <a:solidFill>
                  <a:srgbClr val="241820"/>
                </a:solidFill>
                <a:latin typeface="Calibri" pitchFamily="34" charset="0"/>
                <a:ea typeface="Calibri" pitchFamily="34" charset="-122"/>
                <a:cs typeface="Calibri" pitchFamily="34" charset="-120"/>
              </a:rPr>
              <a:t>Reconversion</a:t>
            </a:r>
            <a:endParaRPr lang="en-US" sz="2000" dirty="0"/>
          </a:p>
        </p:txBody>
      </p:sp>
      <p:sp>
        <p:nvSpPr>
          <p:cNvPr id="22" name="Text 18"/>
          <p:cNvSpPr txBox="1"/>
          <p:nvPr/>
        </p:nvSpPr>
        <p:spPr>
          <a:xfrm>
            <a:off x="6035040" y="3172968"/>
            <a:ext cx="5577840" cy="320040"/>
          </a:xfrm>
          <a:prstGeom prst="rect">
            <a:avLst/>
          </a:prstGeom>
          <a:noFill/>
          <a:ln/>
        </p:spPr>
        <p:txBody>
          <a:bodyPr wrap="square" lIns="0" tIns="0" rIns="0" bIns="0" rtlCol="0" anchor="t"/>
          <a:lstStyle/>
          <a:p>
            <a:pPr indent="0" marL="0">
              <a:buNone/>
            </a:pPr>
            <a:r>
              <a:rPr lang="en-US" sz="1400" dirty="0">
                <a:solidFill>
                  <a:srgbClr val="6A5660"/>
                </a:solidFill>
                <a:latin typeface="Calibri" pitchFamily="34" charset="0"/>
                <a:ea typeface="Calibri" pitchFamily="34" charset="-122"/>
                <a:cs typeface="Calibri" pitchFamily="34" charset="-120"/>
              </a:rPr>
              <a:t>Formation Développeur Full Stack chez Technofutur TIC</a:t>
            </a:r>
            <a:endParaRPr lang="en-US" sz="1400" dirty="0"/>
          </a:p>
        </p:txBody>
      </p:sp>
      <p:sp>
        <p:nvSpPr>
          <p:cNvPr id="23" name="Shape 19"/>
          <p:cNvSpPr/>
          <p:nvPr/>
        </p:nvSpPr>
        <p:spPr>
          <a:xfrm>
            <a:off x="5394960" y="4617720"/>
            <a:ext cx="0" cy="365760"/>
          </a:xfrm>
          <a:prstGeom prst="line">
            <a:avLst/>
          </a:prstGeom>
          <a:noFill/>
          <a:ln w="25400">
            <a:solidFill>
              <a:srgbClr val="E9D3DE"/>
            </a:solidFill>
            <a:prstDash val="solid"/>
          </a:ln>
        </p:spPr>
      </p:sp>
      <p:sp>
        <p:nvSpPr>
          <p:cNvPr id="24" name="Shape 20"/>
          <p:cNvSpPr/>
          <p:nvPr/>
        </p:nvSpPr>
        <p:spPr>
          <a:xfrm>
            <a:off x="5029200" y="3886200"/>
            <a:ext cx="731520" cy="731520"/>
          </a:xfrm>
          <a:prstGeom prst="roundRect">
            <a:avLst>
              <a:gd name="adj" fmla="val 28000"/>
            </a:avLst>
          </a:prstGeom>
          <a:solidFill>
            <a:srgbClr val="E9D3DE"/>
          </a:solidFill>
          <a:ln w="12700">
            <a:solidFill>
              <a:srgbClr val="E9D3DE"/>
            </a:solidFill>
            <a:prstDash val="solid"/>
          </a:ln>
        </p:spPr>
      </p:sp>
      <p:pic>
        <p:nvPicPr>
          <p:cNvPr id="25" name="Image 2" descr="preencoded.png">    </p:cNvPr>
          <p:cNvPicPr>
            <a:picLocks noChangeAspect="1"/>
          </p:cNvPicPr>
          <p:nvPr/>
        </p:nvPicPr>
        <p:blipFill>
          <a:blip r:embed="rId3"/>
          <a:stretch>
            <a:fillRect/>
          </a:stretch>
        </p:blipFill>
        <p:spPr>
          <a:xfrm>
            <a:off x="5204765" y="4061765"/>
            <a:ext cx="380390" cy="380390"/>
          </a:xfrm>
          <a:prstGeom prst="rect">
            <a:avLst/>
          </a:prstGeom>
        </p:spPr>
      </p:pic>
      <p:sp>
        <p:nvSpPr>
          <p:cNvPr id="26" name="Text 21"/>
          <p:cNvSpPr txBox="1"/>
          <p:nvPr/>
        </p:nvSpPr>
        <p:spPr>
          <a:xfrm>
            <a:off x="6035040" y="3904488"/>
            <a:ext cx="5577840" cy="365760"/>
          </a:xfrm>
          <a:prstGeom prst="rect">
            <a:avLst/>
          </a:prstGeom>
          <a:noFill/>
          <a:ln/>
        </p:spPr>
        <p:txBody>
          <a:bodyPr wrap="square" lIns="0" tIns="0" rIns="0" bIns="0" rtlCol="0" anchor="t"/>
          <a:lstStyle/>
          <a:p>
            <a:pPr indent="0" marL="0">
              <a:buNone/>
            </a:pPr>
            <a:r>
              <a:rPr lang="en-US" sz="2000" b="1" dirty="0">
                <a:solidFill>
                  <a:srgbClr val="241820"/>
                </a:solidFill>
                <a:latin typeface="Calibri" pitchFamily="34" charset="0"/>
                <a:ea typeface="Calibri" pitchFamily="34" charset="-122"/>
                <a:cs typeface="Calibri" pitchFamily="34" charset="-120"/>
              </a:rPr>
              <a:t>Full stack</a:t>
            </a:r>
            <a:endParaRPr lang="en-US" sz="2000" dirty="0"/>
          </a:p>
        </p:txBody>
      </p:sp>
      <p:sp>
        <p:nvSpPr>
          <p:cNvPr id="27" name="Text 22"/>
          <p:cNvSpPr txBox="1"/>
          <p:nvPr/>
        </p:nvSpPr>
        <p:spPr>
          <a:xfrm>
            <a:off x="6035040" y="4270248"/>
            <a:ext cx="5577840" cy="320040"/>
          </a:xfrm>
          <a:prstGeom prst="rect">
            <a:avLst/>
          </a:prstGeom>
          <a:noFill/>
          <a:ln/>
        </p:spPr>
        <p:txBody>
          <a:bodyPr wrap="square" lIns="0" tIns="0" rIns="0" bIns="0" rtlCol="0" anchor="t"/>
          <a:lstStyle/>
          <a:p>
            <a:pPr indent="0" marL="0">
              <a:buNone/>
            </a:pPr>
            <a:r>
              <a:rPr lang="en-US" sz="1400" dirty="0">
                <a:solidFill>
                  <a:srgbClr val="6A5660"/>
                </a:solidFill>
                <a:latin typeface="Calibri" pitchFamily="34" charset="0"/>
                <a:ea typeface="Calibri" pitchFamily="34" charset="-122"/>
                <a:cs typeface="Calibri" pitchFamily="34" charset="-120"/>
              </a:rPr>
              <a:t>Domaine de prédilection : Python (FastAPI) et Angular</a:t>
            </a:r>
            <a:endParaRPr lang="en-US" sz="1400" dirty="0"/>
          </a:p>
        </p:txBody>
      </p:sp>
      <p:sp>
        <p:nvSpPr>
          <p:cNvPr id="28" name="Shape 23"/>
          <p:cNvSpPr/>
          <p:nvPr/>
        </p:nvSpPr>
        <p:spPr>
          <a:xfrm>
            <a:off x="5029200" y="4983480"/>
            <a:ext cx="731520" cy="731520"/>
          </a:xfrm>
          <a:prstGeom prst="roundRect">
            <a:avLst>
              <a:gd name="adj" fmla="val 28000"/>
            </a:avLst>
          </a:prstGeom>
          <a:solidFill>
            <a:srgbClr val="E9D3DE"/>
          </a:solidFill>
          <a:ln w="12700">
            <a:solidFill>
              <a:srgbClr val="E9D3DE"/>
            </a:solidFill>
            <a:prstDash val="solid"/>
          </a:ln>
        </p:spPr>
      </p:sp>
      <p:pic>
        <p:nvPicPr>
          <p:cNvPr id="29" name="Image 3" descr="preencoded.png">    </p:cNvPr>
          <p:cNvPicPr>
            <a:picLocks noChangeAspect="1"/>
          </p:cNvPicPr>
          <p:nvPr/>
        </p:nvPicPr>
        <p:blipFill>
          <a:blip r:embed="rId4"/>
          <a:stretch>
            <a:fillRect/>
          </a:stretch>
        </p:blipFill>
        <p:spPr>
          <a:xfrm>
            <a:off x="5204765" y="5159045"/>
            <a:ext cx="380390" cy="380390"/>
          </a:xfrm>
          <a:prstGeom prst="rect">
            <a:avLst/>
          </a:prstGeom>
        </p:spPr>
      </p:pic>
      <p:sp>
        <p:nvSpPr>
          <p:cNvPr id="30" name="Text 24"/>
          <p:cNvSpPr txBox="1"/>
          <p:nvPr/>
        </p:nvSpPr>
        <p:spPr>
          <a:xfrm>
            <a:off x="6035040" y="5001768"/>
            <a:ext cx="5577840" cy="365760"/>
          </a:xfrm>
          <a:prstGeom prst="rect">
            <a:avLst/>
          </a:prstGeom>
          <a:noFill/>
          <a:ln/>
        </p:spPr>
        <p:txBody>
          <a:bodyPr wrap="square" lIns="0" tIns="0" rIns="0" bIns="0" rtlCol="0" anchor="t"/>
          <a:lstStyle/>
          <a:p>
            <a:pPr indent="0" marL="0">
              <a:buNone/>
            </a:pPr>
            <a:r>
              <a:rPr lang="en-US" sz="2000" b="1" dirty="0">
                <a:solidFill>
                  <a:srgbClr val="241820"/>
                </a:solidFill>
                <a:latin typeface="Calibri" pitchFamily="34" charset="0"/>
                <a:ea typeface="Calibri" pitchFamily="34" charset="-122"/>
                <a:cs typeface="Calibri" pitchFamily="34" charset="-120"/>
              </a:rPr>
              <a:t>SportPlan</a:t>
            </a:r>
            <a:endParaRPr lang="en-US" sz="2000" dirty="0"/>
          </a:p>
        </p:txBody>
      </p:sp>
      <p:sp>
        <p:nvSpPr>
          <p:cNvPr id="31" name="Text 25"/>
          <p:cNvSpPr txBox="1"/>
          <p:nvPr/>
        </p:nvSpPr>
        <p:spPr>
          <a:xfrm>
            <a:off x="6035040" y="5367528"/>
            <a:ext cx="5577840" cy="320040"/>
          </a:xfrm>
          <a:prstGeom prst="rect">
            <a:avLst/>
          </a:prstGeom>
          <a:noFill/>
          <a:ln/>
        </p:spPr>
        <p:txBody>
          <a:bodyPr wrap="square" lIns="0" tIns="0" rIns="0" bIns="0" rtlCol="0" anchor="t"/>
          <a:lstStyle/>
          <a:p>
            <a:pPr indent="0" marL="0">
              <a:buNone/>
            </a:pPr>
            <a:r>
              <a:rPr lang="en-US" sz="1400" dirty="0">
                <a:solidFill>
                  <a:srgbClr val="6A5660"/>
                </a:solidFill>
                <a:latin typeface="Calibri" pitchFamily="34" charset="0"/>
                <a:ea typeface="Calibri" pitchFamily="34" charset="-122"/>
                <a:cs typeface="Calibri" pitchFamily="34" charset="-120"/>
              </a:rPr>
              <a:t>Mon projet de fin de formation, conçu de bout en bout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300" kern="0" dirty="0">
                <a:solidFill>
                  <a:srgbClr val="7A4A12"/>
                </a:solidFill>
                <a:latin typeface="Calibri" pitchFamily="34" charset="0"/>
                <a:ea typeface="Calibri" pitchFamily="34" charset="-122"/>
                <a:cs typeface="Calibri" pitchFamily="34" charset="-120"/>
              </a:rPr>
              <a:t>LE BESOIN</a:t>
            </a:r>
            <a:endParaRPr lang="en-US" sz="1200" dirty="0"/>
          </a:p>
        </p:txBody>
      </p:sp>
      <p:sp>
        <p:nvSpPr>
          <p:cNvPr id="3" name="Text 1"/>
          <p:cNvSpPr txBox="1"/>
          <p:nvPr/>
        </p:nvSpPr>
        <p:spPr>
          <a:xfrm>
            <a:off x="548640" y="694944"/>
            <a:ext cx="11064240" cy="685800"/>
          </a:xfrm>
          <a:prstGeom prst="rect">
            <a:avLst/>
          </a:prstGeom>
          <a:noFill/>
          <a:ln/>
        </p:spPr>
        <p:txBody>
          <a:bodyPr wrap="square" lIns="0" tIns="0" rIns="0" bIns="0" rtlCol="0" anchor="t"/>
          <a:lstStyle/>
          <a:p>
            <a:pPr indent="0" marL="0">
              <a:buNone/>
            </a:pPr>
            <a:r>
              <a:rPr lang="en-US" sz="3400" b="1" dirty="0">
                <a:solidFill>
                  <a:srgbClr val="241820"/>
                </a:solidFill>
                <a:latin typeface="Calibri" pitchFamily="34" charset="0"/>
                <a:ea typeface="Calibri" pitchFamily="34" charset="-122"/>
                <a:cs typeface="Calibri" pitchFamily="34" charset="-120"/>
              </a:rPr>
              <a:t>Un suivi sportif dispersé</a:t>
            </a:r>
            <a:endParaRPr lang="en-US" sz="3400" dirty="0"/>
          </a:p>
        </p:txBody>
      </p:sp>
      <p:sp>
        <p:nvSpPr>
          <p:cNvPr id="4" name="Text 2"/>
          <p:cNvSpPr txBox="1"/>
          <p:nvPr/>
        </p:nvSpPr>
        <p:spPr>
          <a:xfrm>
            <a:off x="548640" y="6419088"/>
            <a:ext cx="2743200" cy="256032"/>
          </a:xfrm>
          <a:prstGeom prst="rect">
            <a:avLst/>
          </a:prstGeom>
          <a:noFill/>
          <a:ln/>
        </p:spPr>
        <p:txBody>
          <a:bodyPr wrap="square" lIns="0" tIns="0" rIns="0" bIns="0" rtlCol="0" anchor="t"/>
          <a:lstStyle/>
          <a:p>
            <a:pPr indent="0" marL="0">
              <a:buNone/>
            </a:pPr>
            <a:r>
              <a:rPr lang="en-US" sz="1000" dirty="0">
                <a:solidFill>
                  <a:srgbClr val="A08C96"/>
                </a:solidFill>
                <a:latin typeface="Calibri" pitchFamily="34" charset="0"/>
                <a:ea typeface="Calibri" pitchFamily="34" charset="-122"/>
                <a:cs typeface="Calibri" pitchFamily="34" charset="-120"/>
              </a:rPr>
              <a:t>SportPlan</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t"/>
          <a:lstStyle/>
          <a:p>
            <a:pPr algn="r" indent="0" marL="0">
              <a:buNone/>
            </a:pPr>
            <a:r>
              <a:rPr lang="en-US" sz="1000" dirty="0">
                <a:solidFill>
                  <a:srgbClr val="A08C96"/>
                </a:solidFill>
                <a:latin typeface="Calibri" pitchFamily="34" charset="0"/>
                <a:ea typeface="Calibri" pitchFamily="34" charset="-122"/>
                <a:cs typeface="Calibri" pitchFamily="34" charset="-120"/>
              </a:rPr>
              <a:t>3</a:t>
            </a:r>
            <a:endParaRPr lang="en-US" sz="1000" dirty="0"/>
          </a:p>
        </p:txBody>
      </p:sp>
      <p:sp>
        <p:nvSpPr>
          <p:cNvPr id="6" name="Text 4"/>
          <p:cNvSpPr txBox="1"/>
          <p:nvPr/>
        </p:nvSpPr>
        <p:spPr>
          <a:xfrm>
            <a:off x="548640" y="1463040"/>
            <a:ext cx="8595360" cy="640080"/>
          </a:xfrm>
          <a:prstGeom prst="rect">
            <a:avLst/>
          </a:prstGeom>
          <a:noFill/>
          <a:ln/>
        </p:spPr>
        <p:txBody>
          <a:bodyPr wrap="square" lIns="0" tIns="0" rIns="0" bIns="0" rtlCol="0" anchor="t"/>
          <a:lstStyle/>
          <a:p>
            <a:pPr indent="0" marL="0">
              <a:buNone/>
            </a:pPr>
            <a:r>
              <a:rPr lang="en-US" sz="1600" dirty="0">
                <a:solidFill>
                  <a:srgbClr val="6A5660"/>
                </a:solidFill>
                <a:latin typeface="Calibri" pitchFamily="34" charset="0"/>
                <a:ea typeface="Calibri" pitchFamily="34" charset="-122"/>
                <a:cs typeface="Calibri" pitchFamily="34" charset="-120"/>
              </a:rPr>
              <a:t>Une personne qui s’entraîne jongle souvent entre plusieurs outils pour noter ses séances, ses performances, ses objectifs et sa progression.</a:t>
            </a:r>
            <a:endParaRPr lang="en-US" sz="1600" dirty="0"/>
          </a:p>
        </p:txBody>
      </p:sp>
      <p:sp>
        <p:nvSpPr>
          <p:cNvPr id="7" name="Shape 5"/>
          <p:cNvSpPr/>
          <p:nvPr/>
        </p:nvSpPr>
        <p:spPr>
          <a:xfrm>
            <a:off x="548640" y="2331720"/>
            <a:ext cx="4846320" cy="914400"/>
          </a:xfrm>
          <a:prstGeom prst="roundRect">
            <a:avLst>
              <a:gd name="adj" fmla="val 14000"/>
            </a:avLst>
          </a:prstGeom>
          <a:solidFill>
            <a:srgbClr val="F6EDF1"/>
          </a:solidFill>
          <a:ln w="12700">
            <a:solidFill>
              <a:srgbClr val="F6EDF1"/>
            </a:solidFill>
            <a:prstDash val="solid"/>
          </a:ln>
        </p:spPr>
      </p:sp>
      <p:sp>
        <p:nvSpPr>
          <p:cNvPr id="8" name="Shape 6"/>
          <p:cNvSpPr/>
          <p:nvPr/>
        </p:nvSpPr>
        <p:spPr>
          <a:xfrm>
            <a:off x="749808" y="2487168"/>
            <a:ext cx="603504" cy="603504"/>
          </a:xfrm>
          <a:prstGeom prst="roundRect">
            <a:avLst>
              <a:gd name="adj" fmla="val 28000"/>
            </a:avLst>
          </a:prstGeom>
          <a:solidFill>
            <a:srgbClr val="FFFFFF"/>
          </a:solidFill>
          <a:ln w="12700">
            <a:solidFill>
              <a:srgbClr val="FFFFFF"/>
            </a:solidFill>
            <a:prstDash val="solid"/>
          </a:ln>
        </p:spPr>
      </p:sp>
      <p:pic>
        <p:nvPicPr>
          <p:cNvPr id="9" name="Image 0" descr="preencoded.png">    </p:cNvPr>
          <p:cNvPicPr>
            <a:picLocks noChangeAspect="1"/>
          </p:cNvPicPr>
          <p:nvPr/>
        </p:nvPicPr>
        <p:blipFill>
          <a:blip r:embed="rId1"/>
          <a:stretch>
            <a:fillRect/>
          </a:stretch>
        </p:blipFill>
        <p:spPr>
          <a:xfrm>
            <a:off x="894649" y="2632009"/>
            <a:ext cx="313822" cy="313822"/>
          </a:xfrm>
          <a:prstGeom prst="rect">
            <a:avLst/>
          </a:prstGeom>
        </p:spPr>
      </p:pic>
      <p:sp>
        <p:nvSpPr>
          <p:cNvPr id="10" name="Text 7"/>
          <p:cNvSpPr txBox="1"/>
          <p:nvPr/>
        </p:nvSpPr>
        <p:spPr>
          <a:xfrm>
            <a:off x="1554480" y="2478024"/>
            <a:ext cx="3657600" cy="329184"/>
          </a:xfrm>
          <a:prstGeom prst="rect">
            <a:avLst/>
          </a:prstGeom>
          <a:noFill/>
          <a:ln/>
        </p:spPr>
        <p:txBody>
          <a:bodyPr wrap="square" lIns="0" tIns="0" rIns="0" bIns="0" rtlCol="0" anchor="t"/>
          <a:lstStyle/>
          <a:p>
            <a:pPr indent="0" marL="0">
              <a:buNone/>
            </a:pPr>
            <a:r>
              <a:rPr lang="en-US" sz="1700" b="1" dirty="0">
                <a:solidFill>
                  <a:srgbClr val="241820"/>
                </a:solidFill>
                <a:latin typeface="Calibri" pitchFamily="34" charset="0"/>
                <a:ea typeface="Calibri" pitchFamily="34" charset="-122"/>
                <a:cs typeface="Calibri" pitchFamily="34" charset="-120"/>
              </a:rPr>
              <a:t>Notes papier</a:t>
            </a:r>
            <a:endParaRPr lang="en-US" sz="1700" dirty="0"/>
          </a:p>
        </p:txBody>
      </p:sp>
      <p:sp>
        <p:nvSpPr>
          <p:cNvPr id="11" name="Text 8"/>
          <p:cNvSpPr txBox="1"/>
          <p:nvPr/>
        </p:nvSpPr>
        <p:spPr>
          <a:xfrm>
            <a:off x="1554480" y="2807208"/>
            <a:ext cx="3749040" cy="310896"/>
          </a:xfrm>
          <a:prstGeom prst="rect">
            <a:avLst/>
          </a:prstGeom>
          <a:noFill/>
          <a:ln/>
        </p:spPr>
        <p:txBody>
          <a:bodyPr wrap="square" lIns="0" tIns="0" rIns="0" bIns="0" rtlCol="0" anchor="t"/>
          <a:lstStyle/>
          <a:p>
            <a:pPr indent="0" marL="0">
              <a:buNone/>
            </a:pPr>
            <a:r>
              <a:rPr lang="en-US" sz="1300" dirty="0">
                <a:solidFill>
                  <a:srgbClr val="6A5660"/>
                </a:solidFill>
                <a:latin typeface="Calibri" pitchFamily="34" charset="0"/>
                <a:ea typeface="Calibri" pitchFamily="34" charset="-122"/>
                <a:cs typeface="Calibri" pitchFamily="34" charset="-120"/>
              </a:rPr>
              <a:t>Séances et charges notées à la main</a:t>
            </a:r>
            <a:endParaRPr lang="en-US" sz="1300" dirty="0"/>
          </a:p>
        </p:txBody>
      </p:sp>
      <p:sp>
        <p:nvSpPr>
          <p:cNvPr id="12" name="Shape 9"/>
          <p:cNvSpPr/>
          <p:nvPr/>
        </p:nvSpPr>
        <p:spPr>
          <a:xfrm>
            <a:off x="548640" y="3410712"/>
            <a:ext cx="4846320" cy="914400"/>
          </a:xfrm>
          <a:prstGeom prst="roundRect">
            <a:avLst>
              <a:gd name="adj" fmla="val 14000"/>
            </a:avLst>
          </a:prstGeom>
          <a:solidFill>
            <a:srgbClr val="F6EDF1"/>
          </a:solidFill>
          <a:ln w="12700">
            <a:solidFill>
              <a:srgbClr val="F6EDF1"/>
            </a:solidFill>
            <a:prstDash val="solid"/>
          </a:ln>
        </p:spPr>
      </p:sp>
      <p:sp>
        <p:nvSpPr>
          <p:cNvPr id="13" name="Shape 10"/>
          <p:cNvSpPr/>
          <p:nvPr/>
        </p:nvSpPr>
        <p:spPr>
          <a:xfrm>
            <a:off x="749808" y="3566160"/>
            <a:ext cx="603504" cy="603504"/>
          </a:xfrm>
          <a:prstGeom prst="roundRect">
            <a:avLst>
              <a:gd name="adj" fmla="val 28000"/>
            </a:avLst>
          </a:prstGeom>
          <a:solidFill>
            <a:srgbClr val="FFFFFF"/>
          </a:solidFill>
          <a:ln w="12700">
            <a:solidFill>
              <a:srgbClr val="FFFFFF"/>
            </a:solidFill>
            <a:prstDash val="solid"/>
          </a:ln>
        </p:spPr>
      </p:sp>
      <p:pic>
        <p:nvPicPr>
          <p:cNvPr id="14" name="Image 1" descr="preencoded.png">    </p:cNvPr>
          <p:cNvPicPr>
            <a:picLocks noChangeAspect="1"/>
          </p:cNvPicPr>
          <p:nvPr/>
        </p:nvPicPr>
        <p:blipFill>
          <a:blip r:embed="rId2"/>
          <a:stretch>
            <a:fillRect/>
          </a:stretch>
        </p:blipFill>
        <p:spPr>
          <a:xfrm>
            <a:off x="894649" y="3711001"/>
            <a:ext cx="313822" cy="313822"/>
          </a:xfrm>
          <a:prstGeom prst="rect">
            <a:avLst/>
          </a:prstGeom>
        </p:spPr>
      </p:pic>
      <p:sp>
        <p:nvSpPr>
          <p:cNvPr id="15" name="Text 11"/>
          <p:cNvSpPr txBox="1"/>
          <p:nvPr/>
        </p:nvSpPr>
        <p:spPr>
          <a:xfrm>
            <a:off x="1554480" y="3557016"/>
            <a:ext cx="3657600" cy="329184"/>
          </a:xfrm>
          <a:prstGeom prst="rect">
            <a:avLst/>
          </a:prstGeom>
          <a:noFill/>
          <a:ln/>
        </p:spPr>
        <p:txBody>
          <a:bodyPr wrap="square" lIns="0" tIns="0" rIns="0" bIns="0" rtlCol="0" anchor="t"/>
          <a:lstStyle/>
          <a:p>
            <a:pPr indent="0" marL="0">
              <a:buNone/>
            </a:pPr>
            <a:r>
              <a:rPr lang="en-US" sz="1700" b="1" dirty="0">
                <a:solidFill>
                  <a:srgbClr val="241820"/>
                </a:solidFill>
                <a:latin typeface="Calibri" pitchFamily="34" charset="0"/>
                <a:ea typeface="Calibri" pitchFamily="34" charset="-122"/>
                <a:cs typeface="Calibri" pitchFamily="34" charset="-120"/>
              </a:rPr>
              <a:t>Appli de chrono</a:t>
            </a:r>
            <a:endParaRPr lang="en-US" sz="1700" dirty="0"/>
          </a:p>
        </p:txBody>
      </p:sp>
      <p:sp>
        <p:nvSpPr>
          <p:cNvPr id="16" name="Text 12"/>
          <p:cNvSpPr txBox="1"/>
          <p:nvPr/>
        </p:nvSpPr>
        <p:spPr>
          <a:xfrm>
            <a:off x="1554480" y="3886200"/>
            <a:ext cx="3749040" cy="310896"/>
          </a:xfrm>
          <a:prstGeom prst="rect">
            <a:avLst/>
          </a:prstGeom>
          <a:noFill/>
          <a:ln/>
        </p:spPr>
        <p:txBody>
          <a:bodyPr wrap="square" lIns="0" tIns="0" rIns="0" bIns="0" rtlCol="0" anchor="t"/>
          <a:lstStyle/>
          <a:p>
            <a:pPr indent="0" marL="0">
              <a:buNone/>
            </a:pPr>
            <a:r>
              <a:rPr lang="en-US" sz="1300" dirty="0">
                <a:solidFill>
                  <a:srgbClr val="6A5660"/>
                </a:solidFill>
                <a:latin typeface="Calibri" pitchFamily="34" charset="0"/>
                <a:ea typeface="Calibri" pitchFamily="34" charset="-122"/>
                <a:cs typeface="Calibri" pitchFamily="34" charset="-120"/>
              </a:rPr>
              <a:t>Résultats isolés, sans historique commun</a:t>
            </a:r>
            <a:endParaRPr lang="en-US" sz="1300" dirty="0"/>
          </a:p>
        </p:txBody>
      </p:sp>
      <p:sp>
        <p:nvSpPr>
          <p:cNvPr id="17" name="Shape 13"/>
          <p:cNvSpPr/>
          <p:nvPr/>
        </p:nvSpPr>
        <p:spPr>
          <a:xfrm>
            <a:off x="548640" y="4489704"/>
            <a:ext cx="4846320" cy="914400"/>
          </a:xfrm>
          <a:prstGeom prst="roundRect">
            <a:avLst>
              <a:gd name="adj" fmla="val 14000"/>
            </a:avLst>
          </a:prstGeom>
          <a:solidFill>
            <a:srgbClr val="F6EDF1"/>
          </a:solidFill>
          <a:ln w="12700">
            <a:solidFill>
              <a:srgbClr val="F6EDF1"/>
            </a:solidFill>
            <a:prstDash val="solid"/>
          </a:ln>
        </p:spPr>
      </p:sp>
      <p:sp>
        <p:nvSpPr>
          <p:cNvPr id="18" name="Shape 14"/>
          <p:cNvSpPr/>
          <p:nvPr/>
        </p:nvSpPr>
        <p:spPr>
          <a:xfrm>
            <a:off x="749808" y="4645152"/>
            <a:ext cx="603504" cy="603504"/>
          </a:xfrm>
          <a:prstGeom prst="roundRect">
            <a:avLst>
              <a:gd name="adj" fmla="val 28000"/>
            </a:avLst>
          </a:prstGeom>
          <a:solidFill>
            <a:srgbClr val="FFFFFF"/>
          </a:solidFill>
          <a:ln w="12700">
            <a:solidFill>
              <a:srgbClr val="FFFFFF"/>
            </a:solidFill>
            <a:prstDash val="solid"/>
          </a:ln>
        </p:spPr>
      </p:sp>
      <p:pic>
        <p:nvPicPr>
          <p:cNvPr id="19" name="Image 2" descr="preencoded.png">    </p:cNvPr>
          <p:cNvPicPr>
            <a:picLocks noChangeAspect="1"/>
          </p:cNvPicPr>
          <p:nvPr/>
        </p:nvPicPr>
        <p:blipFill>
          <a:blip r:embed="rId3"/>
          <a:stretch>
            <a:fillRect/>
          </a:stretch>
        </p:blipFill>
        <p:spPr>
          <a:xfrm>
            <a:off x="894649" y="4789993"/>
            <a:ext cx="313822" cy="313822"/>
          </a:xfrm>
          <a:prstGeom prst="rect">
            <a:avLst/>
          </a:prstGeom>
        </p:spPr>
      </p:pic>
      <p:sp>
        <p:nvSpPr>
          <p:cNvPr id="20" name="Text 15"/>
          <p:cNvSpPr txBox="1"/>
          <p:nvPr/>
        </p:nvSpPr>
        <p:spPr>
          <a:xfrm>
            <a:off x="1554480" y="4636008"/>
            <a:ext cx="3657600" cy="329184"/>
          </a:xfrm>
          <a:prstGeom prst="rect">
            <a:avLst/>
          </a:prstGeom>
          <a:noFill/>
          <a:ln/>
        </p:spPr>
        <p:txBody>
          <a:bodyPr wrap="square" lIns="0" tIns="0" rIns="0" bIns="0" rtlCol="0" anchor="t"/>
          <a:lstStyle/>
          <a:p>
            <a:pPr indent="0" marL="0">
              <a:buNone/>
            </a:pPr>
            <a:r>
              <a:rPr lang="en-US" sz="1700" b="1" dirty="0">
                <a:solidFill>
                  <a:srgbClr val="241820"/>
                </a:solidFill>
                <a:latin typeface="Calibri" pitchFamily="34" charset="0"/>
                <a:ea typeface="Calibri" pitchFamily="34" charset="-122"/>
                <a:cs typeface="Calibri" pitchFamily="34" charset="-120"/>
              </a:rPr>
              <a:t>Tableur Excel</a:t>
            </a:r>
            <a:endParaRPr lang="en-US" sz="1700" dirty="0"/>
          </a:p>
        </p:txBody>
      </p:sp>
      <p:sp>
        <p:nvSpPr>
          <p:cNvPr id="21" name="Text 16"/>
          <p:cNvSpPr txBox="1"/>
          <p:nvPr/>
        </p:nvSpPr>
        <p:spPr>
          <a:xfrm>
            <a:off x="1554480" y="4965192"/>
            <a:ext cx="3749040" cy="310896"/>
          </a:xfrm>
          <a:prstGeom prst="rect">
            <a:avLst/>
          </a:prstGeom>
          <a:noFill/>
          <a:ln/>
        </p:spPr>
        <p:txBody>
          <a:bodyPr wrap="square" lIns="0" tIns="0" rIns="0" bIns="0" rtlCol="0" anchor="t"/>
          <a:lstStyle/>
          <a:p>
            <a:pPr indent="0" marL="0">
              <a:buNone/>
            </a:pPr>
            <a:r>
              <a:rPr lang="en-US" sz="1300" dirty="0">
                <a:solidFill>
                  <a:srgbClr val="6A5660"/>
                </a:solidFill>
                <a:latin typeface="Calibri" pitchFamily="34" charset="0"/>
                <a:ea typeface="Calibri" pitchFamily="34" charset="-122"/>
                <a:cs typeface="Calibri" pitchFamily="34" charset="-120"/>
              </a:rPr>
              <a:t>Progression à calculer et tracer soi-même</a:t>
            </a:r>
            <a:endParaRPr lang="en-US" sz="1300" dirty="0"/>
          </a:p>
        </p:txBody>
      </p:sp>
      <p:pic>
        <p:nvPicPr>
          <p:cNvPr id="22" name="Image 3" descr="preencoded.png">    </p:cNvPr>
          <p:cNvPicPr>
            <a:picLocks noChangeAspect="1"/>
          </p:cNvPicPr>
          <p:nvPr/>
        </p:nvPicPr>
        <p:blipFill>
          <a:blip r:embed="rId4"/>
          <a:stretch>
            <a:fillRect/>
          </a:stretch>
        </p:blipFill>
        <p:spPr>
          <a:xfrm>
            <a:off x="5760720" y="3429000"/>
            <a:ext cx="777240" cy="777240"/>
          </a:xfrm>
          <a:prstGeom prst="rect">
            <a:avLst/>
          </a:prstGeom>
        </p:spPr>
      </p:pic>
      <p:sp>
        <p:nvSpPr>
          <p:cNvPr id="23" name="Shape 17"/>
          <p:cNvSpPr/>
          <p:nvPr/>
        </p:nvSpPr>
        <p:spPr>
          <a:xfrm>
            <a:off x="6903720" y="2331720"/>
            <a:ext cx="4736592" cy="3072384"/>
          </a:xfrm>
          <a:prstGeom prst="roundRect">
            <a:avLst>
              <a:gd name="adj" fmla="val 4167"/>
            </a:avLst>
          </a:prstGeom>
          <a:solidFill>
            <a:srgbClr val="9C2F68"/>
          </a:solidFill>
          <a:ln w="12700">
            <a:solidFill>
              <a:srgbClr val="9C2F68"/>
            </a:solidFill>
            <a:prstDash val="solid"/>
          </a:ln>
          <a:effectLst>
            <a:outerShdw sx="100000" sy="100000" kx="0" ky="0" algn="bl" rotWithShape="0" blurRad="177800" dist="38100" dir="5400000">
              <a:srgbClr val="000000">
                <a:alpha val="16000"/>
              </a:srgbClr>
            </a:outerShdw>
          </a:effectLst>
        </p:spPr>
      </p:sp>
      <p:sp>
        <p:nvSpPr>
          <p:cNvPr id="24" name="Shape 18"/>
          <p:cNvSpPr/>
          <p:nvPr/>
        </p:nvSpPr>
        <p:spPr>
          <a:xfrm>
            <a:off x="7269480" y="2697480"/>
            <a:ext cx="731520" cy="731520"/>
          </a:xfrm>
          <a:prstGeom prst="roundRect">
            <a:avLst>
              <a:gd name="adj" fmla="val 28000"/>
            </a:avLst>
          </a:prstGeom>
          <a:solidFill>
            <a:srgbClr val="7C2452"/>
          </a:solidFill>
          <a:ln w="12700">
            <a:solidFill>
              <a:srgbClr val="7C2452"/>
            </a:solidFill>
            <a:prstDash val="solid"/>
          </a:ln>
        </p:spPr>
      </p:sp>
      <p:pic>
        <p:nvPicPr>
          <p:cNvPr id="25" name="Image 4" descr="preencoded.png">    </p:cNvPr>
          <p:cNvPicPr>
            <a:picLocks noChangeAspect="1"/>
          </p:cNvPicPr>
          <p:nvPr/>
        </p:nvPicPr>
        <p:blipFill>
          <a:blip r:embed="rId5"/>
          <a:stretch>
            <a:fillRect/>
          </a:stretch>
        </p:blipFill>
        <p:spPr>
          <a:xfrm>
            <a:off x="7445045" y="2873045"/>
            <a:ext cx="380390" cy="380390"/>
          </a:xfrm>
          <a:prstGeom prst="rect">
            <a:avLst/>
          </a:prstGeom>
        </p:spPr>
      </p:pic>
      <p:sp>
        <p:nvSpPr>
          <p:cNvPr id="26" name="Text 19"/>
          <p:cNvSpPr txBox="1"/>
          <p:nvPr/>
        </p:nvSpPr>
        <p:spPr>
          <a:xfrm>
            <a:off x="7269480" y="3611880"/>
            <a:ext cx="4114800" cy="502920"/>
          </a:xfrm>
          <a:prstGeom prst="rect">
            <a:avLst/>
          </a:prstGeom>
          <a:noFill/>
          <a:ln/>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Une seule application</a:t>
            </a:r>
            <a:endParaRPr lang="en-US" sz="2600" dirty="0"/>
          </a:p>
        </p:txBody>
      </p:sp>
      <p:sp>
        <p:nvSpPr>
          <p:cNvPr id="27" name="Text 20"/>
          <p:cNvSpPr txBox="1"/>
          <p:nvPr/>
        </p:nvSpPr>
        <p:spPr>
          <a:xfrm>
            <a:off x="7269480" y="4160520"/>
            <a:ext cx="4069080" cy="1005840"/>
          </a:xfrm>
          <a:prstGeom prst="rect">
            <a:avLst/>
          </a:prstGeom>
          <a:noFill/>
          <a:ln/>
        </p:spPr>
        <p:txBody>
          <a:bodyPr wrap="square" lIns="0" tIns="0" rIns="0" bIns="0" rtlCol="0" anchor="t"/>
          <a:lstStyle/>
          <a:p>
            <a:pPr indent="0" marL="0">
              <a:buNone/>
            </a:pPr>
            <a:r>
              <a:rPr lang="en-US" sz="1500" dirty="0">
                <a:solidFill>
                  <a:srgbClr val="F6E7EE"/>
                </a:solidFill>
                <a:latin typeface="Calibri" pitchFamily="34" charset="0"/>
                <a:ea typeface="Calibri" pitchFamily="34" charset="-122"/>
                <a:cs typeface="Calibri" pitchFamily="34" charset="-120"/>
              </a:rPr>
              <a:t>Séances, performances, objectifs et progression réunis au même endroit, pour le sportif comme pour son coach.</a:t>
            </a:r>
            <a:endParaRPr lang="en-US" sz="1500" dirty="0"/>
          </a:p>
        </p:txBody>
      </p:sp>
      <p:sp>
        <p:nvSpPr>
          <p:cNvPr id="28" name="Text 21"/>
          <p:cNvSpPr txBox="1"/>
          <p:nvPr/>
        </p:nvSpPr>
        <p:spPr>
          <a:xfrm>
            <a:off x="548640" y="5742432"/>
            <a:ext cx="11064240" cy="365760"/>
          </a:xfrm>
          <a:prstGeom prst="rect">
            <a:avLst/>
          </a:prstGeom>
          <a:noFill/>
          <a:ln/>
        </p:spPr>
        <p:txBody>
          <a:bodyPr wrap="square" lIns="0" tIns="0" rIns="0" bIns="0" rtlCol="0" anchor="t"/>
          <a:lstStyle/>
          <a:p>
            <a:pPr indent="0" marL="0">
              <a:buNone/>
            </a:pPr>
            <a:r>
              <a:rPr lang="en-US" sz="1500" b="1" i="1" dirty="0">
                <a:solidFill>
                  <a:srgbClr val="7C2452"/>
                </a:solidFill>
                <a:latin typeface="Calibri" pitchFamily="34" charset="0"/>
                <a:ea typeface="Calibri" pitchFamily="34" charset="-122"/>
                <a:cs typeface="Calibri" pitchFamily="34" charset="-120"/>
              </a:rPr>
              <a:t>Conséquence : </a:t>
            </a:r>
            <a:pPr indent="0" marL="0">
              <a:buNone/>
            </a:pPr>
            <a:r>
              <a:rPr lang="en-US" sz="1500" i="1" dirty="0">
                <a:solidFill>
                  <a:srgbClr val="241820"/>
                </a:solidFill>
                <a:latin typeface="Calibri" pitchFamily="34" charset="0"/>
                <a:ea typeface="Calibri" pitchFamily="34" charset="-122"/>
                <a:cs typeface="Calibri" pitchFamily="34" charset="-120"/>
              </a:rPr>
              <a:t>un suivi fragmenté, une progression difficile à visualiser et une motivation qui s’essouffle.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300" kern="0" dirty="0">
                <a:solidFill>
                  <a:srgbClr val="7A4A12"/>
                </a:solidFill>
                <a:latin typeface="Calibri" pitchFamily="34" charset="0"/>
                <a:ea typeface="Calibri" pitchFamily="34" charset="-122"/>
                <a:cs typeface="Calibri" pitchFamily="34" charset="-120"/>
              </a:rPr>
              <a:t>LA SOLUTION</a:t>
            </a:r>
            <a:endParaRPr lang="en-US" sz="1200" dirty="0"/>
          </a:p>
        </p:txBody>
      </p:sp>
      <p:sp>
        <p:nvSpPr>
          <p:cNvPr id="3" name="Text 1"/>
          <p:cNvSpPr txBox="1"/>
          <p:nvPr/>
        </p:nvSpPr>
        <p:spPr>
          <a:xfrm>
            <a:off x="548640" y="694944"/>
            <a:ext cx="11064240" cy="685800"/>
          </a:xfrm>
          <a:prstGeom prst="rect">
            <a:avLst/>
          </a:prstGeom>
          <a:noFill/>
          <a:ln/>
        </p:spPr>
        <p:txBody>
          <a:bodyPr wrap="square" lIns="0" tIns="0" rIns="0" bIns="0" rtlCol="0" anchor="t"/>
          <a:lstStyle/>
          <a:p>
            <a:pPr indent="0" marL="0">
              <a:buNone/>
            </a:pPr>
            <a:r>
              <a:rPr lang="en-US" sz="3400" b="1" dirty="0">
                <a:solidFill>
                  <a:srgbClr val="241820"/>
                </a:solidFill>
                <a:latin typeface="Calibri" pitchFamily="34" charset="0"/>
                <a:ea typeface="Calibri" pitchFamily="34" charset="-122"/>
                <a:cs typeface="Calibri" pitchFamily="34" charset="-120"/>
              </a:rPr>
              <a:t>Une application unique pour tout centraliser</a:t>
            </a:r>
            <a:endParaRPr lang="en-US" sz="3400" dirty="0"/>
          </a:p>
        </p:txBody>
      </p:sp>
      <p:sp>
        <p:nvSpPr>
          <p:cNvPr id="4" name="Text 2"/>
          <p:cNvSpPr txBox="1"/>
          <p:nvPr/>
        </p:nvSpPr>
        <p:spPr>
          <a:xfrm>
            <a:off x="548640" y="6419088"/>
            <a:ext cx="2743200" cy="256032"/>
          </a:xfrm>
          <a:prstGeom prst="rect">
            <a:avLst/>
          </a:prstGeom>
          <a:noFill/>
          <a:ln/>
        </p:spPr>
        <p:txBody>
          <a:bodyPr wrap="square" lIns="0" tIns="0" rIns="0" bIns="0" rtlCol="0" anchor="t"/>
          <a:lstStyle/>
          <a:p>
            <a:pPr indent="0" marL="0">
              <a:buNone/>
            </a:pPr>
            <a:r>
              <a:rPr lang="en-US" sz="1000" dirty="0">
                <a:solidFill>
                  <a:srgbClr val="A08C96"/>
                </a:solidFill>
                <a:latin typeface="Calibri" pitchFamily="34" charset="0"/>
                <a:ea typeface="Calibri" pitchFamily="34" charset="-122"/>
                <a:cs typeface="Calibri" pitchFamily="34" charset="-120"/>
              </a:rPr>
              <a:t>SportPlan</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t"/>
          <a:lstStyle/>
          <a:p>
            <a:pPr algn="r" indent="0" marL="0">
              <a:buNone/>
            </a:pPr>
            <a:r>
              <a:rPr lang="en-US" sz="1000" dirty="0">
                <a:solidFill>
                  <a:srgbClr val="A08C96"/>
                </a:solidFill>
                <a:latin typeface="Calibri" pitchFamily="34" charset="0"/>
                <a:ea typeface="Calibri" pitchFamily="34" charset="-122"/>
                <a:cs typeface="Calibri" pitchFamily="34" charset="-120"/>
              </a:rPr>
              <a:t>4</a:t>
            </a:r>
            <a:endParaRPr lang="en-US" sz="1000" dirty="0"/>
          </a:p>
        </p:txBody>
      </p:sp>
      <p:sp>
        <p:nvSpPr>
          <p:cNvPr id="6" name="Shape 4"/>
          <p:cNvSpPr/>
          <p:nvPr/>
        </p:nvSpPr>
        <p:spPr>
          <a:xfrm>
            <a:off x="548640" y="1600200"/>
            <a:ext cx="4206240" cy="1874520"/>
          </a:xfrm>
          <a:prstGeom prst="roundRect">
            <a:avLst>
              <a:gd name="adj" fmla="val 6829"/>
            </a:avLst>
          </a:prstGeom>
          <a:solidFill>
            <a:srgbClr val="F6EDF1"/>
          </a:solidFill>
          <a:ln w="12700">
            <a:solidFill>
              <a:srgbClr val="F6EDF1"/>
            </a:solidFill>
            <a:prstDash val="solid"/>
          </a:ln>
        </p:spPr>
      </p:sp>
      <p:pic>
        <p:nvPicPr>
          <p:cNvPr id="7" name="Image 0" descr="preencoded.png">    </p:cNvPr>
          <p:cNvPicPr>
            <a:picLocks noChangeAspect="1"/>
          </p:cNvPicPr>
          <p:nvPr/>
        </p:nvPicPr>
        <p:blipFill>
          <a:blip r:embed="rId1"/>
          <a:stretch>
            <a:fillRect/>
          </a:stretch>
        </p:blipFill>
        <p:spPr>
          <a:xfrm>
            <a:off x="777240" y="1783080"/>
            <a:ext cx="384048" cy="384048"/>
          </a:xfrm>
          <a:prstGeom prst="rect">
            <a:avLst/>
          </a:prstGeom>
        </p:spPr>
      </p:pic>
      <p:sp>
        <p:nvSpPr>
          <p:cNvPr id="8" name="Text 5"/>
          <p:cNvSpPr txBox="1"/>
          <p:nvPr/>
        </p:nvSpPr>
        <p:spPr>
          <a:xfrm>
            <a:off x="777240" y="2240280"/>
            <a:ext cx="3794760" cy="1143000"/>
          </a:xfrm>
          <a:prstGeom prst="rect">
            <a:avLst/>
          </a:prstGeom>
          <a:noFill/>
          <a:ln/>
        </p:spPr>
        <p:txBody>
          <a:bodyPr wrap="square" lIns="0" tIns="0" rIns="0" bIns="0" rtlCol="0" anchor="t"/>
          <a:lstStyle/>
          <a:p>
            <a:pPr indent="0" marL="0">
              <a:buNone/>
            </a:pPr>
            <a:r>
              <a:rPr lang="en-US" sz="1600" i="1" dirty="0">
                <a:solidFill>
                  <a:srgbClr val="241820"/>
                </a:solidFill>
                <a:latin typeface="Calibri" pitchFamily="34" charset="0"/>
                <a:ea typeface="Calibri" pitchFamily="34" charset="-122"/>
                <a:cs typeface="Calibri" pitchFamily="34" charset="-120"/>
              </a:rPr>
              <a:t>Une application qui aide les sportifs à planifier leurs entraînements, enregistrer leurs résultats et visualiser leur progression, pour un suivi simple et centralisé.</a:t>
            </a:r>
            <a:endParaRPr lang="en-US" sz="1600" dirty="0"/>
          </a:p>
        </p:txBody>
      </p:sp>
      <p:sp>
        <p:nvSpPr>
          <p:cNvPr id="9" name="Shape 6"/>
          <p:cNvSpPr/>
          <p:nvPr/>
        </p:nvSpPr>
        <p:spPr>
          <a:xfrm>
            <a:off x="548640" y="3767328"/>
            <a:ext cx="548640" cy="548640"/>
          </a:xfrm>
          <a:prstGeom prst="roundRect">
            <a:avLst>
              <a:gd name="adj" fmla="val 28000"/>
            </a:avLst>
          </a:prstGeom>
          <a:solidFill>
            <a:srgbClr val="E9D3DE"/>
          </a:solidFill>
          <a:ln w="12700">
            <a:solidFill>
              <a:srgbClr val="E9D3DE"/>
            </a:solidFill>
            <a:prstDash val="solid"/>
          </a:ln>
        </p:spPr>
      </p:sp>
      <p:pic>
        <p:nvPicPr>
          <p:cNvPr id="10" name="Image 1" descr="preencoded.png">    </p:cNvPr>
          <p:cNvPicPr>
            <a:picLocks noChangeAspect="1"/>
          </p:cNvPicPr>
          <p:nvPr/>
        </p:nvPicPr>
        <p:blipFill>
          <a:blip r:embed="rId2"/>
          <a:stretch>
            <a:fillRect/>
          </a:stretch>
        </p:blipFill>
        <p:spPr>
          <a:xfrm>
            <a:off x="680314" y="3899002"/>
            <a:ext cx="285293" cy="285293"/>
          </a:xfrm>
          <a:prstGeom prst="rect">
            <a:avLst/>
          </a:prstGeom>
        </p:spPr>
      </p:pic>
      <p:sp>
        <p:nvSpPr>
          <p:cNvPr id="11" name="Text 7"/>
          <p:cNvSpPr txBox="1"/>
          <p:nvPr/>
        </p:nvSpPr>
        <p:spPr>
          <a:xfrm>
            <a:off x="1280160" y="3767328"/>
            <a:ext cx="3474720" cy="292608"/>
          </a:xfrm>
          <a:prstGeom prst="rect">
            <a:avLst/>
          </a:prstGeom>
          <a:noFill/>
          <a:ln/>
        </p:spPr>
        <p:txBody>
          <a:bodyPr wrap="square" lIns="0" tIns="0" rIns="0" bIns="0" rtlCol="0" anchor="t"/>
          <a:lstStyle/>
          <a:p>
            <a:pPr indent="0" marL="0">
              <a:buNone/>
            </a:pPr>
            <a:r>
              <a:rPr lang="en-US" sz="1600" b="1" dirty="0">
                <a:solidFill>
                  <a:srgbClr val="241820"/>
                </a:solidFill>
                <a:latin typeface="Calibri" pitchFamily="34" charset="0"/>
                <a:ea typeface="Calibri" pitchFamily="34" charset="-122"/>
                <a:cs typeface="Calibri" pitchFamily="34" charset="-120"/>
              </a:rPr>
              <a:t>Planifier</a:t>
            </a:r>
            <a:endParaRPr lang="en-US" sz="1600" dirty="0"/>
          </a:p>
        </p:txBody>
      </p:sp>
      <p:sp>
        <p:nvSpPr>
          <p:cNvPr id="12" name="Text 8"/>
          <p:cNvSpPr txBox="1"/>
          <p:nvPr/>
        </p:nvSpPr>
        <p:spPr>
          <a:xfrm>
            <a:off x="1280160" y="4059936"/>
            <a:ext cx="3474720" cy="274320"/>
          </a:xfrm>
          <a:prstGeom prst="rect">
            <a:avLst/>
          </a:prstGeom>
          <a:noFill/>
          <a:ln/>
        </p:spPr>
        <p:txBody>
          <a:bodyPr wrap="square" lIns="0" tIns="0" rIns="0" bIns="0" rtlCol="0" anchor="t"/>
          <a:lstStyle/>
          <a:p>
            <a:pPr indent="0" marL="0">
              <a:buNone/>
            </a:pPr>
            <a:r>
              <a:rPr lang="en-US" sz="1300" dirty="0">
                <a:solidFill>
                  <a:srgbClr val="6A5660"/>
                </a:solidFill>
                <a:latin typeface="Calibri" pitchFamily="34" charset="0"/>
                <a:ea typeface="Calibri" pitchFamily="34" charset="-122"/>
                <a:cs typeface="Calibri" pitchFamily="34" charset="-120"/>
              </a:rPr>
              <a:t>Séances, calendrier, programmes</a:t>
            </a:r>
            <a:endParaRPr lang="en-US" sz="1300" dirty="0"/>
          </a:p>
        </p:txBody>
      </p:sp>
      <p:sp>
        <p:nvSpPr>
          <p:cNvPr id="13" name="Shape 9"/>
          <p:cNvSpPr/>
          <p:nvPr/>
        </p:nvSpPr>
        <p:spPr>
          <a:xfrm>
            <a:off x="548640" y="4480560"/>
            <a:ext cx="548640" cy="548640"/>
          </a:xfrm>
          <a:prstGeom prst="roundRect">
            <a:avLst>
              <a:gd name="adj" fmla="val 28000"/>
            </a:avLst>
          </a:prstGeom>
          <a:solidFill>
            <a:srgbClr val="E9D3DE"/>
          </a:solidFill>
          <a:ln w="12700">
            <a:solidFill>
              <a:srgbClr val="E9D3DE"/>
            </a:solidFill>
            <a:prstDash val="solid"/>
          </a:ln>
        </p:spPr>
      </p:sp>
      <p:pic>
        <p:nvPicPr>
          <p:cNvPr id="14" name="Image 2" descr="preencoded.png">    </p:cNvPr>
          <p:cNvPicPr>
            <a:picLocks noChangeAspect="1"/>
          </p:cNvPicPr>
          <p:nvPr/>
        </p:nvPicPr>
        <p:blipFill>
          <a:blip r:embed="rId3"/>
          <a:stretch>
            <a:fillRect/>
          </a:stretch>
        </p:blipFill>
        <p:spPr>
          <a:xfrm>
            <a:off x="680314" y="4612234"/>
            <a:ext cx="285293" cy="285293"/>
          </a:xfrm>
          <a:prstGeom prst="rect">
            <a:avLst/>
          </a:prstGeom>
        </p:spPr>
      </p:pic>
      <p:sp>
        <p:nvSpPr>
          <p:cNvPr id="15" name="Text 10"/>
          <p:cNvSpPr txBox="1"/>
          <p:nvPr/>
        </p:nvSpPr>
        <p:spPr>
          <a:xfrm>
            <a:off x="1280160" y="4480560"/>
            <a:ext cx="3474720" cy="292608"/>
          </a:xfrm>
          <a:prstGeom prst="rect">
            <a:avLst/>
          </a:prstGeom>
          <a:noFill/>
          <a:ln/>
        </p:spPr>
        <p:txBody>
          <a:bodyPr wrap="square" lIns="0" tIns="0" rIns="0" bIns="0" rtlCol="0" anchor="t"/>
          <a:lstStyle/>
          <a:p>
            <a:pPr indent="0" marL="0">
              <a:buNone/>
            </a:pPr>
            <a:r>
              <a:rPr lang="en-US" sz="1600" b="1" dirty="0">
                <a:solidFill>
                  <a:srgbClr val="241820"/>
                </a:solidFill>
                <a:latin typeface="Calibri" pitchFamily="34" charset="0"/>
                <a:ea typeface="Calibri" pitchFamily="34" charset="-122"/>
                <a:cs typeface="Calibri" pitchFamily="34" charset="-120"/>
              </a:rPr>
              <a:t>Enregistrer</a:t>
            </a:r>
            <a:endParaRPr lang="en-US" sz="1600" dirty="0"/>
          </a:p>
        </p:txBody>
      </p:sp>
      <p:sp>
        <p:nvSpPr>
          <p:cNvPr id="16" name="Text 11"/>
          <p:cNvSpPr txBox="1"/>
          <p:nvPr/>
        </p:nvSpPr>
        <p:spPr>
          <a:xfrm>
            <a:off x="1280160" y="4773168"/>
            <a:ext cx="3474720" cy="274320"/>
          </a:xfrm>
          <a:prstGeom prst="rect">
            <a:avLst/>
          </a:prstGeom>
          <a:noFill/>
          <a:ln/>
        </p:spPr>
        <p:txBody>
          <a:bodyPr wrap="square" lIns="0" tIns="0" rIns="0" bIns="0" rtlCol="0" anchor="t"/>
          <a:lstStyle/>
          <a:p>
            <a:pPr indent="0" marL="0">
              <a:buNone/>
            </a:pPr>
            <a:r>
              <a:rPr lang="en-US" sz="1300" dirty="0">
                <a:solidFill>
                  <a:srgbClr val="6A5660"/>
                </a:solidFill>
                <a:latin typeface="Calibri" pitchFamily="34" charset="0"/>
                <a:ea typeface="Calibri" pitchFamily="34" charset="-122"/>
                <a:cs typeface="Calibri" pitchFamily="34" charset="-120"/>
              </a:rPr>
              <a:t>Participations, performances, journal</a:t>
            </a:r>
            <a:endParaRPr lang="en-US" sz="1300" dirty="0"/>
          </a:p>
        </p:txBody>
      </p:sp>
      <p:sp>
        <p:nvSpPr>
          <p:cNvPr id="17" name="Shape 12"/>
          <p:cNvSpPr/>
          <p:nvPr/>
        </p:nvSpPr>
        <p:spPr>
          <a:xfrm>
            <a:off x="548640" y="5193792"/>
            <a:ext cx="548640" cy="548640"/>
          </a:xfrm>
          <a:prstGeom prst="roundRect">
            <a:avLst>
              <a:gd name="adj" fmla="val 28000"/>
            </a:avLst>
          </a:prstGeom>
          <a:solidFill>
            <a:srgbClr val="E9D3DE"/>
          </a:solidFill>
          <a:ln w="12700">
            <a:solidFill>
              <a:srgbClr val="E9D3DE"/>
            </a:solidFill>
            <a:prstDash val="solid"/>
          </a:ln>
        </p:spPr>
      </p:sp>
      <p:pic>
        <p:nvPicPr>
          <p:cNvPr id="18" name="Image 3" descr="preencoded.png">    </p:cNvPr>
          <p:cNvPicPr>
            <a:picLocks noChangeAspect="1"/>
          </p:cNvPicPr>
          <p:nvPr/>
        </p:nvPicPr>
        <p:blipFill>
          <a:blip r:embed="rId4"/>
          <a:stretch>
            <a:fillRect/>
          </a:stretch>
        </p:blipFill>
        <p:spPr>
          <a:xfrm>
            <a:off x="680314" y="5325466"/>
            <a:ext cx="285293" cy="285293"/>
          </a:xfrm>
          <a:prstGeom prst="rect">
            <a:avLst/>
          </a:prstGeom>
        </p:spPr>
      </p:pic>
      <p:sp>
        <p:nvSpPr>
          <p:cNvPr id="19" name="Text 13"/>
          <p:cNvSpPr txBox="1"/>
          <p:nvPr/>
        </p:nvSpPr>
        <p:spPr>
          <a:xfrm>
            <a:off x="1280160" y="5193792"/>
            <a:ext cx="3474720" cy="292608"/>
          </a:xfrm>
          <a:prstGeom prst="rect">
            <a:avLst/>
          </a:prstGeom>
          <a:noFill/>
          <a:ln/>
        </p:spPr>
        <p:txBody>
          <a:bodyPr wrap="square" lIns="0" tIns="0" rIns="0" bIns="0" rtlCol="0" anchor="t"/>
          <a:lstStyle/>
          <a:p>
            <a:pPr indent="0" marL="0">
              <a:buNone/>
            </a:pPr>
            <a:r>
              <a:rPr lang="en-US" sz="1600" b="1" dirty="0">
                <a:solidFill>
                  <a:srgbClr val="241820"/>
                </a:solidFill>
                <a:latin typeface="Calibri" pitchFamily="34" charset="0"/>
                <a:ea typeface="Calibri" pitchFamily="34" charset="-122"/>
                <a:cs typeface="Calibri" pitchFamily="34" charset="-120"/>
              </a:rPr>
              <a:t>Visualiser</a:t>
            </a:r>
            <a:endParaRPr lang="en-US" sz="1600" dirty="0"/>
          </a:p>
        </p:txBody>
      </p:sp>
      <p:sp>
        <p:nvSpPr>
          <p:cNvPr id="20" name="Text 14"/>
          <p:cNvSpPr txBox="1"/>
          <p:nvPr/>
        </p:nvSpPr>
        <p:spPr>
          <a:xfrm>
            <a:off x="1280160" y="5486400"/>
            <a:ext cx="3474720" cy="274320"/>
          </a:xfrm>
          <a:prstGeom prst="rect">
            <a:avLst/>
          </a:prstGeom>
          <a:noFill/>
          <a:ln/>
        </p:spPr>
        <p:txBody>
          <a:bodyPr wrap="square" lIns="0" tIns="0" rIns="0" bIns="0" rtlCol="0" anchor="t"/>
          <a:lstStyle/>
          <a:p>
            <a:pPr indent="0" marL="0">
              <a:buNone/>
            </a:pPr>
            <a:r>
              <a:rPr lang="en-US" sz="1300" dirty="0">
                <a:solidFill>
                  <a:srgbClr val="6A5660"/>
                </a:solidFill>
                <a:latin typeface="Calibri" pitchFamily="34" charset="0"/>
                <a:ea typeface="Calibri" pitchFamily="34" charset="-122"/>
                <a:cs typeface="Calibri" pitchFamily="34" charset="-120"/>
              </a:rPr>
              <a:t>Statistiques, objectifs, records</a:t>
            </a:r>
            <a:endParaRPr lang="en-US" sz="1300" dirty="0"/>
          </a:p>
        </p:txBody>
      </p:sp>
      <p:sp>
        <p:nvSpPr>
          <p:cNvPr id="21" name="Shape 15"/>
          <p:cNvSpPr/>
          <p:nvPr/>
        </p:nvSpPr>
        <p:spPr>
          <a:xfrm>
            <a:off x="5120640" y="1600200"/>
            <a:ext cx="6519672" cy="4078224"/>
          </a:xfrm>
          <a:prstGeom prst="roundRect">
            <a:avLst>
              <a:gd name="adj" fmla="val 1794"/>
            </a:avLst>
          </a:prstGeom>
          <a:solidFill>
            <a:srgbClr val="FFFFFF"/>
          </a:solidFill>
          <a:ln w="9525">
            <a:solidFill>
              <a:srgbClr val="E6D8DE"/>
            </a:solidFill>
            <a:prstDash val="solid"/>
          </a:ln>
          <a:effectLst>
            <a:outerShdw sx="100000" sy="100000" kx="0" ky="0" algn="bl" rotWithShape="0" blurRad="177800" dist="38100" dir="5400000">
              <a:srgbClr val="000000">
                <a:alpha val="16000"/>
              </a:srgbClr>
            </a:outerShdw>
          </a:effectLst>
        </p:spPr>
      </p:sp>
      <p:pic>
        <p:nvPicPr>
          <p:cNvPr id="22" name="Image 4" descr="img/dashboard.png">    </p:cNvPr>
          <p:cNvPicPr>
            <a:picLocks noChangeAspect="1"/>
          </p:cNvPicPr>
          <p:nvPr/>
        </p:nvPicPr>
        <p:blipFill>
          <a:blip r:embed="rId5"/>
          <a:stretch>
            <a:fillRect/>
          </a:stretch>
        </p:blipFill>
        <p:spPr>
          <a:xfrm>
            <a:off x="5120640" y="1600200"/>
            <a:ext cx="6519672" cy="4078224"/>
          </a:xfrm>
          <a:prstGeom prst="rect">
            <a:avLst/>
          </a:prstGeom>
        </p:spPr>
      </p:pic>
      <p:sp>
        <p:nvSpPr>
          <p:cNvPr id="23" name="Text 16"/>
          <p:cNvSpPr txBox="1"/>
          <p:nvPr/>
        </p:nvSpPr>
        <p:spPr>
          <a:xfrm>
            <a:off x="5120640" y="5806440"/>
            <a:ext cx="6519672" cy="274320"/>
          </a:xfrm>
          <a:prstGeom prst="rect">
            <a:avLst/>
          </a:prstGeom>
          <a:noFill/>
          <a:ln/>
        </p:spPr>
        <p:txBody>
          <a:bodyPr wrap="square" lIns="0" tIns="0" rIns="0" bIns="0" rtlCol="0" anchor="t"/>
          <a:lstStyle/>
          <a:p>
            <a:pPr algn="r" indent="0" marL="0">
              <a:buNone/>
            </a:pPr>
            <a:r>
              <a:rPr lang="en-US" sz="1100" dirty="0">
                <a:solidFill>
                  <a:srgbClr val="6A5660"/>
                </a:solidFill>
                <a:latin typeface="Calibri" pitchFamily="34" charset="0"/>
                <a:ea typeface="Calibri" pitchFamily="34" charset="-122"/>
                <a:cs typeface="Calibri" pitchFamily="34" charset="-120"/>
              </a:rPr>
              <a:t>Tableau de bord d’un sportif (compte de démonstration)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300" kern="0" dirty="0">
                <a:solidFill>
                  <a:srgbClr val="7A4A12"/>
                </a:solidFill>
                <a:latin typeface="Calibri" pitchFamily="34" charset="0"/>
                <a:ea typeface="Calibri" pitchFamily="34" charset="-122"/>
                <a:cs typeface="Calibri" pitchFamily="34" charset="-120"/>
              </a:rPr>
              <a:t>UTILISATEURS</a:t>
            </a:r>
            <a:endParaRPr lang="en-US" sz="1200" dirty="0"/>
          </a:p>
        </p:txBody>
      </p:sp>
      <p:sp>
        <p:nvSpPr>
          <p:cNvPr id="3" name="Text 1"/>
          <p:cNvSpPr txBox="1"/>
          <p:nvPr/>
        </p:nvSpPr>
        <p:spPr>
          <a:xfrm>
            <a:off x="548640" y="694944"/>
            <a:ext cx="11064240" cy="685800"/>
          </a:xfrm>
          <a:prstGeom prst="rect">
            <a:avLst/>
          </a:prstGeom>
          <a:noFill/>
          <a:ln/>
        </p:spPr>
        <p:txBody>
          <a:bodyPr wrap="square" lIns="0" tIns="0" rIns="0" bIns="0" rtlCol="0" anchor="t"/>
          <a:lstStyle/>
          <a:p>
            <a:pPr indent="0" marL="0">
              <a:buNone/>
            </a:pPr>
            <a:r>
              <a:rPr lang="en-US" sz="3400" b="1" dirty="0">
                <a:solidFill>
                  <a:srgbClr val="241820"/>
                </a:solidFill>
                <a:latin typeface="Calibri" pitchFamily="34" charset="0"/>
                <a:ea typeface="Calibri" pitchFamily="34" charset="-122"/>
                <a:cs typeface="Calibri" pitchFamily="34" charset="-120"/>
              </a:rPr>
              <a:t>Trois rôles, trois usages</a:t>
            </a:r>
            <a:endParaRPr lang="en-US" sz="3400" dirty="0"/>
          </a:p>
        </p:txBody>
      </p:sp>
      <p:sp>
        <p:nvSpPr>
          <p:cNvPr id="4" name="Text 2"/>
          <p:cNvSpPr txBox="1"/>
          <p:nvPr/>
        </p:nvSpPr>
        <p:spPr>
          <a:xfrm>
            <a:off x="548640" y="6419088"/>
            <a:ext cx="2743200" cy="256032"/>
          </a:xfrm>
          <a:prstGeom prst="rect">
            <a:avLst/>
          </a:prstGeom>
          <a:noFill/>
          <a:ln/>
        </p:spPr>
        <p:txBody>
          <a:bodyPr wrap="square" lIns="0" tIns="0" rIns="0" bIns="0" rtlCol="0" anchor="t"/>
          <a:lstStyle/>
          <a:p>
            <a:pPr indent="0" marL="0">
              <a:buNone/>
            </a:pPr>
            <a:r>
              <a:rPr lang="en-US" sz="1000" dirty="0">
                <a:solidFill>
                  <a:srgbClr val="A08C96"/>
                </a:solidFill>
                <a:latin typeface="Calibri" pitchFamily="34" charset="0"/>
                <a:ea typeface="Calibri" pitchFamily="34" charset="-122"/>
                <a:cs typeface="Calibri" pitchFamily="34" charset="-120"/>
              </a:rPr>
              <a:t>SportPlan</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t"/>
          <a:lstStyle/>
          <a:p>
            <a:pPr algn="r" indent="0" marL="0">
              <a:buNone/>
            </a:pPr>
            <a:r>
              <a:rPr lang="en-US" sz="1000" dirty="0">
                <a:solidFill>
                  <a:srgbClr val="A08C96"/>
                </a:solidFill>
                <a:latin typeface="Calibri" pitchFamily="34" charset="0"/>
                <a:ea typeface="Calibri" pitchFamily="34" charset="-122"/>
                <a:cs typeface="Calibri" pitchFamily="34" charset="-120"/>
              </a:rPr>
              <a:t>5</a:t>
            </a:r>
            <a:endParaRPr lang="en-US" sz="1000" dirty="0"/>
          </a:p>
        </p:txBody>
      </p:sp>
      <p:sp>
        <p:nvSpPr>
          <p:cNvPr id="6" name="Shape 4"/>
          <p:cNvSpPr/>
          <p:nvPr/>
        </p:nvSpPr>
        <p:spPr>
          <a:xfrm>
            <a:off x="548640" y="1600200"/>
            <a:ext cx="3566160" cy="3246120"/>
          </a:xfrm>
          <a:prstGeom prst="roundRect">
            <a:avLst>
              <a:gd name="adj" fmla="val 3944"/>
            </a:avLst>
          </a:prstGeom>
          <a:solidFill>
            <a:srgbClr val="F6EDF1"/>
          </a:solidFill>
          <a:ln w="12700">
            <a:solidFill>
              <a:srgbClr val="F6EDF1"/>
            </a:solidFill>
            <a:prstDash val="solid"/>
          </a:ln>
        </p:spPr>
      </p:sp>
      <p:sp>
        <p:nvSpPr>
          <p:cNvPr id="7" name="Shape 5"/>
          <p:cNvSpPr/>
          <p:nvPr/>
        </p:nvSpPr>
        <p:spPr>
          <a:xfrm>
            <a:off x="822960" y="1874520"/>
            <a:ext cx="658368" cy="658368"/>
          </a:xfrm>
          <a:prstGeom prst="roundRect">
            <a:avLst>
              <a:gd name="adj" fmla="val 28000"/>
            </a:avLst>
          </a:prstGeom>
          <a:solidFill>
            <a:srgbClr val="9C2F68"/>
          </a:solidFill>
          <a:ln w="12700">
            <a:solidFill>
              <a:srgbClr val="9C2F68"/>
            </a:solidFill>
            <a:prstDash val="solid"/>
          </a:ln>
        </p:spPr>
      </p:sp>
      <p:pic>
        <p:nvPicPr>
          <p:cNvPr id="8" name="Image 0" descr="preencoded.png">    </p:cNvPr>
          <p:cNvPicPr>
            <a:picLocks noChangeAspect="1"/>
          </p:cNvPicPr>
          <p:nvPr/>
        </p:nvPicPr>
        <p:blipFill>
          <a:blip r:embed="rId1"/>
          <a:stretch>
            <a:fillRect/>
          </a:stretch>
        </p:blipFill>
        <p:spPr>
          <a:xfrm>
            <a:off x="980968" y="2032528"/>
            <a:ext cx="342351" cy="342351"/>
          </a:xfrm>
          <a:prstGeom prst="rect">
            <a:avLst/>
          </a:prstGeom>
        </p:spPr>
      </p:pic>
      <p:sp>
        <p:nvSpPr>
          <p:cNvPr id="9" name="Text 6"/>
          <p:cNvSpPr txBox="1"/>
          <p:nvPr/>
        </p:nvSpPr>
        <p:spPr>
          <a:xfrm>
            <a:off x="1645920" y="1883664"/>
            <a:ext cx="2286000" cy="365760"/>
          </a:xfrm>
          <a:prstGeom prst="rect">
            <a:avLst/>
          </a:prstGeom>
          <a:noFill/>
          <a:ln/>
        </p:spPr>
        <p:txBody>
          <a:bodyPr wrap="square" lIns="0" tIns="0" rIns="0" bIns="0" rtlCol="0" anchor="t"/>
          <a:lstStyle/>
          <a:p>
            <a:pPr indent="0" marL="0">
              <a:buNone/>
            </a:pPr>
            <a:r>
              <a:rPr lang="en-US" sz="2200" b="1" dirty="0">
                <a:solidFill>
                  <a:srgbClr val="241820"/>
                </a:solidFill>
                <a:latin typeface="Calibri" pitchFamily="34" charset="0"/>
                <a:ea typeface="Calibri" pitchFamily="34" charset="-122"/>
                <a:cs typeface="Calibri" pitchFamily="34" charset="-120"/>
              </a:rPr>
              <a:t>Sportif</a:t>
            </a:r>
            <a:endParaRPr lang="en-US" sz="2200" dirty="0"/>
          </a:p>
        </p:txBody>
      </p:sp>
      <p:sp>
        <p:nvSpPr>
          <p:cNvPr id="10" name="Text 7"/>
          <p:cNvSpPr txBox="1"/>
          <p:nvPr/>
        </p:nvSpPr>
        <p:spPr>
          <a:xfrm>
            <a:off x="1645920" y="2249424"/>
            <a:ext cx="2377440" cy="274320"/>
          </a:xfrm>
          <a:prstGeom prst="rect">
            <a:avLst/>
          </a:prstGeom>
          <a:noFill/>
          <a:ln/>
        </p:spPr>
        <p:txBody>
          <a:bodyPr wrap="square" lIns="0" tIns="0" rIns="0" bIns="0" rtlCol="0" anchor="t"/>
          <a:lstStyle/>
          <a:p>
            <a:pPr indent="0" marL="0">
              <a:buNone/>
            </a:pPr>
            <a:r>
              <a:rPr lang="en-US" sz="1250" dirty="0">
                <a:solidFill>
                  <a:srgbClr val="6A5660"/>
                </a:solidFill>
                <a:latin typeface="Calibri" pitchFamily="34" charset="0"/>
                <a:ea typeface="Calibri" pitchFamily="34" charset="-122"/>
                <a:cs typeface="Calibri" pitchFamily="34" charset="-120"/>
              </a:rPr>
              <a:t>Rôle par défaut à l’inscription</a:t>
            </a:r>
            <a:endParaRPr lang="en-US" sz="1250" dirty="0"/>
          </a:p>
        </p:txBody>
      </p:sp>
      <p:sp>
        <p:nvSpPr>
          <p:cNvPr id="11" name="Text 8"/>
          <p:cNvSpPr txBox="1"/>
          <p:nvPr/>
        </p:nvSpPr>
        <p:spPr>
          <a:xfrm>
            <a:off x="822960" y="2834640"/>
            <a:ext cx="3108960" cy="182880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241820"/>
                </a:solidFill>
                <a:latin typeface="Calibri" pitchFamily="34" charset="0"/>
                <a:ea typeface="Calibri" pitchFamily="34" charset="-122"/>
                <a:cs typeface="Calibri" pitchFamily="34" charset="-120"/>
              </a:rPr>
              <a:t>S’inscrire aux séances</a:t>
            </a:r>
            <a:endParaRPr lang="en-US" sz="1500" dirty="0"/>
          </a:p>
          <a:p>
            <a:pPr marL="177800" indent="-177800">
              <a:spcAft>
                <a:spcPts val="800"/>
              </a:spcAft>
              <a:buSzPct val="100000"/>
              <a:buChar char="•"/>
            </a:pPr>
            <a:r>
              <a:rPr lang="en-US" sz="1500" dirty="0">
                <a:solidFill>
                  <a:srgbClr val="241820"/>
                </a:solidFill>
                <a:latin typeface="Calibri" pitchFamily="34" charset="0"/>
                <a:ea typeface="Calibri" pitchFamily="34" charset="-122"/>
                <a:cs typeface="Calibri" pitchFamily="34" charset="-120"/>
              </a:rPr>
              <a:t>Suivre son assiduité</a:t>
            </a:r>
            <a:endParaRPr lang="en-US" sz="1500" dirty="0"/>
          </a:p>
          <a:p>
            <a:pPr marL="177800" indent="-177800">
              <a:spcAft>
                <a:spcPts val="800"/>
              </a:spcAft>
              <a:buSzPct val="100000"/>
              <a:buChar char="•"/>
            </a:pPr>
            <a:r>
              <a:rPr lang="en-US" sz="1500" dirty="0">
                <a:solidFill>
                  <a:srgbClr val="241820"/>
                </a:solidFill>
                <a:latin typeface="Calibri" pitchFamily="34" charset="0"/>
                <a:ea typeface="Calibri" pitchFamily="34" charset="-122"/>
                <a:cs typeface="Calibri" pitchFamily="34" charset="-120"/>
              </a:rPr>
              <a:t>Performances, objectifs, journal</a:t>
            </a:r>
            <a:endParaRPr lang="en-US" sz="1500" dirty="0"/>
          </a:p>
          <a:p>
            <a:pPr marL="177800" indent="-177800">
              <a:spcAft>
                <a:spcPts val="800"/>
              </a:spcAft>
              <a:buSzPct val="100000"/>
              <a:buChar char="•"/>
            </a:pPr>
            <a:r>
              <a:rPr lang="en-US" sz="1500" dirty="0">
                <a:solidFill>
                  <a:srgbClr val="241820"/>
                </a:solidFill>
                <a:latin typeface="Calibri" pitchFamily="34" charset="0"/>
                <a:ea typeface="Calibri" pitchFamily="34" charset="-122"/>
                <a:cs typeface="Calibri" pitchFamily="34" charset="-120"/>
              </a:rPr>
              <a:t>Rappel si une séance approche</a:t>
            </a:r>
            <a:endParaRPr lang="en-US" sz="1500" dirty="0"/>
          </a:p>
        </p:txBody>
      </p:sp>
      <p:sp>
        <p:nvSpPr>
          <p:cNvPr id="12" name="Shape 9"/>
          <p:cNvSpPr/>
          <p:nvPr/>
        </p:nvSpPr>
        <p:spPr>
          <a:xfrm>
            <a:off x="4311396" y="1600200"/>
            <a:ext cx="3566160" cy="3246120"/>
          </a:xfrm>
          <a:prstGeom prst="roundRect">
            <a:avLst>
              <a:gd name="adj" fmla="val 3944"/>
            </a:avLst>
          </a:prstGeom>
          <a:solidFill>
            <a:srgbClr val="F6EDF1"/>
          </a:solidFill>
          <a:ln w="12700">
            <a:solidFill>
              <a:srgbClr val="F6EDF1"/>
            </a:solidFill>
            <a:prstDash val="solid"/>
          </a:ln>
        </p:spPr>
      </p:sp>
      <p:sp>
        <p:nvSpPr>
          <p:cNvPr id="13" name="Shape 10"/>
          <p:cNvSpPr/>
          <p:nvPr/>
        </p:nvSpPr>
        <p:spPr>
          <a:xfrm>
            <a:off x="4585716" y="1874520"/>
            <a:ext cx="658368" cy="658368"/>
          </a:xfrm>
          <a:prstGeom prst="roundRect">
            <a:avLst>
              <a:gd name="adj" fmla="val 28000"/>
            </a:avLst>
          </a:prstGeom>
          <a:solidFill>
            <a:srgbClr val="E9D3DE"/>
          </a:solidFill>
          <a:ln w="12700">
            <a:solidFill>
              <a:srgbClr val="E9D3DE"/>
            </a:solidFill>
            <a:prstDash val="solid"/>
          </a:ln>
        </p:spPr>
      </p:sp>
      <p:pic>
        <p:nvPicPr>
          <p:cNvPr id="14" name="Image 1" descr="preencoded.png">    </p:cNvPr>
          <p:cNvPicPr>
            <a:picLocks noChangeAspect="1"/>
          </p:cNvPicPr>
          <p:nvPr/>
        </p:nvPicPr>
        <p:blipFill>
          <a:blip r:embed="rId2"/>
          <a:stretch>
            <a:fillRect/>
          </a:stretch>
        </p:blipFill>
        <p:spPr>
          <a:xfrm>
            <a:off x="4743724" y="2032528"/>
            <a:ext cx="342351" cy="342351"/>
          </a:xfrm>
          <a:prstGeom prst="rect">
            <a:avLst/>
          </a:prstGeom>
        </p:spPr>
      </p:pic>
      <p:sp>
        <p:nvSpPr>
          <p:cNvPr id="15" name="Text 11"/>
          <p:cNvSpPr txBox="1"/>
          <p:nvPr/>
        </p:nvSpPr>
        <p:spPr>
          <a:xfrm>
            <a:off x="5408676" y="1883664"/>
            <a:ext cx="2286000" cy="365760"/>
          </a:xfrm>
          <a:prstGeom prst="rect">
            <a:avLst/>
          </a:prstGeom>
          <a:noFill/>
          <a:ln/>
        </p:spPr>
        <p:txBody>
          <a:bodyPr wrap="square" lIns="0" tIns="0" rIns="0" bIns="0" rtlCol="0" anchor="t"/>
          <a:lstStyle/>
          <a:p>
            <a:pPr indent="0" marL="0">
              <a:buNone/>
            </a:pPr>
            <a:r>
              <a:rPr lang="en-US" sz="2200" b="1" dirty="0">
                <a:solidFill>
                  <a:srgbClr val="241820"/>
                </a:solidFill>
                <a:latin typeface="Calibri" pitchFamily="34" charset="0"/>
                <a:ea typeface="Calibri" pitchFamily="34" charset="-122"/>
                <a:cs typeface="Calibri" pitchFamily="34" charset="-120"/>
              </a:rPr>
              <a:t>Coach</a:t>
            </a:r>
            <a:endParaRPr lang="en-US" sz="2200" dirty="0"/>
          </a:p>
        </p:txBody>
      </p:sp>
      <p:sp>
        <p:nvSpPr>
          <p:cNvPr id="16" name="Text 12"/>
          <p:cNvSpPr txBox="1"/>
          <p:nvPr/>
        </p:nvSpPr>
        <p:spPr>
          <a:xfrm>
            <a:off x="5408676" y="2249424"/>
            <a:ext cx="2377440" cy="274320"/>
          </a:xfrm>
          <a:prstGeom prst="rect">
            <a:avLst/>
          </a:prstGeom>
          <a:noFill/>
          <a:ln/>
        </p:spPr>
        <p:txBody>
          <a:bodyPr wrap="square" lIns="0" tIns="0" rIns="0" bIns="0" rtlCol="0" anchor="t"/>
          <a:lstStyle/>
          <a:p>
            <a:pPr indent="0" marL="0">
              <a:buNone/>
            </a:pPr>
            <a:r>
              <a:rPr lang="en-US" sz="1250" dirty="0">
                <a:solidFill>
                  <a:srgbClr val="6A5660"/>
                </a:solidFill>
                <a:latin typeface="Calibri" pitchFamily="34" charset="0"/>
                <a:ea typeface="Calibri" pitchFamily="34" charset="-122"/>
                <a:cs typeface="Calibri" pitchFamily="34" charset="-120"/>
              </a:rPr>
              <a:t>En plus des écrans du sportif :</a:t>
            </a:r>
            <a:endParaRPr lang="en-US" sz="1250" dirty="0"/>
          </a:p>
        </p:txBody>
      </p:sp>
      <p:sp>
        <p:nvSpPr>
          <p:cNvPr id="17" name="Text 13"/>
          <p:cNvSpPr txBox="1"/>
          <p:nvPr/>
        </p:nvSpPr>
        <p:spPr>
          <a:xfrm>
            <a:off x="4585716" y="2834640"/>
            <a:ext cx="3108960" cy="182880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241820"/>
                </a:solidFill>
                <a:latin typeface="Calibri" pitchFamily="34" charset="0"/>
                <a:ea typeface="Calibri" pitchFamily="34" charset="-122"/>
                <a:cs typeface="Calibri" pitchFamily="34" charset="-120"/>
              </a:rPr>
              <a:t>Créer ses propres séances</a:t>
            </a:r>
            <a:endParaRPr lang="en-US" sz="1500" dirty="0"/>
          </a:p>
          <a:p>
            <a:pPr marL="177800" indent="-177800">
              <a:spcAft>
                <a:spcPts val="800"/>
              </a:spcAft>
              <a:buSzPct val="100000"/>
              <a:buChar char="•"/>
            </a:pPr>
            <a:r>
              <a:rPr lang="en-US" sz="1500" dirty="0">
                <a:solidFill>
                  <a:srgbClr val="241820"/>
                </a:solidFill>
                <a:latin typeface="Calibri" pitchFamily="34" charset="0"/>
                <a:ea typeface="Calibri" pitchFamily="34" charset="-122"/>
                <a:cs typeface="Calibri" pitchFamily="34" charset="-120"/>
              </a:rPr>
              <a:t>Modifier ou annuler ses séances</a:t>
            </a:r>
            <a:endParaRPr lang="en-US" sz="1500" dirty="0"/>
          </a:p>
          <a:p>
            <a:pPr marL="177800" indent="-177800">
              <a:spcAft>
                <a:spcPts val="800"/>
              </a:spcAft>
              <a:buSzPct val="100000"/>
              <a:buChar char="•"/>
            </a:pPr>
            <a:r>
              <a:rPr lang="en-US" sz="1500" dirty="0">
                <a:solidFill>
                  <a:srgbClr val="241820"/>
                </a:solidFill>
                <a:latin typeface="Calibri" pitchFamily="34" charset="0"/>
                <a:ea typeface="Calibri" pitchFamily="34" charset="-122"/>
                <a:cs typeface="Calibri" pitchFamily="34" charset="-120"/>
              </a:rPr>
              <a:t>Marquer les présences</a:t>
            </a:r>
            <a:endParaRPr lang="en-US" sz="1500" dirty="0"/>
          </a:p>
          <a:p>
            <a:pPr marL="177800" indent="-177800">
              <a:spcAft>
                <a:spcPts val="800"/>
              </a:spcAft>
              <a:buSzPct val="100000"/>
              <a:buChar char="•"/>
            </a:pPr>
            <a:r>
              <a:rPr lang="en-US" sz="1500" dirty="0">
                <a:solidFill>
                  <a:srgbClr val="241820"/>
                </a:solidFill>
                <a:latin typeface="Calibri" pitchFamily="34" charset="0"/>
                <a:ea typeface="Calibri" pitchFamily="34" charset="-122"/>
                <a:cs typeface="Calibri" pitchFamily="34" charset="-120"/>
              </a:rPr>
              <a:t>Commenter les bilans du journal</a:t>
            </a:r>
            <a:endParaRPr lang="en-US" sz="1500" dirty="0"/>
          </a:p>
        </p:txBody>
      </p:sp>
      <p:sp>
        <p:nvSpPr>
          <p:cNvPr id="18" name="Shape 14"/>
          <p:cNvSpPr/>
          <p:nvPr/>
        </p:nvSpPr>
        <p:spPr>
          <a:xfrm>
            <a:off x="8074152" y="1600200"/>
            <a:ext cx="3566160" cy="3246120"/>
          </a:xfrm>
          <a:prstGeom prst="roundRect">
            <a:avLst>
              <a:gd name="adj" fmla="val 3944"/>
            </a:avLst>
          </a:prstGeom>
          <a:solidFill>
            <a:srgbClr val="F6EDF1"/>
          </a:solidFill>
          <a:ln w="12700">
            <a:solidFill>
              <a:srgbClr val="F6EDF1"/>
            </a:solidFill>
            <a:prstDash val="solid"/>
          </a:ln>
        </p:spPr>
      </p:sp>
      <p:sp>
        <p:nvSpPr>
          <p:cNvPr id="19" name="Shape 15"/>
          <p:cNvSpPr/>
          <p:nvPr/>
        </p:nvSpPr>
        <p:spPr>
          <a:xfrm>
            <a:off x="8348472" y="1874520"/>
            <a:ext cx="658368" cy="658368"/>
          </a:xfrm>
          <a:prstGeom prst="roundRect">
            <a:avLst>
              <a:gd name="adj" fmla="val 28000"/>
            </a:avLst>
          </a:prstGeom>
          <a:solidFill>
            <a:srgbClr val="E9D3DE"/>
          </a:solidFill>
          <a:ln w="12700">
            <a:solidFill>
              <a:srgbClr val="E9D3DE"/>
            </a:solidFill>
            <a:prstDash val="solid"/>
          </a:ln>
        </p:spPr>
      </p:sp>
      <p:pic>
        <p:nvPicPr>
          <p:cNvPr id="20" name="Image 2" descr="preencoded.png">    </p:cNvPr>
          <p:cNvPicPr>
            <a:picLocks noChangeAspect="1"/>
          </p:cNvPicPr>
          <p:nvPr/>
        </p:nvPicPr>
        <p:blipFill>
          <a:blip r:embed="rId3"/>
          <a:stretch>
            <a:fillRect/>
          </a:stretch>
        </p:blipFill>
        <p:spPr>
          <a:xfrm>
            <a:off x="8506480" y="2032528"/>
            <a:ext cx="342351" cy="342351"/>
          </a:xfrm>
          <a:prstGeom prst="rect">
            <a:avLst/>
          </a:prstGeom>
        </p:spPr>
      </p:pic>
      <p:sp>
        <p:nvSpPr>
          <p:cNvPr id="21" name="Text 16"/>
          <p:cNvSpPr txBox="1"/>
          <p:nvPr/>
        </p:nvSpPr>
        <p:spPr>
          <a:xfrm>
            <a:off x="9171432" y="1883664"/>
            <a:ext cx="2286000" cy="365760"/>
          </a:xfrm>
          <a:prstGeom prst="rect">
            <a:avLst/>
          </a:prstGeom>
          <a:noFill/>
          <a:ln/>
        </p:spPr>
        <p:txBody>
          <a:bodyPr wrap="square" lIns="0" tIns="0" rIns="0" bIns="0" rtlCol="0" anchor="t"/>
          <a:lstStyle/>
          <a:p>
            <a:pPr indent="0" marL="0">
              <a:buNone/>
            </a:pPr>
            <a:r>
              <a:rPr lang="en-US" sz="2200" b="1" dirty="0">
                <a:solidFill>
                  <a:srgbClr val="241820"/>
                </a:solidFill>
                <a:latin typeface="Calibri" pitchFamily="34" charset="0"/>
                <a:ea typeface="Calibri" pitchFamily="34" charset="-122"/>
                <a:cs typeface="Calibri" pitchFamily="34" charset="-120"/>
              </a:rPr>
              <a:t>Admin</a:t>
            </a:r>
            <a:endParaRPr lang="en-US" sz="2200" dirty="0"/>
          </a:p>
        </p:txBody>
      </p:sp>
      <p:sp>
        <p:nvSpPr>
          <p:cNvPr id="22" name="Text 17"/>
          <p:cNvSpPr txBox="1"/>
          <p:nvPr/>
        </p:nvSpPr>
        <p:spPr>
          <a:xfrm>
            <a:off x="9171432" y="2249424"/>
            <a:ext cx="2377440" cy="274320"/>
          </a:xfrm>
          <a:prstGeom prst="rect">
            <a:avLst/>
          </a:prstGeom>
          <a:noFill/>
          <a:ln/>
        </p:spPr>
        <p:txBody>
          <a:bodyPr wrap="square" lIns="0" tIns="0" rIns="0" bIns="0" rtlCol="0" anchor="t"/>
          <a:lstStyle/>
          <a:p>
            <a:pPr indent="0" marL="0">
              <a:buNone/>
            </a:pPr>
            <a:r>
              <a:rPr lang="en-US" sz="1250" dirty="0">
                <a:solidFill>
                  <a:srgbClr val="6A5660"/>
                </a:solidFill>
                <a:latin typeface="Calibri" pitchFamily="34" charset="0"/>
                <a:ea typeface="Calibri" pitchFamily="34" charset="-122"/>
                <a:cs typeface="Calibri" pitchFamily="34" charset="-120"/>
              </a:rPr>
              <a:t>Supervision de la plateforme</a:t>
            </a:r>
            <a:endParaRPr lang="en-US" sz="1250" dirty="0"/>
          </a:p>
        </p:txBody>
      </p:sp>
      <p:sp>
        <p:nvSpPr>
          <p:cNvPr id="23" name="Text 18"/>
          <p:cNvSpPr txBox="1"/>
          <p:nvPr/>
        </p:nvSpPr>
        <p:spPr>
          <a:xfrm>
            <a:off x="8348472" y="2834640"/>
            <a:ext cx="3108960" cy="182880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241820"/>
                </a:solidFill>
                <a:latin typeface="Calibri" pitchFamily="34" charset="0"/>
                <a:ea typeface="Calibri" pitchFamily="34" charset="-122"/>
                <a:cs typeface="Calibri" pitchFamily="34" charset="-120"/>
              </a:rPr>
              <a:t>Gérer n’importe quelle séance</a:t>
            </a:r>
            <a:endParaRPr lang="en-US" sz="1500" dirty="0"/>
          </a:p>
          <a:p>
            <a:pPr marL="177800" indent="-177800">
              <a:spcAft>
                <a:spcPts val="800"/>
              </a:spcAft>
              <a:buSzPct val="100000"/>
              <a:buChar char="•"/>
            </a:pPr>
            <a:r>
              <a:rPr lang="en-US" sz="1500" dirty="0">
                <a:solidFill>
                  <a:srgbClr val="241820"/>
                </a:solidFill>
                <a:latin typeface="Calibri" pitchFamily="34" charset="0"/>
                <a:ea typeface="Calibri" pitchFamily="34" charset="-122"/>
                <a:cs typeface="Calibri" pitchFamily="34" charset="-120"/>
              </a:rPr>
              <a:t>Voir tous les comptes</a:t>
            </a:r>
            <a:endParaRPr lang="en-US" sz="1500" dirty="0"/>
          </a:p>
          <a:p>
            <a:pPr marL="177800" indent="-177800">
              <a:spcAft>
                <a:spcPts val="800"/>
              </a:spcAft>
              <a:buSzPct val="100000"/>
              <a:buChar char="•"/>
            </a:pPr>
            <a:r>
              <a:rPr lang="en-US" sz="1500" dirty="0">
                <a:solidFill>
                  <a:srgbClr val="241820"/>
                </a:solidFill>
                <a:latin typeface="Calibri" pitchFamily="34" charset="0"/>
                <a:ea typeface="Calibri" pitchFamily="34" charset="-122"/>
                <a:cs typeface="Calibri" pitchFamily="34" charset="-120"/>
              </a:rPr>
              <a:t>Changer le rôle d’un compte</a:t>
            </a:r>
            <a:endParaRPr lang="en-US" sz="1500" dirty="0"/>
          </a:p>
          <a:p>
            <a:pPr marL="177800" indent="-177800">
              <a:spcAft>
                <a:spcPts val="800"/>
              </a:spcAft>
              <a:buSzPct val="100000"/>
              <a:buChar char="•"/>
            </a:pPr>
            <a:r>
              <a:rPr lang="en-US" sz="1500" dirty="0">
                <a:solidFill>
                  <a:srgbClr val="241820"/>
                </a:solidFill>
                <a:latin typeface="Calibri" pitchFamily="34" charset="0"/>
                <a:ea typeface="Calibri" pitchFamily="34" charset="-122"/>
                <a:cs typeface="Calibri" pitchFamily="34" charset="-120"/>
              </a:rPr>
              <a:t>Activer ou désactiver un compte</a:t>
            </a:r>
            <a:endParaRPr lang="en-US" sz="1500" dirty="0"/>
          </a:p>
        </p:txBody>
      </p:sp>
      <p:sp>
        <p:nvSpPr>
          <p:cNvPr id="24" name="Shape 19"/>
          <p:cNvSpPr/>
          <p:nvPr/>
        </p:nvSpPr>
        <p:spPr>
          <a:xfrm>
            <a:off x="548640" y="5120640"/>
            <a:ext cx="11091672" cy="713232"/>
          </a:xfrm>
          <a:prstGeom prst="roundRect">
            <a:avLst>
              <a:gd name="adj" fmla="val 17949"/>
            </a:avLst>
          </a:prstGeom>
          <a:solidFill>
            <a:srgbClr val="FFFFFF"/>
          </a:solidFill>
          <a:ln w="12700">
            <a:solidFill>
              <a:srgbClr val="E9D3DE"/>
            </a:solidFill>
            <a:prstDash val="solid"/>
          </a:ln>
        </p:spPr>
      </p:sp>
      <p:sp>
        <p:nvSpPr>
          <p:cNvPr id="25" name="Shape 20"/>
          <p:cNvSpPr/>
          <p:nvPr/>
        </p:nvSpPr>
        <p:spPr>
          <a:xfrm>
            <a:off x="777240" y="5276088"/>
            <a:ext cx="402336" cy="402336"/>
          </a:xfrm>
          <a:prstGeom prst="roundRect">
            <a:avLst>
              <a:gd name="adj" fmla="val 28000"/>
            </a:avLst>
          </a:prstGeom>
          <a:solidFill>
            <a:srgbClr val="F6EDF1"/>
          </a:solidFill>
          <a:ln w="12700">
            <a:solidFill>
              <a:srgbClr val="F6EDF1"/>
            </a:solidFill>
            <a:prstDash val="solid"/>
          </a:ln>
        </p:spPr>
      </p:sp>
      <p:pic>
        <p:nvPicPr>
          <p:cNvPr id="26" name="Image 3" descr="preencoded.png">    </p:cNvPr>
          <p:cNvPicPr>
            <a:picLocks noChangeAspect="1"/>
          </p:cNvPicPr>
          <p:nvPr/>
        </p:nvPicPr>
        <p:blipFill>
          <a:blip r:embed="rId4"/>
          <a:stretch>
            <a:fillRect/>
          </a:stretch>
        </p:blipFill>
        <p:spPr>
          <a:xfrm>
            <a:off x="873801" y="5372649"/>
            <a:ext cx="209215" cy="209215"/>
          </a:xfrm>
          <a:prstGeom prst="rect">
            <a:avLst/>
          </a:prstGeom>
        </p:spPr>
      </p:pic>
      <p:sp>
        <p:nvSpPr>
          <p:cNvPr id="27" name="Text 21"/>
          <p:cNvSpPr txBox="1"/>
          <p:nvPr/>
        </p:nvSpPr>
        <p:spPr>
          <a:xfrm>
            <a:off x="1371600" y="5239512"/>
            <a:ext cx="10058400" cy="475488"/>
          </a:xfrm>
          <a:prstGeom prst="rect">
            <a:avLst/>
          </a:prstGeom>
          <a:noFill/>
          <a:ln/>
        </p:spPr>
        <p:txBody>
          <a:bodyPr wrap="square" lIns="0" tIns="0" rIns="0" bIns="0" rtlCol="0" anchor="ctr"/>
          <a:lstStyle/>
          <a:p>
            <a:pPr indent="0" marL="0">
              <a:buNone/>
            </a:pPr>
            <a:r>
              <a:rPr lang="en-US" sz="1400" dirty="0">
                <a:solidFill>
                  <a:srgbClr val="241820"/>
                </a:solidFill>
                <a:latin typeface="Calibri" pitchFamily="34" charset="0"/>
                <a:ea typeface="Calibri" pitchFamily="34" charset="-122"/>
                <a:cs typeface="Calibri" pitchFamily="34" charset="-120"/>
              </a:rPr>
              <a:t>Le rôle est revérifié côté serveur à chaque requête </a:t>
            </a:r>
            <a:pPr indent="0" marL="0">
              <a:buNone/>
            </a:pPr>
            <a:r>
              <a:rPr lang="en-US" sz="1400" dirty="0">
                <a:solidFill>
                  <a:srgbClr val="9C2F68"/>
                </a:solidFill>
                <a:latin typeface="Consolas" pitchFamily="34" charset="0"/>
                <a:ea typeface="Consolas" pitchFamily="34" charset="-122"/>
                <a:cs typeface="Consolas" pitchFamily="34" charset="-120"/>
              </a:rPr>
              <a:t>(require_roles)</a:t>
            </a:r>
            <a:pPr indent="0" marL="0">
              <a:buNone/>
            </a:pPr>
            <a:r>
              <a:rPr lang="en-US" sz="1400" dirty="0">
                <a:solidFill>
                  <a:srgbClr val="241820"/>
                </a:solidFill>
                <a:latin typeface="Calibri" pitchFamily="34" charset="0"/>
                <a:ea typeface="Calibri" pitchFamily="34" charset="-122"/>
                <a:cs typeface="Calibri" pitchFamily="34" charset="-120"/>
              </a:rPr>
              <a:t> : les guards Angular ne servent qu’à l’expérience utilisateur.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300" kern="0" dirty="0">
                <a:solidFill>
                  <a:srgbClr val="7A4A12"/>
                </a:solidFill>
                <a:latin typeface="Calibri" pitchFamily="34" charset="0"/>
                <a:ea typeface="Calibri" pitchFamily="34" charset="-122"/>
                <a:cs typeface="Calibri" pitchFamily="34" charset="-120"/>
              </a:rPr>
              <a:t>FONCTIONNALITÉS</a:t>
            </a:r>
            <a:endParaRPr lang="en-US" sz="1200" dirty="0"/>
          </a:p>
        </p:txBody>
      </p:sp>
      <p:sp>
        <p:nvSpPr>
          <p:cNvPr id="3" name="Text 1"/>
          <p:cNvSpPr txBox="1"/>
          <p:nvPr/>
        </p:nvSpPr>
        <p:spPr>
          <a:xfrm>
            <a:off x="548640" y="694944"/>
            <a:ext cx="11064240" cy="685800"/>
          </a:xfrm>
          <a:prstGeom prst="rect">
            <a:avLst/>
          </a:prstGeom>
          <a:noFill/>
          <a:ln/>
        </p:spPr>
        <p:txBody>
          <a:bodyPr wrap="square" lIns="0" tIns="0" rIns="0" bIns="0" rtlCol="0" anchor="t"/>
          <a:lstStyle/>
          <a:p>
            <a:pPr indent="0" marL="0">
              <a:buNone/>
            </a:pPr>
            <a:r>
              <a:rPr lang="en-US" sz="3400" b="1" dirty="0">
                <a:solidFill>
                  <a:srgbClr val="241820"/>
                </a:solidFill>
                <a:latin typeface="Calibri" pitchFamily="34" charset="0"/>
                <a:ea typeface="Calibri" pitchFamily="34" charset="-122"/>
                <a:cs typeface="Calibri" pitchFamily="34" charset="-120"/>
              </a:rPr>
              <a:t>Un tour de l’application</a:t>
            </a:r>
            <a:endParaRPr lang="en-US" sz="3400" dirty="0"/>
          </a:p>
        </p:txBody>
      </p:sp>
      <p:sp>
        <p:nvSpPr>
          <p:cNvPr id="4" name="Text 2"/>
          <p:cNvSpPr txBox="1"/>
          <p:nvPr/>
        </p:nvSpPr>
        <p:spPr>
          <a:xfrm>
            <a:off x="548640" y="6419088"/>
            <a:ext cx="2743200" cy="256032"/>
          </a:xfrm>
          <a:prstGeom prst="rect">
            <a:avLst/>
          </a:prstGeom>
          <a:noFill/>
          <a:ln/>
        </p:spPr>
        <p:txBody>
          <a:bodyPr wrap="square" lIns="0" tIns="0" rIns="0" bIns="0" rtlCol="0" anchor="t"/>
          <a:lstStyle/>
          <a:p>
            <a:pPr indent="0" marL="0">
              <a:buNone/>
            </a:pPr>
            <a:r>
              <a:rPr lang="en-US" sz="1000" dirty="0">
                <a:solidFill>
                  <a:srgbClr val="A08C96"/>
                </a:solidFill>
                <a:latin typeface="Calibri" pitchFamily="34" charset="0"/>
                <a:ea typeface="Calibri" pitchFamily="34" charset="-122"/>
                <a:cs typeface="Calibri" pitchFamily="34" charset="-120"/>
              </a:rPr>
              <a:t>SportPlan</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t"/>
          <a:lstStyle/>
          <a:p>
            <a:pPr algn="r" indent="0" marL="0">
              <a:buNone/>
            </a:pPr>
            <a:r>
              <a:rPr lang="en-US" sz="1000" dirty="0">
                <a:solidFill>
                  <a:srgbClr val="A08C96"/>
                </a:solidFill>
                <a:latin typeface="Calibri" pitchFamily="34" charset="0"/>
                <a:ea typeface="Calibri" pitchFamily="34" charset="-122"/>
                <a:cs typeface="Calibri" pitchFamily="34" charset="-120"/>
              </a:rPr>
              <a:t>6</a:t>
            </a:r>
            <a:endParaRPr lang="en-US" sz="1000" dirty="0"/>
          </a:p>
        </p:txBody>
      </p:sp>
      <p:sp>
        <p:nvSpPr>
          <p:cNvPr id="6" name="Shape 4"/>
          <p:cNvSpPr/>
          <p:nvPr/>
        </p:nvSpPr>
        <p:spPr>
          <a:xfrm>
            <a:off x="548640" y="1636776"/>
            <a:ext cx="457200" cy="457200"/>
          </a:xfrm>
          <a:prstGeom prst="roundRect">
            <a:avLst>
              <a:gd name="adj" fmla="val 28000"/>
            </a:avLst>
          </a:prstGeom>
          <a:solidFill>
            <a:srgbClr val="E9D3DE"/>
          </a:solidFill>
          <a:ln w="12700">
            <a:solidFill>
              <a:srgbClr val="E9D3DE"/>
            </a:solidFill>
            <a:prstDash val="solid"/>
          </a:ln>
        </p:spPr>
      </p:sp>
      <p:pic>
        <p:nvPicPr>
          <p:cNvPr id="7" name="Image 0" descr="preencoded.png">    </p:cNvPr>
          <p:cNvPicPr>
            <a:picLocks noChangeAspect="1"/>
          </p:cNvPicPr>
          <p:nvPr/>
        </p:nvPicPr>
        <p:blipFill>
          <a:blip r:embed="rId1"/>
          <a:stretch>
            <a:fillRect/>
          </a:stretch>
        </p:blipFill>
        <p:spPr>
          <a:xfrm>
            <a:off x="658368" y="1746504"/>
            <a:ext cx="237744" cy="237744"/>
          </a:xfrm>
          <a:prstGeom prst="rect">
            <a:avLst/>
          </a:prstGeom>
        </p:spPr>
      </p:pic>
      <p:sp>
        <p:nvSpPr>
          <p:cNvPr id="8" name="Text 5"/>
          <p:cNvSpPr txBox="1"/>
          <p:nvPr/>
        </p:nvSpPr>
        <p:spPr>
          <a:xfrm>
            <a:off x="1170432" y="1600200"/>
            <a:ext cx="3291840" cy="274320"/>
          </a:xfrm>
          <a:prstGeom prst="rect">
            <a:avLst/>
          </a:prstGeom>
          <a:noFill/>
          <a:ln/>
        </p:spPr>
        <p:txBody>
          <a:bodyPr wrap="square" lIns="0" tIns="0" rIns="0" bIns="0" rtlCol="0" anchor="t"/>
          <a:lstStyle/>
          <a:p>
            <a:pPr indent="0" marL="0">
              <a:buNone/>
            </a:pPr>
            <a:r>
              <a:rPr lang="en-US" sz="1500" b="1" dirty="0">
                <a:solidFill>
                  <a:srgbClr val="241820"/>
                </a:solidFill>
                <a:latin typeface="Calibri" pitchFamily="34" charset="0"/>
                <a:ea typeface="Calibri" pitchFamily="34" charset="-122"/>
                <a:cs typeface="Calibri" pitchFamily="34" charset="-120"/>
              </a:rPr>
              <a:t>Authentification &amp; profil</a:t>
            </a:r>
            <a:endParaRPr lang="en-US" sz="1500" dirty="0"/>
          </a:p>
        </p:txBody>
      </p:sp>
      <p:sp>
        <p:nvSpPr>
          <p:cNvPr id="9" name="Text 6"/>
          <p:cNvSpPr txBox="1"/>
          <p:nvPr/>
        </p:nvSpPr>
        <p:spPr>
          <a:xfrm>
            <a:off x="1170432" y="1874520"/>
            <a:ext cx="3291840" cy="256032"/>
          </a:xfrm>
          <a:prstGeom prst="rect">
            <a:avLst/>
          </a:prstGeom>
          <a:noFill/>
          <a:ln/>
        </p:spPr>
        <p:txBody>
          <a:bodyPr wrap="square" lIns="0" tIns="0" rIns="0" bIns="0" rtlCol="0" anchor="t"/>
          <a:lstStyle/>
          <a:p>
            <a:pPr indent="0" marL="0">
              <a:buNone/>
            </a:pPr>
            <a:r>
              <a:rPr lang="en-US" sz="1200" dirty="0">
                <a:solidFill>
                  <a:srgbClr val="6A5660"/>
                </a:solidFill>
                <a:latin typeface="Calibri" pitchFamily="34" charset="0"/>
                <a:ea typeface="Calibri" pitchFamily="34" charset="-122"/>
                <a:cs typeface="Calibri" pitchFamily="34" charset="-120"/>
              </a:rPr>
              <a:t>Connexion, mot de passe oublié</a:t>
            </a:r>
            <a:endParaRPr lang="en-US" sz="1200" dirty="0"/>
          </a:p>
        </p:txBody>
      </p:sp>
      <p:sp>
        <p:nvSpPr>
          <p:cNvPr id="10" name="Shape 7"/>
          <p:cNvSpPr/>
          <p:nvPr/>
        </p:nvSpPr>
        <p:spPr>
          <a:xfrm>
            <a:off x="548640" y="2258568"/>
            <a:ext cx="457200" cy="457200"/>
          </a:xfrm>
          <a:prstGeom prst="roundRect">
            <a:avLst>
              <a:gd name="adj" fmla="val 28000"/>
            </a:avLst>
          </a:prstGeom>
          <a:solidFill>
            <a:srgbClr val="E9D3DE"/>
          </a:solidFill>
          <a:ln w="12700">
            <a:solidFill>
              <a:srgbClr val="E9D3DE"/>
            </a:solidFill>
            <a:prstDash val="solid"/>
          </a:ln>
        </p:spPr>
      </p:sp>
      <p:pic>
        <p:nvPicPr>
          <p:cNvPr id="11" name="Image 1" descr="preencoded.png">    </p:cNvPr>
          <p:cNvPicPr>
            <a:picLocks noChangeAspect="1"/>
          </p:cNvPicPr>
          <p:nvPr/>
        </p:nvPicPr>
        <p:blipFill>
          <a:blip r:embed="rId2"/>
          <a:stretch>
            <a:fillRect/>
          </a:stretch>
        </p:blipFill>
        <p:spPr>
          <a:xfrm>
            <a:off x="658368" y="2368296"/>
            <a:ext cx="237744" cy="237744"/>
          </a:xfrm>
          <a:prstGeom prst="rect">
            <a:avLst/>
          </a:prstGeom>
        </p:spPr>
      </p:pic>
      <p:sp>
        <p:nvSpPr>
          <p:cNvPr id="12" name="Text 8"/>
          <p:cNvSpPr txBox="1"/>
          <p:nvPr/>
        </p:nvSpPr>
        <p:spPr>
          <a:xfrm>
            <a:off x="1170432" y="2221992"/>
            <a:ext cx="3291840" cy="274320"/>
          </a:xfrm>
          <a:prstGeom prst="rect">
            <a:avLst/>
          </a:prstGeom>
          <a:noFill/>
          <a:ln/>
        </p:spPr>
        <p:txBody>
          <a:bodyPr wrap="square" lIns="0" tIns="0" rIns="0" bIns="0" rtlCol="0" anchor="t"/>
          <a:lstStyle/>
          <a:p>
            <a:pPr indent="0" marL="0">
              <a:buNone/>
            </a:pPr>
            <a:r>
              <a:rPr lang="en-US" sz="1500" b="1" dirty="0">
                <a:solidFill>
                  <a:srgbClr val="241820"/>
                </a:solidFill>
                <a:latin typeface="Calibri" pitchFamily="34" charset="0"/>
                <a:ea typeface="Calibri" pitchFamily="34" charset="-122"/>
                <a:cs typeface="Calibri" pitchFamily="34" charset="-120"/>
              </a:rPr>
              <a:t>Séances &amp; calendrier</a:t>
            </a:r>
            <a:endParaRPr lang="en-US" sz="1500" dirty="0"/>
          </a:p>
        </p:txBody>
      </p:sp>
      <p:sp>
        <p:nvSpPr>
          <p:cNvPr id="13" name="Text 9"/>
          <p:cNvSpPr txBox="1"/>
          <p:nvPr/>
        </p:nvSpPr>
        <p:spPr>
          <a:xfrm>
            <a:off x="1170432" y="2496312"/>
            <a:ext cx="3291840" cy="256032"/>
          </a:xfrm>
          <a:prstGeom prst="rect">
            <a:avLst/>
          </a:prstGeom>
          <a:noFill/>
          <a:ln/>
        </p:spPr>
        <p:txBody>
          <a:bodyPr wrap="square" lIns="0" tIns="0" rIns="0" bIns="0" rtlCol="0" anchor="t"/>
          <a:lstStyle/>
          <a:p>
            <a:pPr indent="0" marL="0">
              <a:buNone/>
            </a:pPr>
            <a:r>
              <a:rPr lang="en-US" sz="1200" dirty="0">
                <a:solidFill>
                  <a:srgbClr val="6A5660"/>
                </a:solidFill>
                <a:latin typeface="Calibri" pitchFamily="34" charset="0"/>
                <a:ea typeface="Calibri" pitchFamily="34" charset="-122"/>
                <a:cs typeface="Calibri" pitchFamily="34" charset="-120"/>
              </a:rPr>
              <a:t>Répétition, liste d’attente, agenda</a:t>
            </a:r>
            <a:endParaRPr lang="en-US" sz="1200" dirty="0"/>
          </a:p>
        </p:txBody>
      </p:sp>
      <p:sp>
        <p:nvSpPr>
          <p:cNvPr id="14" name="Shape 10"/>
          <p:cNvSpPr/>
          <p:nvPr/>
        </p:nvSpPr>
        <p:spPr>
          <a:xfrm>
            <a:off x="548640" y="2880360"/>
            <a:ext cx="457200" cy="457200"/>
          </a:xfrm>
          <a:prstGeom prst="roundRect">
            <a:avLst>
              <a:gd name="adj" fmla="val 28000"/>
            </a:avLst>
          </a:prstGeom>
          <a:solidFill>
            <a:srgbClr val="E9D3DE"/>
          </a:solidFill>
          <a:ln w="12700">
            <a:solidFill>
              <a:srgbClr val="E9D3DE"/>
            </a:solidFill>
            <a:prstDash val="solid"/>
          </a:ln>
        </p:spPr>
      </p:sp>
      <p:pic>
        <p:nvPicPr>
          <p:cNvPr id="15" name="Image 2" descr="preencoded.png">    </p:cNvPr>
          <p:cNvPicPr>
            <a:picLocks noChangeAspect="1"/>
          </p:cNvPicPr>
          <p:nvPr/>
        </p:nvPicPr>
        <p:blipFill>
          <a:blip r:embed="rId3"/>
          <a:stretch>
            <a:fillRect/>
          </a:stretch>
        </p:blipFill>
        <p:spPr>
          <a:xfrm>
            <a:off x="658368" y="2990088"/>
            <a:ext cx="237744" cy="237744"/>
          </a:xfrm>
          <a:prstGeom prst="rect">
            <a:avLst/>
          </a:prstGeom>
        </p:spPr>
      </p:pic>
      <p:sp>
        <p:nvSpPr>
          <p:cNvPr id="16" name="Text 11"/>
          <p:cNvSpPr txBox="1"/>
          <p:nvPr/>
        </p:nvSpPr>
        <p:spPr>
          <a:xfrm>
            <a:off x="1170432" y="2843784"/>
            <a:ext cx="3291840" cy="274320"/>
          </a:xfrm>
          <a:prstGeom prst="rect">
            <a:avLst/>
          </a:prstGeom>
          <a:noFill/>
          <a:ln/>
        </p:spPr>
        <p:txBody>
          <a:bodyPr wrap="square" lIns="0" tIns="0" rIns="0" bIns="0" rtlCol="0" anchor="t"/>
          <a:lstStyle/>
          <a:p>
            <a:pPr indent="0" marL="0">
              <a:buNone/>
            </a:pPr>
            <a:r>
              <a:rPr lang="en-US" sz="1500" b="1" dirty="0">
                <a:solidFill>
                  <a:srgbClr val="241820"/>
                </a:solidFill>
                <a:latin typeface="Calibri" pitchFamily="34" charset="0"/>
                <a:ea typeface="Calibri" pitchFamily="34" charset="-122"/>
                <a:cs typeface="Calibri" pitchFamily="34" charset="-120"/>
              </a:rPr>
              <a:t>Participations</a:t>
            </a:r>
            <a:endParaRPr lang="en-US" sz="1500" dirty="0"/>
          </a:p>
        </p:txBody>
      </p:sp>
      <p:sp>
        <p:nvSpPr>
          <p:cNvPr id="17" name="Text 12"/>
          <p:cNvSpPr txBox="1"/>
          <p:nvPr/>
        </p:nvSpPr>
        <p:spPr>
          <a:xfrm>
            <a:off x="1170432" y="3118104"/>
            <a:ext cx="3291840" cy="256032"/>
          </a:xfrm>
          <a:prstGeom prst="rect">
            <a:avLst/>
          </a:prstGeom>
          <a:noFill/>
          <a:ln/>
        </p:spPr>
        <p:txBody>
          <a:bodyPr wrap="square" lIns="0" tIns="0" rIns="0" bIns="0" rtlCol="0" anchor="t"/>
          <a:lstStyle/>
          <a:p>
            <a:pPr indent="0" marL="0">
              <a:buNone/>
            </a:pPr>
            <a:r>
              <a:rPr lang="en-US" sz="1200" dirty="0">
                <a:solidFill>
                  <a:srgbClr val="6A5660"/>
                </a:solidFill>
                <a:latin typeface="Calibri" pitchFamily="34" charset="0"/>
                <a:ea typeface="Calibri" pitchFamily="34" charset="-122"/>
                <a:cs typeface="Calibri" pitchFamily="34" charset="-120"/>
              </a:rPr>
              <a:t>Présences, assiduité, export CSV</a:t>
            </a:r>
            <a:endParaRPr lang="en-US" sz="1200" dirty="0"/>
          </a:p>
        </p:txBody>
      </p:sp>
      <p:sp>
        <p:nvSpPr>
          <p:cNvPr id="18" name="Shape 13"/>
          <p:cNvSpPr/>
          <p:nvPr/>
        </p:nvSpPr>
        <p:spPr>
          <a:xfrm>
            <a:off x="548640" y="3502152"/>
            <a:ext cx="457200" cy="457200"/>
          </a:xfrm>
          <a:prstGeom prst="roundRect">
            <a:avLst>
              <a:gd name="adj" fmla="val 28000"/>
            </a:avLst>
          </a:prstGeom>
          <a:solidFill>
            <a:srgbClr val="E9D3DE"/>
          </a:solidFill>
          <a:ln w="12700">
            <a:solidFill>
              <a:srgbClr val="E9D3DE"/>
            </a:solidFill>
            <a:prstDash val="solid"/>
          </a:ln>
        </p:spPr>
      </p:sp>
      <p:pic>
        <p:nvPicPr>
          <p:cNvPr id="19" name="Image 3" descr="preencoded.png">    </p:cNvPr>
          <p:cNvPicPr>
            <a:picLocks noChangeAspect="1"/>
          </p:cNvPicPr>
          <p:nvPr/>
        </p:nvPicPr>
        <p:blipFill>
          <a:blip r:embed="rId4"/>
          <a:stretch>
            <a:fillRect/>
          </a:stretch>
        </p:blipFill>
        <p:spPr>
          <a:xfrm>
            <a:off x="658368" y="3611880"/>
            <a:ext cx="237744" cy="237744"/>
          </a:xfrm>
          <a:prstGeom prst="rect">
            <a:avLst/>
          </a:prstGeom>
        </p:spPr>
      </p:pic>
      <p:sp>
        <p:nvSpPr>
          <p:cNvPr id="20" name="Text 14"/>
          <p:cNvSpPr txBox="1"/>
          <p:nvPr/>
        </p:nvSpPr>
        <p:spPr>
          <a:xfrm>
            <a:off x="1170432" y="3465576"/>
            <a:ext cx="3291840" cy="274320"/>
          </a:xfrm>
          <a:prstGeom prst="rect">
            <a:avLst/>
          </a:prstGeom>
          <a:noFill/>
          <a:ln/>
        </p:spPr>
        <p:txBody>
          <a:bodyPr wrap="square" lIns="0" tIns="0" rIns="0" bIns="0" rtlCol="0" anchor="t"/>
          <a:lstStyle/>
          <a:p>
            <a:pPr indent="0" marL="0">
              <a:buNone/>
            </a:pPr>
            <a:r>
              <a:rPr lang="en-US" sz="1500" b="1" dirty="0">
                <a:solidFill>
                  <a:srgbClr val="241820"/>
                </a:solidFill>
                <a:latin typeface="Calibri" pitchFamily="34" charset="0"/>
                <a:ea typeface="Calibri" pitchFamily="34" charset="-122"/>
                <a:cs typeface="Calibri" pitchFamily="34" charset="-120"/>
              </a:rPr>
              <a:t>Statistiques</a:t>
            </a:r>
            <a:endParaRPr lang="en-US" sz="1500" dirty="0"/>
          </a:p>
        </p:txBody>
      </p:sp>
      <p:sp>
        <p:nvSpPr>
          <p:cNvPr id="21" name="Text 15"/>
          <p:cNvSpPr txBox="1"/>
          <p:nvPr/>
        </p:nvSpPr>
        <p:spPr>
          <a:xfrm>
            <a:off x="1170432" y="3739896"/>
            <a:ext cx="3291840" cy="256032"/>
          </a:xfrm>
          <a:prstGeom prst="rect">
            <a:avLst/>
          </a:prstGeom>
          <a:noFill/>
          <a:ln/>
        </p:spPr>
        <p:txBody>
          <a:bodyPr wrap="square" lIns="0" tIns="0" rIns="0" bIns="0" rtlCol="0" anchor="t"/>
          <a:lstStyle/>
          <a:p>
            <a:pPr indent="0" marL="0">
              <a:buNone/>
            </a:pPr>
            <a:r>
              <a:rPr lang="en-US" sz="1200" dirty="0">
                <a:solidFill>
                  <a:srgbClr val="6A5660"/>
                </a:solidFill>
                <a:latin typeface="Calibri" pitchFamily="34" charset="0"/>
                <a:ea typeface="Calibri" pitchFamily="34" charset="-122"/>
                <a:cs typeface="Calibri" pitchFamily="34" charset="-120"/>
              </a:rPr>
              <a:t>Graphiques, badges, séries</a:t>
            </a:r>
            <a:endParaRPr lang="en-US" sz="1200" dirty="0"/>
          </a:p>
        </p:txBody>
      </p:sp>
      <p:sp>
        <p:nvSpPr>
          <p:cNvPr id="22" name="Shape 16"/>
          <p:cNvSpPr/>
          <p:nvPr/>
        </p:nvSpPr>
        <p:spPr>
          <a:xfrm>
            <a:off x="548640" y="4123944"/>
            <a:ext cx="457200" cy="457200"/>
          </a:xfrm>
          <a:prstGeom prst="roundRect">
            <a:avLst>
              <a:gd name="adj" fmla="val 28000"/>
            </a:avLst>
          </a:prstGeom>
          <a:solidFill>
            <a:srgbClr val="E9D3DE"/>
          </a:solidFill>
          <a:ln w="12700">
            <a:solidFill>
              <a:srgbClr val="E9D3DE"/>
            </a:solidFill>
            <a:prstDash val="solid"/>
          </a:ln>
        </p:spPr>
      </p:sp>
      <p:pic>
        <p:nvPicPr>
          <p:cNvPr id="23" name="Image 4" descr="preencoded.png">    </p:cNvPr>
          <p:cNvPicPr>
            <a:picLocks noChangeAspect="1"/>
          </p:cNvPicPr>
          <p:nvPr/>
        </p:nvPicPr>
        <p:blipFill>
          <a:blip r:embed="rId5"/>
          <a:stretch>
            <a:fillRect/>
          </a:stretch>
        </p:blipFill>
        <p:spPr>
          <a:xfrm>
            <a:off x="658368" y="4233672"/>
            <a:ext cx="237744" cy="237744"/>
          </a:xfrm>
          <a:prstGeom prst="rect">
            <a:avLst/>
          </a:prstGeom>
        </p:spPr>
      </p:pic>
      <p:sp>
        <p:nvSpPr>
          <p:cNvPr id="24" name="Text 17"/>
          <p:cNvSpPr txBox="1"/>
          <p:nvPr/>
        </p:nvSpPr>
        <p:spPr>
          <a:xfrm>
            <a:off x="1170432" y="4087368"/>
            <a:ext cx="3291840" cy="274320"/>
          </a:xfrm>
          <a:prstGeom prst="rect">
            <a:avLst/>
          </a:prstGeom>
          <a:noFill/>
          <a:ln/>
        </p:spPr>
        <p:txBody>
          <a:bodyPr wrap="square" lIns="0" tIns="0" rIns="0" bIns="0" rtlCol="0" anchor="t"/>
          <a:lstStyle/>
          <a:p>
            <a:pPr indent="0" marL="0">
              <a:buNone/>
            </a:pPr>
            <a:r>
              <a:rPr lang="en-US" sz="1500" b="1" dirty="0">
                <a:solidFill>
                  <a:srgbClr val="241820"/>
                </a:solidFill>
                <a:latin typeface="Calibri" pitchFamily="34" charset="0"/>
                <a:ea typeface="Calibri" pitchFamily="34" charset="-122"/>
                <a:cs typeface="Calibri" pitchFamily="34" charset="-120"/>
              </a:rPr>
              <a:t>Objectifs &amp; records</a:t>
            </a:r>
            <a:endParaRPr lang="en-US" sz="1500" dirty="0"/>
          </a:p>
        </p:txBody>
      </p:sp>
      <p:sp>
        <p:nvSpPr>
          <p:cNvPr id="25" name="Text 18"/>
          <p:cNvSpPr txBox="1"/>
          <p:nvPr/>
        </p:nvSpPr>
        <p:spPr>
          <a:xfrm>
            <a:off x="1170432" y="4361688"/>
            <a:ext cx="3291840" cy="256032"/>
          </a:xfrm>
          <a:prstGeom prst="rect">
            <a:avLst/>
          </a:prstGeom>
          <a:noFill/>
          <a:ln/>
        </p:spPr>
        <p:txBody>
          <a:bodyPr wrap="square" lIns="0" tIns="0" rIns="0" bIns="0" rtlCol="0" anchor="t"/>
          <a:lstStyle/>
          <a:p>
            <a:pPr indent="0" marL="0">
              <a:buNone/>
            </a:pPr>
            <a:r>
              <a:rPr lang="en-US" sz="1200" dirty="0">
                <a:solidFill>
                  <a:srgbClr val="6A5660"/>
                </a:solidFill>
                <a:latin typeface="Calibri" pitchFamily="34" charset="0"/>
                <a:ea typeface="Calibri" pitchFamily="34" charset="-122"/>
                <a:cs typeface="Calibri" pitchFamily="34" charset="-120"/>
              </a:rPr>
              <a:t>Cibles mesurables, records personnels</a:t>
            </a:r>
            <a:endParaRPr lang="en-US" sz="1200" dirty="0"/>
          </a:p>
        </p:txBody>
      </p:sp>
      <p:sp>
        <p:nvSpPr>
          <p:cNvPr id="26" name="Shape 19"/>
          <p:cNvSpPr/>
          <p:nvPr/>
        </p:nvSpPr>
        <p:spPr>
          <a:xfrm>
            <a:off x="548640" y="4745736"/>
            <a:ext cx="457200" cy="457200"/>
          </a:xfrm>
          <a:prstGeom prst="roundRect">
            <a:avLst>
              <a:gd name="adj" fmla="val 28000"/>
            </a:avLst>
          </a:prstGeom>
          <a:solidFill>
            <a:srgbClr val="E9D3DE"/>
          </a:solidFill>
          <a:ln w="12700">
            <a:solidFill>
              <a:srgbClr val="E9D3DE"/>
            </a:solidFill>
            <a:prstDash val="solid"/>
          </a:ln>
        </p:spPr>
      </p:sp>
      <p:pic>
        <p:nvPicPr>
          <p:cNvPr id="27" name="Image 5" descr="preencoded.png">    </p:cNvPr>
          <p:cNvPicPr>
            <a:picLocks noChangeAspect="1"/>
          </p:cNvPicPr>
          <p:nvPr/>
        </p:nvPicPr>
        <p:blipFill>
          <a:blip r:embed="rId6"/>
          <a:stretch>
            <a:fillRect/>
          </a:stretch>
        </p:blipFill>
        <p:spPr>
          <a:xfrm>
            <a:off x="658368" y="4855464"/>
            <a:ext cx="237744" cy="237744"/>
          </a:xfrm>
          <a:prstGeom prst="rect">
            <a:avLst/>
          </a:prstGeom>
        </p:spPr>
      </p:pic>
      <p:sp>
        <p:nvSpPr>
          <p:cNvPr id="28" name="Text 20"/>
          <p:cNvSpPr txBox="1"/>
          <p:nvPr/>
        </p:nvSpPr>
        <p:spPr>
          <a:xfrm>
            <a:off x="1170432" y="4709160"/>
            <a:ext cx="3291840" cy="274320"/>
          </a:xfrm>
          <a:prstGeom prst="rect">
            <a:avLst/>
          </a:prstGeom>
          <a:noFill/>
          <a:ln/>
        </p:spPr>
        <p:txBody>
          <a:bodyPr wrap="square" lIns="0" tIns="0" rIns="0" bIns="0" rtlCol="0" anchor="t"/>
          <a:lstStyle/>
          <a:p>
            <a:pPr indent="0" marL="0">
              <a:buNone/>
            </a:pPr>
            <a:r>
              <a:rPr lang="en-US" sz="1500" b="1" dirty="0">
                <a:solidFill>
                  <a:srgbClr val="241820"/>
                </a:solidFill>
                <a:latin typeface="Calibri" pitchFamily="34" charset="0"/>
                <a:ea typeface="Calibri" pitchFamily="34" charset="-122"/>
                <a:cs typeface="Calibri" pitchFamily="34" charset="-120"/>
              </a:rPr>
              <a:t>Programmes &amp; journal</a:t>
            </a:r>
            <a:endParaRPr lang="en-US" sz="1500" dirty="0"/>
          </a:p>
        </p:txBody>
      </p:sp>
      <p:sp>
        <p:nvSpPr>
          <p:cNvPr id="29" name="Text 21"/>
          <p:cNvSpPr txBox="1"/>
          <p:nvPr/>
        </p:nvSpPr>
        <p:spPr>
          <a:xfrm>
            <a:off x="1170432" y="4983480"/>
            <a:ext cx="3291840" cy="256032"/>
          </a:xfrm>
          <a:prstGeom prst="rect">
            <a:avLst/>
          </a:prstGeom>
          <a:noFill/>
          <a:ln/>
        </p:spPr>
        <p:txBody>
          <a:bodyPr wrap="square" lIns="0" tIns="0" rIns="0" bIns="0" rtlCol="0" anchor="t"/>
          <a:lstStyle/>
          <a:p>
            <a:pPr indent="0" marL="0">
              <a:buNone/>
            </a:pPr>
            <a:r>
              <a:rPr lang="en-US" sz="1200" dirty="0">
                <a:solidFill>
                  <a:srgbClr val="6A5660"/>
                </a:solidFill>
                <a:latin typeface="Calibri" pitchFamily="34" charset="0"/>
                <a:ea typeface="Calibri" pitchFamily="34" charset="-122"/>
                <a:cs typeface="Calibri" pitchFamily="34" charset="-120"/>
              </a:rPr>
              <a:t>Plans sur plusieurs semaines, ressenti</a:t>
            </a:r>
            <a:endParaRPr lang="en-US" sz="1200" dirty="0"/>
          </a:p>
        </p:txBody>
      </p:sp>
      <p:sp>
        <p:nvSpPr>
          <p:cNvPr id="30" name="Shape 22"/>
          <p:cNvSpPr/>
          <p:nvPr/>
        </p:nvSpPr>
        <p:spPr>
          <a:xfrm>
            <a:off x="548640" y="5367528"/>
            <a:ext cx="457200" cy="457200"/>
          </a:xfrm>
          <a:prstGeom prst="roundRect">
            <a:avLst>
              <a:gd name="adj" fmla="val 28000"/>
            </a:avLst>
          </a:prstGeom>
          <a:solidFill>
            <a:srgbClr val="E9D3DE"/>
          </a:solidFill>
          <a:ln w="12700">
            <a:solidFill>
              <a:srgbClr val="E9D3DE"/>
            </a:solidFill>
            <a:prstDash val="solid"/>
          </a:ln>
        </p:spPr>
      </p:sp>
      <p:pic>
        <p:nvPicPr>
          <p:cNvPr id="31" name="Image 6" descr="preencoded.png">    </p:cNvPr>
          <p:cNvPicPr>
            <a:picLocks noChangeAspect="1"/>
          </p:cNvPicPr>
          <p:nvPr/>
        </p:nvPicPr>
        <p:blipFill>
          <a:blip r:embed="rId7"/>
          <a:stretch>
            <a:fillRect/>
          </a:stretch>
        </p:blipFill>
        <p:spPr>
          <a:xfrm>
            <a:off x="658368" y="5477256"/>
            <a:ext cx="237744" cy="237744"/>
          </a:xfrm>
          <a:prstGeom prst="rect">
            <a:avLst/>
          </a:prstGeom>
        </p:spPr>
      </p:pic>
      <p:sp>
        <p:nvSpPr>
          <p:cNvPr id="32" name="Text 23"/>
          <p:cNvSpPr txBox="1"/>
          <p:nvPr/>
        </p:nvSpPr>
        <p:spPr>
          <a:xfrm>
            <a:off x="1170432" y="5330952"/>
            <a:ext cx="3291840" cy="274320"/>
          </a:xfrm>
          <a:prstGeom prst="rect">
            <a:avLst/>
          </a:prstGeom>
          <a:noFill/>
          <a:ln/>
        </p:spPr>
        <p:txBody>
          <a:bodyPr wrap="square" lIns="0" tIns="0" rIns="0" bIns="0" rtlCol="0" anchor="t"/>
          <a:lstStyle/>
          <a:p>
            <a:pPr indent="0" marL="0">
              <a:buNone/>
            </a:pPr>
            <a:r>
              <a:rPr lang="en-US" sz="1500" b="1" dirty="0">
                <a:solidFill>
                  <a:srgbClr val="241820"/>
                </a:solidFill>
                <a:latin typeface="Calibri" pitchFamily="34" charset="0"/>
                <a:ea typeface="Calibri" pitchFamily="34" charset="-122"/>
                <a:cs typeface="Calibri" pitchFamily="34" charset="-120"/>
              </a:rPr>
              <a:t>Notifications &amp; alertes</a:t>
            </a:r>
            <a:endParaRPr lang="en-US" sz="1500" dirty="0"/>
          </a:p>
        </p:txBody>
      </p:sp>
      <p:sp>
        <p:nvSpPr>
          <p:cNvPr id="33" name="Text 24"/>
          <p:cNvSpPr txBox="1"/>
          <p:nvPr/>
        </p:nvSpPr>
        <p:spPr>
          <a:xfrm>
            <a:off x="1170432" y="5605272"/>
            <a:ext cx="3291840" cy="256032"/>
          </a:xfrm>
          <a:prstGeom prst="rect">
            <a:avLst/>
          </a:prstGeom>
          <a:noFill/>
          <a:ln/>
        </p:spPr>
        <p:txBody>
          <a:bodyPr wrap="square" lIns="0" tIns="0" rIns="0" bIns="0" rtlCol="0" anchor="t"/>
          <a:lstStyle/>
          <a:p>
            <a:pPr indent="0" marL="0">
              <a:buNone/>
            </a:pPr>
            <a:r>
              <a:rPr lang="en-US" sz="1200" dirty="0">
                <a:solidFill>
                  <a:srgbClr val="6A5660"/>
                </a:solidFill>
                <a:latin typeface="Calibri" pitchFamily="34" charset="0"/>
                <a:ea typeface="Calibri" pitchFamily="34" charset="-122"/>
                <a:cs typeface="Calibri" pitchFamily="34" charset="-120"/>
              </a:rPr>
              <a:t>Rappels, sportifs à relancer</a:t>
            </a:r>
            <a:endParaRPr lang="en-US" sz="1200" dirty="0"/>
          </a:p>
        </p:txBody>
      </p:sp>
      <p:sp>
        <p:nvSpPr>
          <p:cNvPr id="34" name="Shape 25"/>
          <p:cNvSpPr/>
          <p:nvPr/>
        </p:nvSpPr>
        <p:spPr>
          <a:xfrm>
            <a:off x="4690872" y="1600200"/>
            <a:ext cx="3291840" cy="1789043"/>
          </a:xfrm>
          <a:prstGeom prst="roundRect">
            <a:avLst>
              <a:gd name="adj" fmla="val 4089"/>
            </a:avLst>
          </a:prstGeom>
          <a:solidFill>
            <a:srgbClr val="FFFFFF"/>
          </a:solidFill>
          <a:ln w="9525">
            <a:solidFill>
              <a:srgbClr val="E6D8DE"/>
            </a:solidFill>
            <a:prstDash val="solid"/>
          </a:ln>
          <a:effectLst>
            <a:outerShdw sx="100000" sy="100000" kx="0" ky="0" algn="bl" rotWithShape="0" blurRad="177800" dist="38100" dir="5400000">
              <a:srgbClr val="000000">
                <a:alpha val="16000"/>
              </a:srgbClr>
            </a:outerShdw>
          </a:effectLst>
        </p:spPr>
      </p:sp>
      <p:pic>
        <p:nvPicPr>
          <p:cNvPr id="35" name="Image 7" descr="img/calendar-top.png">    </p:cNvPr>
          <p:cNvPicPr>
            <a:picLocks noChangeAspect="1"/>
          </p:cNvPicPr>
          <p:nvPr/>
        </p:nvPicPr>
        <p:blipFill>
          <a:blip r:embed="rId8"/>
          <a:stretch>
            <a:fillRect/>
          </a:stretch>
        </p:blipFill>
        <p:spPr>
          <a:xfrm>
            <a:off x="4690872" y="1600200"/>
            <a:ext cx="3291840" cy="1789043"/>
          </a:xfrm>
          <a:prstGeom prst="rect">
            <a:avLst/>
          </a:prstGeom>
        </p:spPr>
      </p:pic>
      <p:sp>
        <p:nvSpPr>
          <p:cNvPr id="36" name="Text 26"/>
          <p:cNvSpPr txBox="1"/>
          <p:nvPr/>
        </p:nvSpPr>
        <p:spPr>
          <a:xfrm>
            <a:off x="4690872" y="3480683"/>
            <a:ext cx="3291840" cy="274320"/>
          </a:xfrm>
          <a:prstGeom prst="rect">
            <a:avLst/>
          </a:prstGeom>
          <a:noFill/>
          <a:ln/>
        </p:spPr>
        <p:txBody>
          <a:bodyPr wrap="square" lIns="0" tIns="0" rIns="0" bIns="0" rtlCol="0" anchor="t"/>
          <a:lstStyle/>
          <a:p>
            <a:pPr indent="0" marL="0">
              <a:buNone/>
            </a:pPr>
            <a:r>
              <a:rPr lang="en-US" sz="1200" b="1" dirty="0">
                <a:solidFill>
                  <a:srgbClr val="6A5660"/>
                </a:solidFill>
                <a:latin typeface="Calibri" pitchFamily="34" charset="0"/>
                <a:ea typeface="Calibri" pitchFamily="34" charset="-122"/>
                <a:cs typeface="Calibri" pitchFamily="34" charset="-120"/>
              </a:rPr>
              <a:t>Calendrier</a:t>
            </a:r>
            <a:endParaRPr lang="en-US" sz="1200" dirty="0"/>
          </a:p>
        </p:txBody>
      </p:sp>
      <p:sp>
        <p:nvSpPr>
          <p:cNvPr id="37" name="Shape 27"/>
          <p:cNvSpPr/>
          <p:nvPr/>
        </p:nvSpPr>
        <p:spPr>
          <a:xfrm>
            <a:off x="8257032" y="1600200"/>
            <a:ext cx="3291840" cy="1789043"/>
          </a:xfrm>
          <a:prstGeom prst="roundRect">
            <a:avLst>
              <a:gd name="adj" fmla="val 4089"/>
            </a:avLst>
          </a:prstGeom>
          <a:solidFill>
            <a:srgbClr val="FFFFFF"/>
          </a:solidFill>
          <a:ln w="9525">
            <a:solidFill>
              <a:srgbClr val="E6D8DE"/>
            </a:solidFill>
            <a:prstDash val="solid"/>
          </a:ln>
          <a:effectLst>
            <a:outerShdw sx="100000" sy="100000" kx="0" ky="0" algn="bl" rotWithShape="0" blurRad="177800" dist="38100" dir="5400000">
              <a:srgbClr val="000000">
                <a:alpha val="16000"/>
              </a:srgbClr>
            </a:outerShdw>
          </a:effectLst>
        </p:spPr>
      </p:sp>
      <p:pic>
        <p:nvPicPr>
          <p:cNvPr id="38" name="Image 8" descr="img/sessions-top.png">    </p:cNvPr>
          <p:cNvPicPr>
            <a:picLocks noChangeAspect="1"/>
          </p:cNvPicPr>
          <p:nvPr/>
        </p:nvPicPr>
        <p:blipFill>
          <a:blip r:embed="rId9"/>
          <a:stretch>
            <a:fillRect/>
          </a:stretch>
        </p:blipFill>
        <p:spPr>
          <a:xfrm>
            <a:off x="8257032" y="1600200"/>
            <a:ext cx="3291840" cy="1789043"/>
          </a:xfrm>
          <a:prstGeom prst="rect">
            <a:avLst/>
          </a:prstGeom>
        </p:spPr>
      </p:pic>
      <p:sp>
        <p:nvSpPr>
          <p:cNvPr id="39" name="Text 28"/>
          <p:cNvSpPr txBox="1"/>
          <p:nvPr/>
        </p:nvSpPr>
        <p:spPr>
          <a:xfrm>
            <a:off x="8257032" y="3480683"/>
            <a:ext cx="3291840" cy="274320"/>
          </a:xfrm>
          <a:prstGeom prst="rect">
            <a:avLst/>
          </a:prstGeom>
          <a:noFill/>
          <a:ln/>
        </p:spPr>
        <p:txBody>
          <a:bodyPr wrap="square" lIns="0" tIns="0" rIns="0" bIns="0" rtlCol="0" anchor="t"/>
          <a:lstStyle/>
          <a:p>
            <a:pPr indent="0" marL="0">
              <a:buNone/>
            </a:pPr>
            <a:r>
              <a:rPr lang="en-US" sz="1200" b="1" dirty="0">
                <a:solidFill>
                  <a:srgbClr val="6A5660"/>
                </a:solidFill>
                <a:latin typeface="Calibri" pitchFamily="34" charset="0"/>
                <a:ea typeface="Calibri" pitchFamily="34" charset="-122"/>
                <a:cs typeface="Calibri" pitchFamily="34" charset="-120"/>
              </a:rPr>
              <a:t>Séances (vue coach)</a:t>
            </a:r>
            <a:endParaRPr lang="en-US" sz="1200" dirty="0"/>
          </a:p>
        </p:txBody>
      </p:sp>
      <p:sp>
        <p:nvSpPr>
          <p:cNvPr id="40" name="Shape 29"/>
          <p:cNvSpPr/>
          <p:nvPr/>
        </p:nvSpPr>
        <p:spPr>
          <a:xfrm>
            <a:off x="4690872" y="3956171"/>
            <a:ext cx="3291840" cy="1789043"/>
          </a:xfrm>
          <a:prstGeom prst="roundRect">
            <a:avLst>
              <a:gd name="adj" fmla="val 4089"/>
            </a:avLst>
          </a:prstGeom>
          <a:solidFill>
            <a:srgbClr val="FFFFFF"/>
          </a:solidFill>
          <a:ln w="9525">
            <a:solidFill>
              <a:srgbClr val="E6D8DE"/>
            </a:solidFill>
            <a:prstDash val="solid"/>
          </a:ln>
          <a:effectLst>
            <a:outerShdw sx="100000" sy="100000" kx="0" ky="0" algn="bl" rotWithShape="0" blurRad="177800" dist="38100" dir="5400000">
              <a:srgbClr val="000000">
                <a:alpha val="16000"/>
              </a:srgbClr>
            </a:outerShdw>
          </a:effectLst>
        </p:spPr>
      </p:sp>
      <p:pic>
        <p:nvPicPr>
          <p:cNvPr id="41" name="Image 9" descr="img/goals-top.png">    </p:cNvPr>
          <p:cNvPicPr>
            <a:picLocks noChangeAspect="1"/>
          </p:cNvPicPr>
          <p:nvPr/>
        </p:nvPicPr>
        <p:blipFill>
          <a:blip r:embed="rId10"/>
          <a:stretch>
            <a:fillRect/>
          </a:stretch>
        </p:blipFill>
        <p:spPr>
          <a:xfrm>
            <a:off x="4690872" y="3956171"/>
            <a:ext cx="3291840" cy="1789043"/>
          </a:xfrm>
          <a:prstGeom prst="rect">
            <a:avLst/>
          </a:prstGeom>
        </p:spPr>
      </p:pic>
      <p:sp>
        <p:nvSpPr>
          <p:cNvPr id="42" name="Text 30"/>
          <p:cNvSpPr txBox="1"/>
          <p:nvPr/>
        </p:nvSpPr>
        <p:spPr>
          <a:xfrm>
            <a:off x="4690872" y="5836655"/>
            <a:ext cx="3291840" cy="274320"/>
          </a:xfrm>
          <a:prstGeom prst="rect">
            <a:avLst/>
          </a:prstGeom>
          <a:noFill/>
          <a:ln/>
        </p:spPr>
        <p:txBody>
          <a:bodyPr wrap="square" lIns="0" tIns="0" rIns="0" bIns="0" rtlCol="0" anchor="t"/>
          <a:lstStyle/>
          <a:p>
            <a:pPr indent="0" marL="0">
              <a:buNone/>
            </a:pPr>
            <a:r>
              <a:rPr lang="en-US" sz="1200" b="1" dirty="0">
                <a:solidFill>
                  <a:srgbClr val="6A5660"/>
                </a:solidFill>
                <a:latin typeface="Calibri" pitchFamily="34" charset="0"/>
                <a:ea typeface="Calibri" pitchFamily="34" charset="-122"/>
                <a:cs typeface="Calibri" pitchFamily="34" charset="-120"/>
              </a:rPr>
              <a:t>Objectifs &amp; records</a:t>
            </a:r>
            <a:endParaRPr lang="en-US" sz="1200" dirty="0"/>
          </a:p>
        </p:txBody>
      </p:sp>
      <p:sp>
        <p:nvSpPr>
          <p:cNvPr id="43" name="Shape 31"/>
          <p:cNvSpPr/>
          <p:nvPr/>
        </p:nvSpPr>
        <p:spPr>
          <a:xfrm>
            <a:off x="8257032" y="3956171"/>
            <a:ext cx="3291840" cy="1789043"/>
          </a:xfrm>
          <a:prstGeom prst="roundRect">
            <a:avLst>
              <a:gd name="adj" fmla="val 4089"/>
            </a:avLst>
          </a:prstGeom>
          <a:solidFill>
            <a:srgbClr val="FFFFFF"/>
          </a:solidFill>
          <a:ln w="9525">
            <a:solidFill>
              <a:srgbClr val="E6D8DE"/>
            </a:solidFill>
            <a:prstDash val="solid"/>
          </a:ln>
          <a:effectLst>
            <a:outerShdw sx="100000" sy="100000" kx="0" ky="0" algn="bl" rotWithShape="0" blurRad="177800" dist="38100" dir="5400000">
              <a:srgbClr val="000000">
                <a:alpha val="16000"/>
              </a:srgbClr>
            </a:outerShdw>
          </a:effectLst>
        </p:spPr>
      </p:sp>
      <p:pic>
        <p:nvPicPr>
          <p:cNvPr id="44" name="Image 10" descr="img/participations-top.png">    </p:cNvPr>
          <p:cNvPicPr>
            <a:picLocks noChangeAspect="1"/>
          </p:cNvPicPr>
          <p:nvPr/>
        </p:nvPicPr>
        <p:blipFill>
          <a:blip r:embed="rId11"/>
          <a:stretch>
            <a:fillRect/>
          </a:stretch>
        </p:blipFill>
        <p:spPr>
          <a:xfrm>
            <a:off x="8257032" y="3956171"/>
            <a:ext cx="3291840" cy="1789043"/>
          </a:xfrm>
          <a:prstGeom prst="rect">
            <a:avLst/>
          </a:prstGeom>
        </p:spPr>
      </p:pic>
      <p:sp>
        <p:nvSpPr>
          <p:cNvPr id="45" name="Text 32"/>
          <p:cNvSpPr txBox="1"/>
          <p:nvPr/>
        </p:nvSpPr>
        <p:spPr>
          <a:xfrm>
            <a:off x="8257032" y="5836655"/>
            <a:ext cx="3291840" cy="274320"/>
          </a:xfrm>
          <a:prstGeom prst="rect">
            <a:avLst/>
          </a:prstGeom>
          <a:noFill/>
          <a:ln/>
        </p:spPr>
        <p:txBody>
          <a:bodyPr wrap="square" lIns="0" tIns="0" rIns="0" bIns="0" rtlCol="0" anchor="t"/>
          <a:lstStyle/>
          <a:p>
            <a:pPr indent="0" marL="0">
              <a:buNone/>
            </a:pPr>
            <a:r>
              <a:rPr lang="en-US" sz="1200" b="1" dirty="0">
                <a:solidFill>
                  <a:srgbClr val="6A5660"/>
                </a:solidFill>
                <a:latin typeface="Calibri" pitchFamily="34" charset="0"/>
                <a:ea typeface="Calibri" pitchFamily="34" charset="-122"/>
                <a:cs typeface="Calibri" pitchFamily="34" charset="-120"/>
              </a:rPr>
              <a:t>Participations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300" kern="0" dirty="0">
                <a:solidFill>
                  <a:srgbClr val="7A4A12"/>
                </a:solidFill>
                <a:latin typeface="Calibri" pitchFamily="34" charset="0"/>
                <a:ea typeface="Calibri" pitchFamily="34" charset="-122"/>
                <a:cs typeface="Calibri" pitchFamily="34" charset="-120"/>
              </a:rPr>
              <a:t>STACK TECHNIQUE</a:t>
            </a:r>
            <a:endParaRPr lang="en-US" sz="1200" dirty="0"/>
          </a:p>
        </p:txBody>
      </p:sp>
      <p:sp>
        <p:nvSpPr>
          <p:cNvPr id="3" name="Text 1"/>
          <p:cNvSpPr txBox="1"/>
          <p:nvPr/>
        </p:nvSpPr>
        <p:spPr>
          <a:xfrm>
            <a:off x="548640" y="694944"/>
            <a:ext cx="11064240" cy="685800"/>
          </a:xfrm>
          <a:prstGeom prst="rect">
            <a:avLst/>
          </a:prstGeom>
          <a:noFill/>
          <a:ln/>
        </p:spPr>
        <p:txBody>
          <a:bodyPr wrap="square" lIns="0" tIns="0" rIns="0" bIns="0" rtlCol="0" anchor="t"/>
          <a:lstStyle/>
          <a:p>
            <a:pPr indent="0" marL="0">
              <a:buNone/>
            </a:pPr>
            <a:r>
              <a:rPr lang="en-US" sz="3400" b="1" dirty="0">
                <a:solidFill>
                  <a:srgbClr val="241820"/>
                </a:solidFill>
                <a:latin typeface="Calibri" pitchFamily="34" charset="0"/>
                <a:ea typeface="Calibri" pitchFamily="34" charset="-122"/>
                <a:cs typeface="Calibri" pitchFamily="34" charset="-120"/>
              </a:rPr>
              <a:t>Des technologies choisies pour leur rôle</a:t>
            </a:r>
            <a:endParaRPr lang="en-US" sz="3400" dirty="0"/>
          </a:p>
        </p:txBody>
      </p:sp>
      <p:sp>
        <p:nvSpPr>
          <p:cNvPr id="4" name="Text 2"/>
          <p:cNvSpPr txBox="1"/>
          <p:nvPr/>
        </p:nvSpPr>
        <p:spPr>
          <a:xfrm>
            <a:off x="548640" y="6419088"/>
            <a:ext cx="2743200" cy="256032"/>
          </a:xfrm>
          <a:prstGeom prst="rect">
            <a:avLst/>
          </a:prstGeom>
          <a:noFill/>
          <a:ln/>
        </p:spPr>
        <p:txBody>
          <a:bodyPr wrap="square" lIns="0" tIns="0" rIns="0" bIns="0" rtlCol="0" anchor="t"/>
          <a:lstStyle/>
          <a:p>
            <a:pPr indent="0" marL="0">
              <a:buNone/>
            </a:pPr>
            <a:r>
              <a:rPr lang="en-US" sz="1000" dirty="0">
                <a:solidFill>
                  <a:srgbClr val="A08C96"/>
                </a:solidFill>
                <a:latin typeface="Calibri" pitchFamily="34" charset="0"/>
                <a:ea typeface="Calibri" pitchFamily="34" charset="-122"/>
                <a:cs typeface="Calibri" pitchFamily="34" charset="-120"/>
              </a:rPr>
              <a:t>SportPlan</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t"/>
          <a:lstStyle/>
          <a:p>
            <a:pPr algn="r" indent="0" marL="0">
              <a:buNone/>
            </a:pPr>
            <a:r>
              <a:rPr lang="en-US" sz="1000" dirty="0">
                <a:solidFill>
                  <a:srgbClr val="A08C96"/>
                </a:solidFill>
                <a:latin typeface="Calibri" pitchFamily="34" charset="0"/>
                <a:ea typeface="Calibri" pitchFamily="34" charset="-122"/>
                <a:cs typeface="Calibri" pitchFamily="34" charset="-120"/>
              </a:rPr>
              <a:t>7</a:t>
            </a:r>
            <a:endParaRPr lang="en-US" sz="1000" dirty="0"/>
          </a:p>
        </p:txBody>
      </p:sp>
      <p:sp>
        <p:nvSpPr>
          <p:cNvPr id="6" name="Shape 4"/>
          <p:cNvSpPr/>
          <p:nvPr/>
        </p:nvSpPr>
        <p:spPr>
          <a:xfrm>
            <a:off x="548640" y="1600200"/>
            <a:ext cx="3035808" cy="1261872"/>
          </a:xfrm>
          <a:prstGeom prst="roundRect">
            <a:avLst>
              <a:gd name="adj" fmla="val 10145"/>
            </a:avLst>
          </a:prstGeom>
          <a:solidFill>
            <a:srgbClr val="F6EDF1"/>
          </a:solidFill>
          <a:ln w="12700">
            <a:solidFill>
              <a:srgbClr val="F6EDF1"/>
            </a:solidFill>
            <a:prstDash val="solid"/>
          </a:ln>
        </p:spPr>
      </p:sp>
      <p:sp>
        <p:nvSpPr>
          <p:cNvPr id="7" name="Shape 5"/>
          <p:cNvSpPr/>
          <p:nvPr/>
        </p:nvSpPr>
        <p:spPr>
          <a:xfrm>
            <a:off x="749808" y="1819656"/>
            <a:ext cx="548640" cy="548640"/>
          </a:xfrm>
          <a:prstGeom prst="roundRect">
            <a:avLst>
              <a:gd name="adj" fmla="val 28000"/>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881482" y="1951330"/>
            <a:ext cx="285293" cy="285293"/>
          </a:xfrm>
          <a:prstGeom prst="rect">
            <a:avLst/>
          </a:prstGeom>
        </p:spPr>
      </p:pic>
      <p:sp>
        <p:nvSpPr>
          <p:cNvPr id="9" name="Text 6"/>
          <p:cNvSpPr txBox="1"/>
          <p:nvPr/>
        </p:nvSpPr>
        <p:spPr>
          <a:xfrm>
            <a:off x="1463040" y="1783080"/>
            <a:ext cx="2011680" cy="228600"/>
          </a:xfrm>
          <a:prstGeom prst="rect">
            <a:avLst/>
          </a:prstGeom>
          <a:noFill/>
          <a:ln/>
        </p:spPr>
        <p:txBody>
          <a:bodyPr wrap="square" lIns="0" tIns="0" rIns="0" bIns="0" rtlCol="0" anchor="t"/>
          <a:lstStyle/>
          <a:p>
            <a:pPr indent="0" marL="0">
              <a:buNone/>
            </a:pPr>
            <a:r>
              <a:rPr lang="en-US" sz="1050" b="1" spc="200" kern="0" dirty="0">
                <a:solidFill>
                  <a:srgbClr val="7A4A12"/>
                </a:solidFill>
                <a:latin typeface="Calibri" pitchFamily="34" charset="0"/>
                <a:ea typeface="Calibri" pitchFamily="34" charset="-122"/>
                <a:cs typeface="Calibri" pitchFamily="34" charset="-120"/>
              </a:rPr>
              <a:t>FRONTEND</a:t>
            </a:r>
            <a:endParaRPr lang="en-US" sz="1050" dirty="0"/>
          </a:p>
        </p:txBody>
      </p:sp>
      <p:sp>
        <p:nvSpPr>
          <p:cNvPr id="10" name="Text 7"/>
          <p:cNvSpPr txBox="1"/>
          <p:nvPr/>
        </p:nvSpPr>
        <p:spPr>
          <a:xfrm>
            <a:off x="1463040" y="2020824"/>
            <a:ext cx="1965960" cy="310896"/>
          </a:xfrm>
          <a:prstGeom prst="rect">
            <a:avLst/>
          </a:prstGeom>
          <a:noFill/>
          <a:ln/>
        </p:spPr>
        <p:txBody>
          <a:bodyPr wrap="square" lIns="0" tIns="0" rIns="0" bIns="0" rtlCol="0" anchor="t"/>
          <a:lstStyle/>
          <a:p>
            <a:pPr indent="0" marL="0">
              <a:buNone/>
            </a:pPr>
            <a:r>
              <a:rPr lang="en-US" sz="1400" b="1" dirty="0">
                <a:solidFill>
                  <a:srgbClr val="241820"/>
                </a:solidFill>
                <a:latin typeface="Calibri" pitchFamily="34" charset="0"/>
                <a:ea typeface="Calibri" pitchFamily="34" charset="-122"/>
                <a:cs typeface="Calibri" pitchFamily="34" charset="-120"/>
              </a:rPr>
              <a:t>Angular 22 · TypeScript</a:t>
            </a:r>
            <a:endParaRPr lang="en-US" sz="1400" dirty="0"/>
          </a:p>
        </p:txBody>
      </p:sp>
      <p:sp>
        <p:nvSpPr>
          <p:cNvPr id="11" name="Text 8"/>
          <p:cNvSpPr txBox="1"/>
          <p:nvPr/>
        </p:nvSpPr>
        <p:spPr>
          <a:xfrm>
            <a:off x="1463040" y="2350008"/>
            <a:ext cx="1965960" cy="411480"/>
          </a:xfrm>
          <a:prstGeom prst="rect">
            <a:avLst/>
          </a:prstGeom>
          <a:noFill/>
          <a:ln/>
        </p:spPr>
        <p:txBody>
          <a:bodyPr wrap="square" lIns="0" tIns="0" rIns="0" bIns="0" rtlCol="0" anchor="t"/>
          <a:lstStyle/>
          <a:p>
            <a:pPr indent="0" marL="0">
              <a:buNone/>
            </a:pPr>
            <a:r>
              <a:rPr lang="en-US" sz="1200" dirty="0">
                <a:solidFill>
                  <a:srgbClr val="6A5660"/>
                </a:solidFill>
                <a:latin typeface="Calibri" pitchFamily="34" charset="0"/>
                <a:ea typeface="Calibri" pitchFamily="34" charset="-122"/>
                <a:cs typeface="Calibri" pitchFamily="34" charset="-120"/>
              </a:rPr>
              <a:t>Interface et formulaires</a:t>
            </a:r>
            <a:endParaRPr lang="en-US" sz="1200" dirty="0"/>
          </a:p>
        </p:txBody>
      </p:sp>
      <p:sp>
        <p:nvSpPr>
          <p:cNvPr id="12" name="Shape 9"/>
          <p:cNvSpPr/>
          <p:nvPr/>
        </p:nvSpPr>
        <p:spPr>
          <a:xfrm>
            <a:off x="3767328" y="1600200"/>
            <a:ext cx="3035808" cy="1261872"/>
          </a:xfrm>
          <a:prstGeom prst="roundRect">
            <a:avLst>
              <a:gd name="adj" fmla="val 10145"/>
            </a:avLst>
          </a:prstGeom>
          <a:solidFill>
            <a:srgbClr val="F6EDF1"/>
          </a:solidFill>
          <a:ln w="12700">
            <a:solidFill>
              <a:srgbClr val="F6EDF1"/>
            </a:solidFill>
            <a:prstDash val="solid"/>
          </a:ln>
        </p:spPr>
      </p:sp>
      <p:sp>
        <p:nvSpPr>
          <p:cNvPr id="13" name="Shape 10"/>
          <p:cNvSpPr/>
          <p:nvPr/>
        </p:nvSpPr>
        <p:spPr>
          <a:xfrm>
            <a:off x="3968496" y="1819656"/>
            <a:ext cx="548640" cy="548640"/>
          </a:xfrm>
          <a:prstGeom prst="roundRect">
            <a:avLst>
              <a:gd name="adj" fmla="val 28000"/>
            </a:avLst>
          </a:prstGeom>
          <a:solidFill>
            <a:srgbClr val="FFFFFF"/>
          </a:solidFill>
          <a:ln w="12700">
            <a:solidFill>
              <a:srgbClr val="FFFFFF"/>
            </a:solidFill>
            <a:prstDash val="solid"/>
          </a:ln>
        </p:spPr>
      </p:sp>
      <p:pic>
        <p:nvPicPr>
          <p:cNvPr id="14" name="Image 1" descr="preencoded.png">    </p:cNvPr>
          <p:cNvPicPr>
            <a:picLocks noChangeAspect="1"/>
          </p:cNvPicPr>
          <p:nvPr/>
        </p:nvPicPr>
        <p:blipFill>
          <a:blip r:embed="rId2"/>
          <a:stretch>
            <a:fillRect/>
          </a:stretch>
        </p:blipFill>
        <p:spPr>
          <a:xfrm>
            <a:off x="4100170" y="1951330"/>
            <a:ext cx="285293" cy="285293"/>
          </a:xfrm>
          <a:prstGeom prst="rect">
            <a:avLst/>
          </a:prstGeom>
        </p:spPr>
      </p:pic>
      <p:sp>
        <p:nvSpPr>
          <p:cNvPr id="15" name="Text 11"/>
          <p:cNvSpPr txBox="1"/>
          <p:nvPr/>
        </p:nvSpPr>
        <p:spPr>
          <a:xfrm>
            <a:off x="4681728" y="1783080"/>
            <a:ext cx="2011680" cy="228600"/>
          </a:xfrm>
          <a:prstGeom prst="rect">
            <a:avLst/>
          </a:prstGeom>
          <a:noFill/>
          <a:ln/>
        </p:spPr>
        <p:txBody>
          <a:bodyPr wrap="square" lIns="0" tIns="0" rIns="0" bIns="0" rtlCol="0" anchor="t"/>
          <a:lstStyle/>
          <a:p>
            <a:pPr indent="0" marL="0">
              <a:buNone/>
            </a:pPr>
            <a:r>
              <a:rPr lang="en-US" sz="1050" b="1" spc="200" kern="0" dirty="0">
                <a:solidFill>
                  <a:srgbClr val="7A4A12"/>
                </a:solidFill>
                <a:latin typeface="Calibri" pitchFamily="34" charset="0"/>
                <a:ea typeface="Calibri" pitchFamily="34" charset="-122"/>
                <a:cs typeface="Calibri" pitchFamily="34" charset="-120"/>
              </a:rPr>
              <a:t>VISUALISATION</a:t>
            </a:r>
            <a:endParaRPr lang="en-US" sz="1050" dirty="0"/>
          </a:p>
        </p:txBody>
      </p:sp>
      <p:sp>
        <p:nvSpPr>
          <p:cNvPr id="16" name="Text 12"/>
          <p:cNvSpPr txBox="1"/>
          <p:nvPr/>
        </p:nvSpPr>
        <p:spPr>
          <a:xfrm>
            <a:off x="4681728" y="2020824"/>
            <a:ext cx="1965960" cy="310896"/>
          </a:xfrm>
          <a:prstGeom prst="rect">
            <a:avLst/>
          </a:prstGeom>
          <a:noFill/>
          <a:ln/>
        </p:spPr>
        <p:txBody>
          <a:bodyPr wrap="square" lIns="0" tIns="0" rIns="0" bIns="0" rtlCol="0" anchor="t"/>
          <a:lstStyle/>
          <a:p>
            <a:pPr indent="0" marL="0">
              <a:buNone/>
            </a:pPr>
            <a:r>
              <a:rPr lang="en-US" sz="1400" b="1" dirty="0">
                <a:solidFill>
                  <a:srgbClr val="241820"/>
                </a:solidFill>
                <a:latin typeface="Calibri" pitchFamily="34" charset="0"/>
                <a:ea typeface="Calibri" pitchFamily="34" charset="-122"/>
                <a:cs typeface="Calibri" pitchFamily="34" charset="-120"/>
              </a:rPr>
              <a:t>Chart.js</a:t>
            </a:r>
            <a:endParaRPr lang="en-US" sz="1400" dirty="0"/>
          </a:p>
        </p:txBody>
      </p:sp>
      <p:sp>
        <p:nvSpPr>
          <p:cNvPr id="17" name="Text 13"/>
          <p:cNvSpPr txBox="1"/>
          <p:nvPr/>
        </p:nvSpPr>
        <p:spPr>
          <a:xfrm>
            <a:off x="4681728" y="2350008"/>
            <a:ext cx="1965960" cy="411480"/>
          </a:xfrm>
          <a:prstGeom prst="rect">
            <a:avLst/>
          </a:prstGeom>
          <a:noFill/>
          <a:ln/>
        </p:spPr>
        <p:txBody>
          <a:bodyPr wrap="square" lIns="0" tIns="0" rIns="0" bIns="0" rtlCol="0" anchor="t"/>
          <a:lstStyle/>
          <a:p>
            <a:pPr indent="0" marL="0">
              <a:buNone/>
            </a:pPr>
            <a:r>
              <a:rPr lang="en-US" sz="1200" dirty="0">
                <a:solidFill>
                  <a:srgbClr val="6A5660"/>
                </a:solidFill>
                <a:latin typeface="Calibri" pitchFamily="34" charset="0"/>
                <a:ea typeface="Calibri" pitchFamily="34" charset="-122"/>
                <a:cs typeface="Calibri" pitchFamily="34" charset="-120"/>
              </a:rPr>
              <a:t>Graphiques de progression</a:t>
            </a:r>
            <a:endParaRPr lang="en-US" sz="1200" dirty="0"/>
          </a:p>
        </p:txBody>
      </p:sp>
      <p:sp>
        <p:nvSpPr>
          <p:cNvPr id="18" name="Shape 14"/>
          <p:cNvSpPr/>
          <p:nvPr/>
        </p:nvSpPr>
        <p:spPr>
          <a:xfrm>
            <a:off x="548640" y="3017520"/>
            <a:ext cx="3035808" cy="1261872"/>
          </a:xfrm>
          <a:prstGeom prst="roundRect">
            <a:avLst>
              <a:gd name="adj" fmla="val 10145"/>
            </a:avLst>
          </a:prstGeom>
          <a:solidFill>
            <a:srgbClr val="F6EDF1"/>
          </a:solidFill>
          <a:ln w="12700">
            <a:solidFill>
              <a:srgbClr val="F6EDF1"/>
            </a:solidFill>
            <a:prstDash val="solid"/>
          </a:ln>
        </p:spPr>
      </p:sp>
      <p:sp>
        <p:nvSpPr>
          <p:cNvPr id="19" name="Shape 15"/>
          <p:cNvSpPr/>
          <p:nvPr/>
        </p:nvSpPr>
        <p:spPr>
          <a:xfrm>
            <a:off x="749808" y="3236976"/>
            <a:ext cx="548640" cy="548640"/>
          </a:xfrm>
          <a:prstGeom prst="roundRect">
            <a:avLst>
              <a:gd name="adj" fmla="val 28000"/>
            </a:avLst>
          </a:prstGeom>
          <a:solidFill>
            <a:srgbClr val="FFFFFF"/>
          </a:solidFill>
          <a:ln w="12700">
            <a:solidFill>
              <a:srgbClr val="FFFFFF"/>
            </a:solidFill>
            <a:prstDash val="solid"/>
          </a:ln>
        </p:spPr>
      </p:sp>
      <p:pic>
        <p:nvPicPr>
          <p:cNvPr id="20" name="Image 2" descr="preencoded.png">    </p:cNvPr>
          <p:cNvPicPr>
            <a:picLocks noChangeAspect="1"/>
          </p:cNvPicPr>
          <p:nvPr/>
        </p:nvPicPr>
        <p:blipFill>
          <a:blip r:embed="rId3"/>
          <a:stretch>
            <a:fillRect/>
          </a:stretch>
        </p:blipFill>
        <p:spPr>
          <a:xfrm>
            <a:off x="881482" y="3368650"/>
            <a:ext cx="285293" cy="285293"/>
          </a:xfrm>
          <a:prstGeom prst="rect">
            <a:avLst/>
          </a:prstGeom>
        </p:spPr>
      </p:pic>
      <p:sp>
        <p:nvSpPr>
          <p:cNvPr id="21" name="Text 16"/>
          <p:cNvSpPr txBox="1"/>
          <p:nvPr/>
        </p:nvSpPr>
        <p:spPr>
          <a:xfrm>
            <a:off x="1463040" y="3200400"/>
            <a:ext cx="2011680" cy="228600"/>
          </a:xfrm>
          <a:prstGeom prst="rect">
            <a:avLst/>
          </a:prstGeom>
          <a:noFill/>
          <a:ln/>
        </p:spPr>
        <p:txBody>
          <a:bodyPr wrap="square" lIns="0" tIns="0" rIns="0" bIns="0" rtlCol="0" anchor="t"/>
          <a:lstStyle/>
          <a:p>
            <a:pPr indent="0" marL="0">
              <a:buNone/>
            </a:pPr>
            <a:r>
              <a:rPr lang="en-US" sz="1050" b="1" spc="200" kern="0" dirty="0">
                <a:solidFill>
                  <a:srgbClr val="7A4A12"/>
                </a:solidFill>
                <a:latin typeface="Calibri" pitchFamily="34" charset="0"/>
                <a:ea typeface="Calibri" pitchFamily="34" charset="-122"/>
                <a:cs typeface="Calibri" pitchFamily="34" charset="-120"/>
              </a:rPr>
              <a:t>BACKEND</a:t>
            </a:r>
            <a:endParaRPr lang="en-US" sz="1050" dirty="0"/>
          </a:p>
        </p:txBody>
      </p:sp>
      <p:sp>
        <p:nvSpPr>
          <p:cNvPr id="22" name="Text 17"/>
          <p:cNvSpPr txBox="1"/>
          <p:nvPr/>
        </p:nvSpPr>
        <p:spPr>
          <a:xfrm>
            <a:off x="1463040" y="3438144"/>
            <a:ext cx="1965960" cy="310896"/>
          </a:xfrm>
          <a:prstGeom prst="rect">
            <a:avLst/>
          </a:prstGeom>
          <a:noFill/>
          <a:ln/>
        </p:spPr>
        <p:txBody>
          <a:bodyPr wrap="square" lIns="0" tIns="0" rIns="0" bIns="0" rtlCol="0" anchor="t"/>
          <a:lstStyle/>
          <a:p>
            <a:pPr indent="0" marL="0">
              <a:buNone/>
            </a:pPr>
            <a:r>
              <a:rPr lang="en-US" sz="1400" b="1" dirty="0">
                <a:solidFill>
                  <a:srgbClr val="241820"/>
                </a:solidFill>
                <a:latin typeface="Calibri" pitchFamily="34" charset="0"/>
                <a:ea typeface="Calibri" pitchFamily="34" charset="-122"/>
                <a:cs typeface="Calibri" pitchFamily="34" charset="-120"/>
              </a:rPr>
              <a:t>Python · FastAPI</a:t>
            </a:r>
            <a:endParaRPr lang="en-US" sz="1400" dirty="0"/>
          </a:p>
        </p:txBody>
      </p:sp>
      <p:sp>
        <p:nvSpPr>
          <p:cNvPr id="23" name="Text 18"/>
          <p:cNvSpPr txBox="1"/>
          <p:nvPr/>
        </p:nvSpPr>
        <p:spPr>
          <a:xfrm>
            <a:off x="1463040" y="3767328"/>
            <a:ext cx="1965960" cy="411480"/>
          </a:xfrm>
          <a:prstGeom prst="rect">
            <a:avLst/>
          </a:prstGeom>
          <a:noFill/>
          <a:ln/>
        </p:spPr>
        <p:txBody>
          <a:bodyPr wrap="square" lIns="0" tIns="0" rIns="0" bIns="0" rtlCol="0" anchor="t"/>
          <a:lstStyle/>
          <a:p>
            <a:pPr indent="0" marL="0">
              <a:buNone/>
            </a:pPr>
            <a:r>
              <a:rPr lang="en-US" sz="1200" dirty="0">
                <a:solidFill>
                  <a:srgbClr val="6A5660"/>
                </a:solidFill>
                <a:latin typeface="Calibri" pitchFamily="34" charset="0"/>
                <a:ea typeface="Calibri" pitchFamily="34" charset="-122"/>
                <a:cs typeface="Calibri" pitchFamily="34" charset="-120"/>
              </a:rPr>
              <a:t>API REST et logique métier</a:t>
            </a:r>
            <a:endParaRPr lang="en-US" sz="1200" dirty="0"/>
          </a:p>
        </p:txBody>
      </p:sp>
      <p:sp>
        <p:nvSpPr>
          <p:cNvPr id="24" name="Shape 19"/>
          <p:cNvSpPr/>
          <p:nvPr/>
        </p:nvSpPr>
        <p:spPr>
          <a:xfrm>
            <a:off x="3767328" y="3017520"/>
            <a:ext cx="3035808" cy="1261872"/>
          </a:xfrm>
          <a:prstGeom prst="roundRect">
            <a:avLst>
              <a:gd name="adj" fmla="val 10145"/>
            </a:avLst>
          </a:prstGeom>
          <a:solidFill>
            <a:srgbClr val="F6EDF1"/>
          </a:solidFill>
          <a:ln w="12700">
            <a:solidFill>
              <a:srgbClr val="F6EDF1"/>
            </a:solidFill>
            <a:prstDash val="solid"/>
          </a:ln>
        </p:spPr>
      </p:sp>
      <p:sp>
        <p:nvSpPr>
          <p:cNvPr id="25" name="Shape 20"/>
          <p:cNvSpPr/>
          <p:nvPr/>
        </p:nvSpPr>
        <p:spPr>
          <a:xfrm>
            <a:off x="3968496" y="3236976"/>
            <a:ext cx="548640" cy="548640"/>
          </a:xfrm>
          <a:prstGeom prst="roundRect">
            <a:avLst>
              <a:gd name="adj" fmla="val 28000"/>
            </a:avLst>
          </a:prstGeom>
          <a:solidFill>
            <a:srgbClr val="FFFFFF"/>
          </a:solidFill>
          <a:ln w="12700">
            <a:solidFill>
              <a:srgbClr val="FFFFFF"/>
            </a:solidFill>
            <a:prstDash val="solid"/>
          </a:ln>
        </p:spPr>
      </p:sp>
      <p:pic>
        <p:nvPicPr>
          <p:cNvPr id="26" name="Image 3" descr="preencoded.png">    </p:cNvPr>
          <p:cNvPicPr>
            <a:picLocks noChangeAspect="1"/>
          </p:cNvPicPr>
          <p:nvPr/>
        </p:nvPicPr>
        <p:blipFill>
          <a:blip r:embed="rId4"/>
          <a:stretch>
            <a:fillRect/>
          </a:stretch>
        </p:blipFill>
        <p:spPr>
          <a:xfrm>
            <a:off x="4100170" y="3368650"/>
            <a:ext cx="285293" cy="285293"/>
          </a:xfrm>
          <a:prstGeom prst="rect">
            <a:avLst/>
          </a:prstGeom>
        </p:spPr>
      </p:pic>
      <p:sp>
        <p:nvSpPr>
          <p:cNvPr id="27" name="Text 21"/>
          <p:cNvSpPr txBox="1"/>
          <p:nvPr/>
        </p:nvSpPr>
        <p:spPr>
          <a:xfrm>
            <a:off x="4681728" y="3200400"/>
            <a:ext cx="2011680" cy="228600"/>
          </a:xfrm>
          <a:prstGeom prst="rect">
            <a:avLst/>
          </a:prstGeom>
          <a:noFill/>
          <a:ln/>
        </p:spPr>
        <p:txBody>
          <a:bodyPr wrap="square" lIns="0" tIns="0" rIns="0" bIns="0" rtlCol="0" anchor="t"/>
          <a:lstStyle/>
          <a:p>
            <a:pPr indent="0" marL="0">
              <a:buNone/>
            </a:pPr>
            <a:r>
              <a:rPr lang="en-US" sz="1050" b="1" spc="200" kern="0" dirty="0">
                <a:solidFill>
                  <a:srgbClr val="7A4A12"/>
                </a:solidFill>
                <a:latin typeface="Calibri" pitchFamily="34" charset="0"/>
                <a:ea typeface="Calibri" pitchFamily="34" charset="-122"/>
                <a:cs typeface="Calibri" pitchFamily="34" charset="-120"/>
              </a:rPr>
              <a:t>DONNÉES</a:t>
            </a:r>
            <a:endParaRPr lang="en-US" sz="1050" dirty="0"/>
          </a:p>
        </p:txBody>
      </p:sp>
      <p:sp>
        <p:nvSpPr>
          <p:cNvPr id="28" name="Text 22"/>
          <p:cNvSpPr txBox="1"/>
          <p:nvPr/>
        </p:nvSpPr>
        <p:spPr>
          <a:xfrm>
            <a:off x="4681728" y="3438144"/>
            <a:ext cx="1965960" cy="310896"/>
          </a:xfrm>
          <a:prstGeom prst="rect">
            <a:avLst/>
          </a:prstGeom>
          <a:noFill/>
          <a:ln/>
        </p:spPr>
        <p:txBody>
          <a:bodyPr wrap="square" lIns="0" tIns="0" rIns="0" bIns="0" rtlCol="0" anchor="t"/>
          <a:lstStyle/>
          <a:p>
            <a:pPr indent="0" marL="0">
              <a:buNone/>
            </a:pPr>
            <a:r>
              <a:rPr lang="en-US" sz="1400" b="1" dirty="0">
                <a:solidFill>
                  <a:srgbClr val="241820"/>
                </a:solidFill>
                <a:latin typeface="Calibri" pitchFamily="34" charset="0"/>
                <a:ea typeface="Calibri" pitchFamily="34" charset="-122"/>
                <a:cs typeface="Calibri" pitchFamily="34" charset="-120"/>
              </a:rPr>
              <a:t>SQL Server · SQLAlchemy</a:t>
            </a:r>
            <a:endParaRPr lang="en-US" sz="1400" dirty="0"/>
          </a:p>
        </p:txBody>
      </p:sp>
      <p:sp>
        <p:nvSpPr>
          <p:cNvPr id="29" name="Text 23"/>
          <p:cNvSpPr txBox="1"/>
          <p:nvPr/>
        </p:nvSpPr>
        <p:spPr>
          <a:xfrm>
            <a:off x="4681728" y="3767328"/>
            <a:ext cx="1965960" cy="411480"/>
          </a:xfrm>
          <a:prstGeom prst="rect">
            <a:avLst/>
          </a:prstGeom>
          <a:noFill/>
          <a:ln/>
        </p:spPr>
        <p:txBody>
          <a:bodyPr wrap="square" lIns="0" tIns="0" rIns="0" bIns="0" rtlCol="0" anchor="t"/>
          <a:lstStyle/>
          <a:p>
            <a:pPr indent="0" marL="0">
              <a:buNone/>
            </a:pPr>
            <a:r>
              <a:rPr lang="en-US" sz="1200" dirty="0">
                <a:solidFill>
                  <a:srgbClr val="6A5660"/>
                </a:solidFill>
                <a:latin typeface="Calibri" pitchFamily="34" charset="0"/>
                <a:ea typeface="Calibri" pitchFamily="34" charset="-122"/>
                <a:cs typeface="Calibri" pitchFamily="34" charset="-120"/>
              </a:rPr>
              <a:t>Persistance via l’ORM (pyodbc)</a:t>
            </a:r>
            <a:endParaRPr lang="en-US" sz="1200" dirty="0"/>
          </a:p>
        </p:txBody>
      </p:sp>
      <p:sp>
        <p:nvSpPr>
          <p:cNvPr id="30" name="Shape 24"/>
          <p:cNvSpPr/>
          <p:nvPr/>
        </p:nvSpPr>
        <p:spPr>
          <a:xfrm>
            <a:off x="548640" y="4434840"/>
            <a:ext cx="3035808" cy="1261872"/>
          </a:xfrm>
          <a:prstGeom prst="roundRect">
            <a:avLst>
              <a:gd name="adj" fmla="val 10145"/>
            </a:avLst>
          </a:prstGeom>
          <a:solidFill>
            <a:srgbClr val="F6EDF1"/>
          </a:solidFill>
          <a:ln w="12700">
            <a:solidFill>
              <a:srgbClr val="F6EDF1"/>
            </a:solidFill>
            <a:prstDash val="solid"/>
          </a:ln>
        </p:spPr>
      </p:sp>
      <p:sp>
        <p:nvSpPr>
          <p:cNvPr id="31" name="Shape 25"/>
          <p:cNvSpPr/>
          <p:nvPr/>
        </p:nvSpPr>
        <p:spPr>
          <a:xfrm>
            <a:off x="749808" y="4654296"/>
            <a:ext cx="548640" cy="548640"/>
          </a:xfrm>
          <a:prstGeom prst="roundRect">
            <a:avLst>
              <a:gd name="adj" fmla="val 28000"/>
            </a:avLst>
          </a:prstGeom>
          <a:solidFill>
            <a:srgbClr val="FFFFFF"/>
          </a:solidFill>
          <a:ln w="12700">
            <a:solidFill>
              <a:srgbClr val="FFFFFF"/>
            </a:solidFill>
            <a:prstDash val="solid"/>
          </a:ln>
        </p:spPr>
      </p:sp>
      <p:pic>
        <p:nvPicPr>
          <p:cNvPr id="32" name="Image 4" descr="preencoded.png">    </p:cNvPr>
          <p:cNvPicPr>
            <a:picLocks noChangeAspect="1"/>
          </p:cNvPicPr>
          <p:nvPr/>
        </p:nvPicPr>
        <p:blipFill>
          <a:blip r:embed="rId5"/>
          <a:stretch>
            <a:fillRect/>
          </a:stretch>
        </p:blipFill>
        <p:spPr>
          <a:xfrm>
            <a:off x="881482" y="4785970"/>
            <a:ext cx="285293" cy="285293"/>
          </a:xfrm>
          <a:prstGeom prst="rect">
            <a:avLst/>
          </a:prstGeom>
        </p:spPr>
      </p:pic>
      <p:sp>
        <p:nvSpPr>
          <p:cNvPr id="33" name="Text 26"/>
          <p:cNvSpPr txBox="1"/>
          <p:nvPr/>
        </p:nvSpPr>
        <p:spPr>
          <a:xfrm>
            <a:off x="1463040" y="4617720"/>
            <a:ext cx="2011680" cy="228600"/>
          </a:xfrm>
          <a:prstGeom prst="rect">
            <a:avLst/>
          </a:prstGeom>
          <a:noFill/>
          <a:ln/>
        </p:spPr>
        <p:txBody>
          <a:bodyPr wrap="square" lIns="0" tIns="0" rIns="0" bIns="0" rtlCol="0" anchor="t"/>
          <a:lstStyle/>
          <a:p>
            <a:pPr indent="0" marL="0">
              <a:buNone/>
            </a:pPr>
            <a:r>
              <a:rPr lang="en-US" sz="1050" b="1" spc="200" kern="0" dirty="0">
                <a:solidFill>
                  <a:srgbClr val="7A4A12"/>
                </a:solidFill>
                <a:latin typeface="Calibri" pitchFamily="34" charset="0"/>
                <a:ea typeface="Calibri" pitchFamily="34" charset="-122"/>
                <a:cs typeface="Calibri" pitchFamily="34" charset="-120"/>
              </a:rPr>
              <a:t>SÉCURITÉ</a:t>
            </a:r>
            <a:endParaRPr lang="en-US" sz="1050" dirty="0"/>
          </a:p>
        </p:txBody>
      </p:sp>
      <p:sp>
        <p:nvSpPr>
          <p:cNvPr id="34" name="Text 27"/>
          <p:cNvSpPr txBox="1"/>
          <p:nvPr/>
        </p:nvSpPr>
        <p:spPr>
          <a:xfrm>
            <a:off x="1463040" y="4855464"/>
            <a:ext cx="1965960" cy="310896"/>
          </a:xfrm>
          <a:prstGeom prst="rect">
            <a:avLst/>
          </a:prstGeom>
          <a:noFill/>
          <a:ln/>
        </p:spPr>
        <p:txBody>
          <a:bodyPr wrap="square" lIns="0" tIns="0" rIns="0" bIns="0" rtlCol="0" anchor="t"/>
          <a:lstStyle/>
          <a:p>
            <a:pPr indent="0" marL="0">
              <a:buNone/>
            </a:pPr>
            <a:r>
              <a:rPr lang="en-US" sz="1400" b="1" dirty="0">
                <a:solidFill>
                  <a:srgbClr val="241820"/>
                </a:solidFill>
                <a:latin typeface="Calibri" pitchFamily="34" charset="0"/>
                <a:ea typeface="Calibri" pitchFamily="34" charset="-122"/>
                <a:cs typeface="Calibri" pitchFamily="34" charset="-120"/>
              </a:rPr>
              <a:t>JWT · Argon2 · CORS</a:t>
            </a:r>
            <a:endParaRPr lang="en-US" sz="1400" dirty="0"/>
          </a:p>
        </p:txBody>
      </p:sp>
      <p:sp>
        <p:nvSpPr>
          <p:cNvPr id="35" name="Text 28"/>
          <p:cNvSpPr txBox="1"/>
          <p:nvPr/>
        </p:nvSpPr>
        <p:spPr>
          <a:xfrm>
            <a:off x="1463040" y="5184648"/>
            <a:ext cx="1965960" cy="411480"/>
          </a:xfrm>
          <a:prstGeom prst="rect">
            <a:avLst/>
          </a:prstGeom>
          <a:noFill/>
          <a:ln/>
        </p:spPr>
        <p:txBody>
          <a:bodyPr wrap="square" lIns="0" tIns="0" rIns="0" bIns="0" rtlCol="0" anchor="t"/>
          <a:lstStyle/>
          <a:p>
            <a:pPr indent="0" marL="0">
              <a:buNone/>
            </a:pPr>
            <a:r>
              <a:rPr lang="en-US" sz="1200" dirty="0">
                <a:solidFill>
                  <a:srgbClr val="6A5660"/>
                </a:solidFill>
                <a:latin typeface="Calibri" pitchFamily="34" charset="0"/>
                <a:ea typeface="Calibri" pitchFamily="34" charset="-122"/>
                <a:cs typeface="Calibri" pitchFamily="34" charset="-120"/>
              </a:rPr>
              <a:t>Comptes et accès protégés</a:t>
            </a:r>
            <a:endParaRPr lang="en-US" sz="1200" dirty="0"/>
          </a:p>
        </p:txBody>
      </p:sp>
      <p:sp>
        <p:nvSpPr>
          <p:cNvPr id="36" name="Shape 29"/>
          <p:cNvSpPr/>
          <p:nvPr/>
        </p:nvSpPr>
        <p:spPr>
          <a:xfrm>
            <a:off x="3767328" y="4434840"/>
            <a:ext cx="3035808" cy="1261872"/>
          </a:xfrm>
          <a:prstGeom prst="roundRect">
            <a:avLst>
              <a:gd name="adj" fmla="val 10145"/>
            </a:avLst>
          </a:prstGeom>
          <a:solidFill>
            <a:srgbClr val="F6EDF1"/>
          </a:solidFill>
          <a:ln w="12700">
            <a:solidFill>
              <a:srgbClr val="F6EDF1"/>
            </a:solidFill>
            <a:prstDash val="solid"/>
          </a:ln>
        </p:spPr>
      </p:sp>
      <p:sp>
        <p:nvSpPr>
          <p:cNvPr id="37" name="Shape 30"/>
          <p:cNvSpPr/>
          <p:nvPr/>
        </p:nvSpPr>
        <p:spPr>
          <a:xfrm>
            <a:off x="3968496" y="4654296"/>
            <a:ext cx="548640" cy="548640"/>
          </a:xfrm>
          <a:prstGeom prst="roundRect">
            <a:avLst>
              <a:gd name="adj" fmla="val 28000"/>
            </a:avLst>
          </a:prstGeom>
          <a:solidFill>
            <a:srgbClr val="FFFFFF"/>
          </a:solidFill>
          <a:ln w="12700">
            <a:solidFill>
              <a:srgbClr val="FFFFFF"/>
            </a:solidFill>
            <a:prstDash val="solid"/>
          </a:ln>
        </p:spPr>
      </p:sp>
      <p:pic>
        <p:nvPicPr>
          <p:cNvPr id="38" name="Image 5" descr="preencoded.png">    </p:cNvPr>
          <p:cNvPicPr>
            <a:picLocks noChangeAspect="1"/>
          </p:cNvPicPr>
          <p:nvPr/>
        </p:nvPicPr>
        <p:blipFill>
          <a:blip r:embed="rId6"/>
          <a:stretch>
            <a:fillRect/>
          </a:stretch>
        </p:blipFill>
        <p:spPr>
          <a:xfrm>
            <a:off x="4100170" y="4785970"/>
            <a:ext cx="285293" cy="285293"/>
          </a:xfrm>
          <a:prstGeom prst="rect">
            <a:avLst/>
          </a:prstGeom>
        </p:spPr>
      </p:pic>
      <p:sp>
        <p:nvSpPr>
          <p:cNvPr id="39" name="Text 31"/>
          <p:cNvSpPr txBox="1"/>
          <p:nvPr/>
        </p:nvSpPr>
        <p:spPr>
          <a:xfrm>
            <a:off x="4681728" y="4617720"/>
            <a:ext cx="2011680" cy="228600"/>
          </a:xfrm>
          <a:prstGeom prst="rect">
            <a:avLst/>
          </a:prstGeom>
          <a:noFill/>
          <a:ln/>
        </p:spPr>
        <p:txBody>
          <a:bodyPr wrap="square" lIns="0" tIns="0" rIns="0" bIns="0" rtlCol="0" anchor="t"/>
          <a:lstStyle/>
          <a:p>
            <a:pPr indent="0" marL="0">
              <a:buNone/>
            </a:pPr>
            <a:r>
              <a:rPr lang="en-US" sz="1050" b="1" spc="200" kern="0" dirty="0">
                <a:solidFill>
                  <a:srgbClr val="7A4A12"/>
                </a:solidFill>
                <a:latin typeface="Calibri" pitchFamily="34" charset="0"/>
                <a:ea typeface="Calibri" pitchFamily="34" charset="-122"/>
                <a:cs typeface="Calibri" pitchFamily="34" charset="-120"/>
              </a:rPr>
              <a:t>QUALITÉ</a:t>
            </a:r>
            <a:endParaRPr lang="en-US" sz="1050" dirty="0"/>
          </a:p>
        </p:txBody>
      </p:sp>
      <p:sp>
        <p:nvSpPr>
          <p:cNvPr id="40" name="Text 32"/>
          <p:cNvSpPr txBox="1"/>
          <p:nvPr/>
        </p:nvSpPr>
        <p:spPr>
          <a:xfrm>
            <a:off x="4681728" y="4855464"/>
            <a:ext cx="1965960" cy="310896"/>
          </a:xfrm>
          <a:prstGeom prst="rect">
            <a:avLst/>
          </a:prstGeom>
          <a:noFill/>
          <a:ln/>
        </p:spPr>
        <p:txBody>
          <a:bodyPr wrap="square" lIns="0" tIns="0" rIns="0" bIns="0" rtlCol="0" anchor="t"/>
          <a:lstStyle/>
          <a:p>
            <a:pPr indent="0" marL="0">
              <a:buNone/>
            </a:pPr>
            <a:r>
              <a:rPr lang="en-US" sz="1400" b="1" dirty="0">
                <a:solidFill>
                  <a:srgbClr val="241820"/>
                </a:solidFill>
                <a:latin typeface="Calibri" pitchFamily="34" charset="0"/>
                <a:ea typeface="Calibri" pitchFamily="34" charset="-122"/>
                <a:cs typeface="Calibri" pitchFamily="34" charset="-120"/>
              </a:rPr>
              <a:t>Pytest · Vitest</a:t>
            </a:r>
            <a:endParaRPr lang="en-US" sz="1400" dirty="0"/>
          </a:p>
        </p:txBody>
      </p:sp>
      <p:sp>
        <p:nvSpPr>
          <p:cNvPr id="41" name="Text 33"/>
          <p:cNvSpPr txBox="1"/>
          <p:nvPr/>
        </p:nvSpPr>
        <p:spPr>
          <a:xfrm>
            <a:off x="4681728" y="5184648"/>
            <a:ext cx="1965960" cy="411480"/>
          </a:xfrm>
          <a:prstGeom prst="rect">
            <a:avLst/>
          </a:prstGeom>
          <a:noFill/>
          <a:ln/>
        </p:spPr>
        <p:txBody>
          <a:bodyPr wrap="square" lIns="0" tIns="0" rIns="0" bIns="0" rtlCol="0" anchor="t"/>
          <a:lstStyle/>
          <a:p>
            <a:pPr indent="0" marL="0">
              <a:buNone/>
            </a:pPr>
            <a:r>
              <a:rPr lang="en-US" sz="1200" dirty="0">
                <a:solidFill>
                  <a:srgbClr val="6A5660"/>
                </a:solidFill>
                <a:latin typeface="Calibri" pitchFamily="34" charset="0"/>
                <a:ea typeface="Calibri" pitchFamily="34" charset="-122"/>
                <a:cs typeface="Calibri" pitchFamily="34" charset="-120"/>
              </a:rPr>
              <a:t>Tests backend et frontend</a:t>
            </a:r>
            <a:endParaRPr lang="en-US" sz="1200" dirty="0"/>
          </a:p>
        </p:txBody>
      </p:sp>
      <p:sp>
        <p:nvSpPr>
          <p:cNvPr id="42" name="Shape 34"/>
          <p:cNvSpPr/>
          <p:nvPr/>
        </p:nvSpPr>
        <p:spPr>
          <a:xfrm>
            <a:off x="7178040" y="1600200"/>
            <a:ext cx="4462272" cy="4096512"/>
          </a:xfrm>
          <a:prstGeom prst="roundRect">
            <a:avLst>
              <a:gd name="adj" fmla="val 3125"/>
            </a:avLst>
          </a:prstGeom>
          <a:solidFill>
            <a:srgbClr val="1C1118"/>
          </a:solidFill>
          <a:ln w="12700">
            <a:solidFill>
              <a:srgbClr val="1C1118"/>
            </a:solidFill>
            <a:prstDash val="solid"/>
          </a:ln>
        </p:spPr>
      </p:sp>
      <p:sp>
        <p:nvSpPr>
          <p:cNvPr id="43" name="Text 35"/>
          <p:cNvSpPr txBox="1"/>
          <p:nvPr/>
        </p:nvSpPr>
        <p:spPr>
          <a:xfrm>
            <a:off x="7498080" y="1828800"/>
            <a:ext cx="3840480" cy="256032"/>
          </a:xfrm>
          <a:prstGeom prst="rect">
            <a:avLst/>
          </a:prstGeom>
          <a:noFill/>
          <a:ln/>
        </p:spPr>
        <p:txBody>
          <a:bodyPr wrap="square" lIns="0" tIns="0" rIns="0" bIns="0" rtlCol="0" anchor="t"/>
          <a:lstStyle/>
          <a:p>
            <a:pPr indent="0" marL="0">
              <a:buNone/>
            </a:pPr>
            <a:r>
              <a:rPr lang="en-US" sz="1100" b="1" spc="300" kern="0" dirty="0">
                <a:solidFill>
                  <a:srgbClr val="E3A857"/>
                </a:solidFill>
                <a:latin typeface="Calibri" pitchFamily="34" charset="0"/>
                <a:ea typeface="Calibri" pitchFamily="34" charset="-122"/>
                <a:cs typeface="Calibri" pitchFamily="34" charset="-120"/>
              </a:rPr>
              <a:t>LE PROJET EN CHIFFRES</a:t>
            </a:r>
            <a:endParaRPr lang="en-US" sz="1100" dirty="0"/>
          </a:p>
        </p:txBody>
      </p:sp>
      <p:sp>
        <p:nvSpPr>
          <p:cNvPr id="44" name="Text 36"/>
          <p:cNvSpPr txBox="1"/>
          <p:nvPr/>
        </p:nvSpPr>
        <p:spPr>
          <a:xfrm>
            <a:off x="7498080" y="2286000"/>
            <a:ext cx="1920240" cy="77724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56</a:t>
            </a:r>
            <a:endParaRPr lang="en-US" sz="4400" dirty="0"/>
          </a:p>
        </p:txBody>
      </p:sp>
      <p:sp>
        <p:nvSpPr>
          <p:cNvPr id="45" name="Text 37"/>
          <p:cNvSpPr txBox="1"/>
          <p:nvPr/>
        </p:nvSpPr>
        <p:spPr>
          <a:xfrm>
            <a:off x="7498080" y="3090672"/>
            <a:ext cx="1874520" cy="548640"/>
          </a:xfrm>
          <a:prstGeom prst="rect">
            <a:avLst/>
          </a:prstGeom>
          <a:noFill/>
          <a:ln/>
        </p:spPr>
        <p:txBody>
          <a:bodyPr wrap="square" lIns="0" tIns="0" rIns="0" bIns="0" rtlCol="0" anchor="t"/>
          <a:lstStyle/>
          <a:p>
            <a:pPr indent="0" marL="0">
              <a:buNone/>
            </a:pPr>
            <a:r>
              <a:rPr lang="en-US" sz="1300" dirty="0">
                <a:solidFill>
                  <a:srgbClr val="D9C7CD"/>
                </a:solidFill>
                <a:latin typeface="Calibri" pitchFamily="34" charset="0"/>
                <a:ea typeface="Calibri" pitchFamily="34" charset="-122"/>
                <a:cs typeface="Calibri" pitchFamily="34" charset="-120"/>
              </a:rPr>
              <a:t>endpoints REST</a:t>
            </a:r>
            <a:endParaRPr lang="en-US" sz="1300" dirty="0"/>
          </a:p>
        </p:txBody>
      </p:sp>
      <p:sp>
        <p:nvSpPr>
          <p:cNvPr id="46" name="Text 38"/>
          <p:cNvSpPr txBox="1"/>
          <p:nvPr/>
        </p:nvSpPr>
        <p:spPr>
          <a:xfrm>
            <a:off x="9555480" y="2286000"/>
            <a:ext cx="1920240" cy="77724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13</a:t>
            </a:r>
            <a:endParaRPr lang="en-US" sz="4400" dirty="0"/>
          </a:p>
        </p:txBody>
      </p:sp>
      <p:sp>
        <p:nvSpPr>
          <p:cNvPr id="47" name="Text 39"/>
          <p:cNvSpPr txBox="1"/>
          <p:nvPr/>
        </p:nvSpPr>
        <p:spPr>
          <a:xfrm>
            <a:off x="9555480" y="3090672"/>
            <a:ext cx="1874520" cy="548640"/>
          </a:xfrm>
          <a:prstGeom prst="rect">
            <a:avLst/>
          </a:prstGeom>
          <a:noFill/>
          <a:ln/>
        </p:spPr>
        <p:txBody>
          <a:bodyPr wrap="square" lIns="0" tIns="0" rIns="0" bIns="0" rtlCol="0" anchor="t"/>
          <a:lstStyle/>
          <a:p>
            <a:pPr indent="0" marL="0">
              <a:buNone/>
            </a:pPr>
            <a:r>
              <a:rPr lang="en-US" sz="1300" dirty="0">
                <a:solidFill>
                  <a:srgbClr val="D9C7CD"/>
                </a:solidFill>
                <a:latin typeface="Calibri" pitchFamily="34" charset="0"/>
                <a:ea typeface="Calibri" pitchFamily="34" charset="-122"/>
                <a:cs typeface="Calibri" pitchFamily="34" charset="-120"/>
              </a:rPr>
              <a:t>tables SQL Server</a:t>
            </a:r>
            <a:endParaRPr lang="en-US" sz="1300" dirty="0"/>
          </a:p>
        </p:txBody>
      </p:sp>
      <p:sp>
        <p:nvSpPr>
          <p:cNvPr id="48" name="Text 40"/>
          <p:cNvSpPr txBox="1"/>
          <p:nvPr/>
        </p:nvSpPr>
        <p:spPr>
          <a:xfrm>
            <a:off x="7498080" y="3931920"/>
            <a:ext cx="1920240" cy="77724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17</a:t>
            </a:r>
            <a:endParaRPr lang="en-US" sz="4400" dirty="0"/>
          </a:p>
        </p:txBody>
      </p:sp>
      <p:sp>
        <p:nvSpPr>
          <p:cNvPr id="49" name="Text 41"/>
          <p:cNvSpPr txBox="1"/>
          <p:nvPr/>
        </p:nvSpPr>
        <p:spPr>
          <a:xfrm>
            <a:off x="7498080" y="4736592"/>
            <a:ext cx="1874520" cy="548640"/>
          </a:xfrm>
          <a:prstGeom prst="rect">
            <a:avLst/>
          </a:prstGeom>
          <a:noFill/>
          <a:ln/>
        </p:spPr>
        <p:txBody>
          <a:bodyPr wrap="square" lIns="0" tIns="0" rIns="0" bIns="0" rtlCol="0" anchor="t"/>
          <a:lstStyle/>
          <a:p>
            <a:pPr indent="0" marL="0">
              <a:buNone/>
            </a:pPr>
            <a:r>
              <a:rPr lang="en-US" sz="1300" dirty="0">
                <a:solidFill>
                  <a:srgbClr val="D9C7CD"/>
                </a:solidFill>
                <a:latin typeface="Calibri" pitchFamily="34" charset="0"/>
                <a:ea typeface="Calibri" pitchFamily="34" charset="-122"/>
                <a:cs typeface="Calibri" pitchFamily="34" charset="-120"/>
              </a:rPr>
              <a:t>écrans Angular</a:t>
            </a:r>
            <a:endParaRPr lang="en-US" sz="1300" dirty="0"/>
          </a:p>
        </p:txBody>
      </p:sp>
      <p:sp>
        <p:nvSpPr>
          <p:cNvPr id="50" name="Text 42"/>
          <p:cNvSpPr txBox="1"/>
          <p:nvPr/>
        </p:nvSpPr>
        <p:spPr>
          <a:xfrm>
            <a:off x="9555480" y="3931920"/>
            <a:ext cx="1920240" cy="77724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165</a:t>
            </a:r>
            <a:endParaRPr lang="en-US" sz="4400" dirty="0"/>
          </a:p>
        </p:txBody>
      </p:sp>
      <p:sp>
        <p:nvSpPr>
          <p:cNvPr id="51" name="Text 43"/>
          <p:cNvSpPr txBox="1"/>
          <p:nvPr/>
        </p:nvSpPr>
        <p:spPr>
          <a:xfrm>
            <a:off x="9555480" y="4736592"/>
            <a:ext cx="1874520" cy="548640"/>
          </a:xfrm>
          <a:prstGeom prst="rect">
            <a:avLst/>
          </a:prstGeom>
          <a:noFill/>
          <a:ln/>
        </p:spPr>
        <p:txBody>
          <a:bodyPr wrap="square" lIns="0" tIns="0" rIns="0" bIns="0" rtlCol="0" anchor="t"/>
          <a:lstStyle/>
          <a:p>
            <a:pPr indent="0" marL="0">
              <a:buNone/>
            </a:pPr>
            <a:r>
              <a:rPr lang="en-US" sz="1300" dirty="0">
                <a:solidFill>
                  <a:srgbClr val="D9C7CD"/>
                </a:solidFill>
                <a:latin typeface="Calibri" pitchFamily="34" charset="0"/>
                <a:ea typeface="Calibri" pitchFamily="34" charset="-122"/>
                <a:cs typeface="Calibri" pitchFamily="34" charset="-120"/>
              </a:rPr>
              <a:t>tests automatisés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300" kern="0" dirty="0">
                <a:solidFill>
                  <a:srgbClr val="7A4A12"/>
                </a:solidFill>
                <a:latin typeface="Calibri" pitchFamily="34" charset="0"/>
                <a:ea typeface="Calibri" pitchFamily="34" charset="-122"/>
                <a:cs typeface="Calibri" pitchFamily="34" charset="-120"/>
              </a:rPr>
              <a:t>ARCHITECTURE</a:t>
            </a:r>
            <a:endParaRPr lang="en-US" sz="1200" dirty="0"/>
          </a:p>
        </p:txBody>
      </p:sp>
      <p:sp>
        <p:nvSpPr>
          <p:cNvPr id="3" name="Text 1"/>
          <p:cNvSpPr txBox="1"/>
          <p:nvPr/>
        </p:nvSpPr>
        <p:spPr>
          <a:xfrm>
            <a:off x="548640" y="694944"/>
            <a:ext cx="11064240" cy="685800"/>
          </a:xfrm>
          <a:prstGeom prst="rect">
            <a:avLst/>
          </a:prstGeom>
          <a:noFill/>
          <a:ln/>
        </p:spPr>
        <p:txBody>
          <a:bodyPr wrap="square" lIns="0" tIns="0" rIns="0" bIns="0" rtlCol="0" anchor="t"/>
          <a:lstStyle/>
          <a:p>
            <a:pPr indent="0" marL="0">
              <a:buNone/>
            </a:pPr>
            <a:r>
              <a:rPr lang="en-US" sz="3400" b="1" dirty="0">
                <a:solidFill>
                  <a:srgbClr val="241820"/>
                </a:solidFill>
                <a:latin typeface="Calibri" pitchFamily="34" charset="0"/>
                <a:ea typeface="Calibri" pitchFamily="34" charset="-122"/>
                <a:cs typeface="Calibri" pitchFamily="34" charset="-120"/>
              </a:rPr>
              <a:t>Frontend, API et base de données</a:t>
            </a:r>
            <a:endParaRPr lang="en-US" sz="3400" dirty="0"/>
          </a:p>
        </p:txBody>
      </p:sp>
      <p:sp>
        <p:nvSpPr>
          <p:cNvPr id="4" name="Text 2"/>
          <p:cNvSpPr txBox="1"/>
          <p:nvPr/>
        </p:nvSpPr>
        <p:spPr>
          <a:xfrm>
            <a:off x="548640" y="6419088"/>
            <a:ext cx="2743200" cy="256032"/>
          </a:xfrm>
          <a:prstGeom prst="rect">
            <a:avLst/>
          </a:prstGeom>
          <a:noFill/>
          <a:ln/>
        </p:spPr>
        <p:txBody>
          <a:bodyPr wrap="square" lIns="0" tIns="0" rIns="0" bIns="0" rtlCol="0" anchor="t"/>
          <a:lstStyle/>
          <a:p>
            <a:pPr indent="0" marL="0">
              <a:buNone/>
            </a:pPr>
            <a:r>
              <a:rPr lang="en-US" sz="1000" dirty="0">
                <a:solidFill>
                  <a:srgbClr val="A08C96"/>
                </a:solidFill>
                <a:latin typeface="Calibri" pitchFamily="34" charset="0"/>
                <a:ea typeface="Calibri" pitchFamily="34" charset="-122"/>
                <a:cs typeface="Calibri" pitchFamily="34" charset="-120"/>
              </a:rPr>
              <a:t>SportPlan</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t"/>
          <a:lstStyle/>
          <a:p>
            <a:pPr algn="r" indent="0" marL="0">
              <a:buNone/>
            </a:pPr>
            <a:r>
              <a:rPr lang="en-US" sz="1000" dirty="0">
                <a:solidFill>
                  <a:srgbClr val="A08C96"/>
                </a:solidFill>
                <a:latin typeface="Calibri" pitchFamily="34" charset="0"/>
                <a:ea typeface="Calibri" pitchFamily="34" charset="-122"/>
                <a:cs typeface="Calibri" pitchFamily="34" charset="-120"/>
              </a:rPr>
              <a:t>8</a:t>
            </a:r>
            <a:endParaRPr lang="en-US" sz="1000" dirty="0"/>
          </a:p>
        </p:txBody>
      </p:sp>
      <p:sp>
        <p:nvSpPr>
          <p:cNvPr id="6" name="Shape 4"/>
          <p:cNvSpPr/>
          <p:nvPr/>
        </p:nvSpPr>
        <p:spPr>
          <a:xfrm>
            <a:off x="548640" y="1645920"/>
            <a:ext cx="3017520" cy="3429000"/>
          </a:xfrm>
          <a:prstGeom prst="roundRect">
            <a:avLst>
              <a:gd name="adj" fmla="val 4242"/>
            </a:avLst>
          </a:prstGeom>
          <a:solidFill>
            <a:srgbClr val="F6EDF1"/>
          </a:solidFill>
          <a:ln w="12700">
            <a:solidFill>
              <a:srgbClr val="F6EDF1"/>
            </a:solidFill>
            <a:prstDash val="solid"/>
          </a:ln>
        </p:spPr>
      </p:sp>
      <p:sp>
        <p:nvSpPr>
          <p:cNvPr id="7" name="Shape 5"/>
          <p:cNvSpPr/>
          <p:nvPr/>
        </p:nvSpPr>
        <p:spPr>
          <a:xfrm>
            <a:off x="777240" y="1874520"/>
            <a:ext cx="603504" cy="603504"/>
          </a:xfrm>
          <a:prstGeom prst="roundRect">
            <a:avLst>
              <a:gd name="adj" fmla="val 28000"/>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922081" y="2019361"/>
            <a:ext cx="313822" cy="313822"/>
          </a:xfrm>
          <a:prstGeom prst="rect">
            <a:avLst/>
          </a:prstGeom>
        </p:spPr>
      </p:pic>
      <p:sp>
        <p:nvSpPr>
          <p:cNvPr id="9" name="Text 6"/>
          <p:cNvSpPr txBox="1"/>
          <p:nvPr/>
        </p:nvSpPr>
        <p:spPr>
          <a:xfrm>
            <a:off x="1536192" y="1865376"/>
            <a:ext cx="1920240" cy="365760"/>
          </a:xfrm>
          <a:prstGeom prst="rect">
            <a:avLst/>
          </a:prstGeom>
          <a:noFill/>
          <a:ln/>
        </p:spPr>
        <p:txBody>
          <a:bodyPr wrap="square" lIns="0" tIns="0" rIns="0" bIns="0" rtlCol="0" anchor="t"/>
          <a:lstStyle/>
          <a:p>
            <a:pPr indent="0" marL="0">
              <a:buNone/>
            </a:pPr>
            <a:r>
              <a:rPr lang="en-US" sz="2100" b="1" dirty="0">
                <a:solidFill>
                  <a:srgbClr val="241820"/>
                </a:solidFill>
                <a:latin typeface="Calibri" pitchFamily="34" charset="0"/>
                <a:ea typeface="Calibri" pitchFamily="34" charset="-122"/>
                <a:cs typeface="Calibri" pitchFamily="34" charset="-120"/>
              </a:rPr>
              <a:t>Angular</a:t>
            </a:r>
            <a:endParaRPr lang="en-US" sz="2100" dirty="0"/>
          </a:p>
        </p:txBody>
      </p:sp>
      <p:sp>
        <p:nvSpPr>
          <p:cNvPr id="10" name="Text 7"/>
          <p:cNvSpPr txBox="1"/>
          <p:nvPr/>
        </p:nvSpPr>
        <p:spPr>
          <a:xfrm>
            <a:off x="1536192" y="2212848"/>
            <a:ext cx="1920240" cy="256032"/>
          </a:xfrm>
          <a:prstGeom prst="rect">
            <a:avLst/>
          </a:prstGeom>
          <a:noFill/>
          <a:ln/>
        </p:spPr>
        <p:txBody>
          <a:bodyPr wrap="square" lIns="0" tIns="0" rIns="0" bIns="0" rtlCol="0" anchor="t"/>
          <a:lstStyle/>
          <a:p>
            <a:pPr indent="0" marL="0">
              <a:buNone/>
            </a:pPr>
            <a:r>
              <a:rPr lang="en-US" sz="1250" dirty="0">
                <a:solidFill>
                  <a:srgbClr val="6A5660"/>
                </a:solidFill>
                <a:latin typeface="Calibri" pitchFamily="34" charset="0"/>
                <a:ea typeface="Calibri" pitchFamily="34" charset="-122"/>
                <a:cs typeface="Calibri" pitchFamily="34" charset="-120"/>
              </a:rPr>
              <a:t>Frontend</a:t>
            </a:r>
            <a:endParaRPr lang="en-US" sz="1250" dirty="0"/>
          </a:p>
        </p:txBody>
      </p:sp>
      <p:sp>
        <p:nvSpPr>
          <p:cNvPr id="11" name="Shape 8"/>
          <p:cNvSpPr/>
          <p:nvPr/>
        </p:nvSpPr>
        <p:spPr>
          <a:xfrm>
            <a:off x="777240" y="2743200"/>
            <a:ext cx="2560320" cy="420624"/>
          </a:xfrm>
          <a:prstGeom prst="roundRect">
            <a:avLst>
              <a:gd name="adj" fmla="val 21739"/>
            </a:avLst>
          </a:prstGeom>
          <a:solidFill>
            <a:srgbClr val="FFFFFF"/>
          </a:solidFill>
          <a:ln w="12700">
            <a:solidFill>
              <a:srgbClr val="FFFFFF"/>
            </a:solidFill>
            <a:prstDash val="solid"/>
          </a:ln>
        </p:spPr>
      </p:sp>
      <p:sp>
        <p:nvSpPr>
          <p:cNvPr id="12" name="Text 9"/>
          <p:cNvSpPr txBox="1"/>
          <p:nvPr/>
        </p:nvSpPr>
        <p:spPr>
          <a:xfrm>
            <a:off x="932688" y="2743200"/>
            <a:ext cx="2286000" cy="420624"/>
          </a:xfrm>
          <a:prstGeom prst="rect">
            <a:avLst/>
          </a:prstGeom>
          <a:noFill/>
          <a:ln/>
        </p:spPr>
        <p:txBody>
          <a:bodyPr wrap="square" lIns="0" tIns="0" rIns="0" bIns="0" rtlCol="0" anchor="ctr"/>
          <a:lstStyle/>
          <a:p>
            <a:pPr indent="0" marL="0">
              <a:buNone/>
            </a:pPr>
            <a:r>
              <a:rPr lang="en-US" sz="1350" dirty="0">
                <a:solidFill>
                  <a:srgbClr val="241820"/>
                </a:solidFill>
                <a:latin typeface="Calibri" pitchFamily="34" charset="0"/>
                <a:ea typeface="Calibri" pitchFamily="34" charset="-122"/>
                <a:cs typeface="Calibri" pitchFamily="34" charset="-120"/>
              </a:rPr>
              <a:t>Composants standalone</a:t>
            </a:r>
            <a:endParaRPr lang="en-US" sz="1350" dirty="0"/>
          </a:p>
        </p:txBody>
      </p:sp>
      <p:sp>
        <p:nvSpPr>
          <p:cNvPr id="13" name="Shape 10"/>
          <p:cNvSpPr/>
          <p:nvPr/>
        </p:nvSpPr>
        <p:spPr>
          <a:xfrm>
            <a:off x="777240" y="3291840"/>
            <a:ext cx="2560320" cy="420624"/>
          </a:xfrm>
          <a:prstGeom prst="roundRect">
            <a:avLst>
              <a:gd name="adj" fmla="val 21739"/>
            </a:avLst>
          </a:prstGeom>
          <a:solidFill>
            <a:srgbClr val="FFFFFF"/>
          </a:solidFill>
          <a:ln w="12700">
            <a:solidFill>
              <a:srgbClr val="FFFFFF"/>
            </a:solidFill>
            <a:prstDash val="solid"/>
          </a:ln>
        </p:spPr>
      </p:sp>
      <p:sp>
        <p:nvSpPr>
          <p:cNvPr id="14" name="Text 11"/>
          <p:cNvSpPr txBox="1"/>
          <p:nvPr/>
        </p:nvSpPr>
        <p:spPr>
          <a:xfrm>
            <a:off x="932688" y="3291840"/>
            <a:ext cx="2286000" cy="420624"/>
          </a:xfrm>
          <a:prstGeom prst="rect">
            <a:avLst/>
          </a:prstGeom>
          <a:noFill/>
          <a:ln/>
        </p:spPr>
        <p:txBody>
          <a:bodyPr wrap="square" lIns="0" tIns="0" rIns="0" bIns="0" rtlCol="0" anchor="ctr"/>
          <a:lstStyle/>
          <a:p>
            <a:pPr indent="0" marL="0">
              <a:buNone/>
            </a:pPr>
            <a:r>
              <a:rPr lang="en-US" sz="1350" dirty="0">
                <a:solidFill>
                  <a:srgbClr val="241820"/>
                </a:solidFill>
                <a:latin typeface="Calibri" pitchFamily="34" charset="0"/>
                <a:ea typeface="Calibri" pitchFamily="34" charset="-122"/>
                <a:cs typeface="Calibri" pitchFamily="34" charset="-120"/>
              </a:rPr>
              <a:t>Services HTTP</a:t>
            </a:r>
            <a:endParaRPr lang="en-US" sz="1350" dirty="0"/>
          </a:p>
        </p:txBody>
      </p:sp>
      <p:sp>
        <p:nvSpPr>
          <p:cNvPr id="15" name="Shape 12"/>
          <p:cNvSpPr/>
          <p:nvPr/>
        </p:nvSpPr>
        <p:spPr>
          <a:xfrm>
            <a:off x="777240" y="3840480"/>
            <a:ext cx="2560320" cy="420624"/>
          </a:xfrm>
          <a:prstGeom prst="roundRect">
            <a:avLst>
              <a:gd name="adj" fmla="val 21739"/>
            </a:avLst>
          </a:prstGeom>
          <a:solidFill>
            <a:srgbClr val="FFFFFF"/>
          </a:solidFill>
          <a:ln w="12700">
            <a:solidFill>
              <a:srgbClr val="FFFFFF"/>
            </a:solidFill>
            <a:prstDash val="solid"/>
          </a:ln>
        </p:spPr>
      </p:sp>
      <p:sp>
        <p:nvSpPr>
          <p:cNvPr id="16" name="Text 13"/>
          <p:cNvSpPr txBox="1"/>
          <p:nvPr/>
        </p:nvSpPr>
        <p:spPr>
          <a:xfrm>
            <a:off x="932688" y="3840480"/>
            <a:ext cx="2286000" cy="420624"/>
          </a:xfrm>
          <a:prstGeom prst="rect">
            <a:avLst/>
          </a:prstGeom>
          <a:noFill/>
          <a:ln/>
        </p:spPr>
        <p:txBody>
          <a:bodyPr wrap="square" lIns="0" tIns="0" rIns="0" bIns="0" rtlCol="0" anchor="ctr"/>
          <a:lstStyle/>
          <a:p>
            <a:pPr indent="0" marL="0">
              <a:buNone/>
            </a:pPr>
            <a:r>
              <a:rPr lang="en-US" sz="1350" dirty="0">
                <a:solidFill>
                  <a:srgbClr val="241820"/>
                </a:solidFill>
                <a:latin typeface="Calibri" pitchFamily="34" charset="0"/>
                <a:ea typeface="Calibri" pitchFamily="34" charset="-122"/>
                <a:cs typeface="Calibri" pitchFamily="34" charset="-120"/>
              </a:rPr>
              <a:t>Guards &amp; interceptor</a:t>
            </a:r>
            <a:endParaRPr lang="en-US" sz="1350" dirty="0"/>
          </a:p>
        </p:txBody>
      </p:sp>
      <p:sp>
        <p:nvSpPr>
          <p:cNvPr id="17" name="Shape 14"/>
          <p:cNvSpPr/>
          <p:nvPr/>
        </p:nvSpPr>
        <p:spPr>
          <a:xfrm>
            <a:off x="777240" y="4389120"/>
            <a:ext cx="2560320" cy="420624"/>
          </a:xfrm>
          <a:prstGeom prst="roundRect">
            <a:avLst>
              <a:gd name="adj" fmla="val 21739"/>
            </a:avLst>
          </a:prstGeom>
          <a:solidFill>
            <a:srgbClr val="FFFFFF"/>
          </a:solidFill>
          <a:ln w="12700">
            <a:solidFill>
              <a:srgbClr val="FFFFFF"/>
            </a:solidFill>
            <a:prstDash val="solid"/>
          </a:ln>
        </p:spPr>
      </p:sp>
      <p:sp>
        <p:nvSpPr>
          <p:cNvPr id="18" name="Text 15"/>
          <p:cNvSpPr txBox="1"/>
          <p:nvPr/>
        </p:nvSpPr>
        <p:spPr>
          <a:xfrm>
            <a:off x="932688" y="4389120"/>
            <a:ext cx="2286000" cy="420624"/>
          </a:xfrm>
          <a:prstGeom prst="rect">
            <a:avLst/>
          </a:prstGeom>
          <a:noFill/>
          <a:ln/>
        </p:spPr>
        <p:txBody>
          <a:bodyPr wrap="square" lIns="0" tIns="0" rIns="0" bIns="0" rtlCol="0" anchor="ctr"/>
          <a:lstStyle/>
          <a:p>
            <a:pPr indent="0" marL="0">
              <a:buNone/>
            </a:pPr>
            <a:r>
              <a:rPr lang="en-US" sz="1350" dirty="0">
                <a:solidFill>
                  <a:srgbClr val="241820"/>
                </a:solidFill>
                <a:latin typeface="Calibri" pitchFamily="34" charset="0"/>
                <a:ea typeface="Calibri" pitchFamily="34" charset="-122"/>
                <a:cs typeface="Calibri" pitchFamily="34" charset="-120"/>
              </a:rPr>
              <a:t>Un dossier par fonctionnalité</a:t>
            </a:r>
            <a:endParaRPr lang="en-US" sz="1350" dirty="0"/>
          </a:p>
        </p:txBody>
      </p:sp>
      <p:sp>
        <p:nvSpPr>
          <p:cNvPr id="19" name="Shape 16"/>
          <p:cNvSpPr/>
          <p:nvPr/>
        </p:nvSpPr>
        <p:spPr>
          <a:xfrm>
            <a:off x="4572000" y="1645920"/>
            <a:ext cx="3017520" cy="3429000"/>
          </a:xfrm>
          <a:prstGeom prst="roundRect">
            <a:avLst>
              <a:gd name="adj" fmla="val 4242"/>
            </a:avLst>
          </a:prstGeom>
          <a:solidFill>
            <a:srgbClr val="9C2F68"/>
          </a:solidFill>
          <a:ln w="12700">
            <a:solidFill>
              <a:srgbClr val="9C2F68"/>
            </a:solidFill>
            <a:prstDash val="solid"/>
          </a:ln>
          <a:effectLst>
            <a:outerShdw sx="100000" sy="100000" kx="0" ky="0" algn="bl" rotWithShape="0" blurRad="177800" dist="38100" dir="5400000">
              <a:srgbClr val="000000">
                <a:alpha val="16000"/>
              </a:srgbClr>
            </a:outerShdw>
          </a:effectLst>
        </p:spPr>
      </p:sp>
      <p:sp>
        <p:nvSpPr>
          <p:cNvPr id="20" name="Shape 17"/>
          <p:cNvSpPr/>
          <p:nvPr/>
        </p:nvSpPr>
        <p:spPr>
          <a:xfrm>
            <a:off x="4800600" y="1874520"/>
            <a:ext cx="603504" cy="603504"/>
          </a:xfrm>
          <a:prstGeom prst="roundRect">
            <a:avLst>
              <a:gd name="adj" fmla="val 28000"/>
            </a:avLst>
          </a:prstGeom>
          <a:solidFill>
            <a:srgbClr val="7C2452"/>
          </a:solidFill>
          <a:ln w="12700">
            <a:solidFill>
              <a:srgbClr val="7C2452"/>
            </a:solidFill>
            <a:prstDash val="solid"/>
          </a:ln>
        </p:spPr>
      </p:sp>
      <p:pic>
        <p:nvPicPr>
          <p:cNvPr id="21" name="Image 1" descr="preencoded.png">    </p:cNvPr>
          <p:cNvPicPr>
            <a:picLocks noChangeAspect="1"/>
          </p:cNvPicPr>
          <p:nvPr/>
        </p:nvPicPr>
        <p:blipFill>
          <a:blip r:embed="rId2"/>
          <a:stretch>
            <a:fillRect/>
          </a:stretch>
        </p:blipFill>
        <p:spPr>
          <a:xfrm>
            <a:off x="4945441" y="2019361"/>
            <a:ext cx="313822" cy="313822"/>
          </a:xfrm>
          <a:prstGeom prst="rect">
            <a:avLst/>
          </a:prstGeom>
        </p:spPr>
      </p:pic>
      <p:sp>
        <p:nvSpPr>
          <p:cNvPr id="22" name="Text 18"/>
          <p:cNvSpPr txBox="1"/>
          <p:nvPr/>
        </p:nvSpPr>
        <p:spPr>
          <a:xfrm>
            <a:off x="5559552" y="1865376"/>
            <a:ext cx="1920240" cy="365760"/>
          </a:xfrm>
          <a:prstGeom prst="rect">
            <a:avLst/>
          </a:prstGeom>
          <a:noFill/>
          <a:ln/>
        </p:spPr>
        <p:txBody>
          <a:bodyPr wrap="square" lIns="0" tIns="0" rIns="0" bIns="0" rtlCol="0" anchor="t"/>
          <a:lstStyle/>
          <a:p>
            <a:pPr indent="0" marL="0">
              <a:buNone/>
            </a:pPr>
            <a:r>
              <a:rPr lang="en-US" sz="2100" b="1" dirty="0">
                <a:solidFill>
                  <a:srgbClr val="FFFFFF"/>
                </a:solidFill>
                <a:latin typeface="Calibri" pitchFamily="34" charset="0"/>
                <a:ea typeface="Calibri" pitchFamily="34" charset="-122"/>
                <a:cs typeface="Calibri" pitchFamily="34" charset="-120"/>
              </a:rPr>
              <a:t>FastAPI</a:t>
            </a:r>
            <a:endParaRPr lang="en-US" sz="2100" dirty="0"/>
          </a:p>
        </p:txBody>
      </p:sp>
      <p:sp>
        <p:nvSpPr>
          <p:cNvPr id="23" name="Text 19"/>
          <p:cNvSpPr txBox="1"/>
          <p:nvPr/>
        </p:nvSpPr>
        <p:spPr>
          <a:xfrm>
            <a:off x="5559552" y="2212848"/>
            <a:ext cx="1920240" cy="256032"/>
          </a:xfrm>
          <a:prstGeom prst="rect">
            <a:avLst/>
          </a:prstGeom>
          <a:noFill/>
          <a:ln/>
        </p:spPr>
        <p:txBody>
          <a:bodyPr wrap="square" lIns="0" tIns="0" rIns="0" bIns="0" rtlCol="0" anchor="t"/>
          <a:lstStyle/>
          <a:p>
            <a:pPr indent="0" marL="0">
              <a:buNone/>
            </a:pPr>
            <a:r>
              <a:rPr lang="en-US" sz="1250" dirty="0">
                <a:solidFill>
                  <a:srgbClr val="F6E7EE"/>
                </a:solidFill>
                <a:latin typeface="Calibri" pitchFamily="34" charset="0"/>
                <a:ea typeface="Calibri" pitchFamily="34" charset="-122"/>
                <a:cs typeface="Calibri" pitchFamily="34" charset="-120"/>
              </a:rPr>
              <a:t>API REST</a:t>
            </a:r>
            <a:endParaRPr lang="en-US" sz="1250" dirty="0"/>
          </a:p>
        </p:txBody>
      </p:sp>
      <p:sp>
        <p:nvSpPr>
          <p:cNvPr id="24" name="Shape 20"/>
          <p:cNvSpPr/>
          <p:nvPr/>
        </p:nvSpPr>
        <p:spPr>
          <a:xfrm>
            <a:off x="4800600" y="2743200"/>
            <a:ext cx="2560320" cy="420624"/>
          </a:xfrm>
          <a:prstGeom prst="roundRect">
            <a:avLst>
              <a:gd name="adj" fmla="val 21739"/>
            </a:avLst>
          </a:prstGeom>
          <a:solidFill>
            <a:srgbClr val="7C2452"/>
          </a:solidFill>
          <a:ln w="12700">
            <a:solidFill>
              <a:srgbClr val="7C2452"/>
            </a:solidFill>
            <a:prstDash val="solid"/>
          </a:ln>
        </p:spPr>
      </p:sp>
      <p:sp>
        <p:nvSpPr>
          <p:cNvPr id="25" name="Text 21"/>
          <p:cNvSpPr txBox="1"/>
          <p:nvPr/>
        </p:nvSpPr>
        <p:spPr>
          <a:xfrm>
            <a:off x="4956048" y="2743200"/>
            <a:ext cx="2286000" cy="420624"/>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Routeurs (endpoints)</a:t>
            </a:r>
            <a:endParaRPr lang="en-US" sz="1350" dirty="0"/>
          </a:p>
        </p:txBody>
      </p:sp>
      <p:sp>
        <p:nvSpPr>
          <p:cNvPr id="26" name="Shape 22"/>
          <p:cNvSpPr/>
          <p:nvPr/>
        </p:nvSpPr>
        <p:spPr>
          <a:xfrm>
            <a:off x="4800600" y="3291840"/>
            <a:ext cx="2560320" cy="420624"/>
          </a:xfrm>
          <a:prstGeom prst="roundRect">
            <a:avLst>
              <a:gd name="adj" fmla="val 21739"/>
            </a:avLst>
          </a:prstGeom>
          <a:solidFill>
            <a:srgbClr val="7C2452"/>
          </a:solidFill>
          <a:ln w="12700">
            <a:solidFill>
              <a:srgbClr val="7C2452"/>
            </a:solidFill>
            <a:prstDash val="solid"/>
          </a:ln>
        </p:spPr>
      </p:sp>
      <p:sp>
        <p:nvSpPr>
          <p:cNvPr id="27" name="Text 23"/>
          <p:cNvSpPr txBox="1"/>
          <p:nvPr/>
        </p:nvSpPr>
        <p:spPr>
          <a:xfrm>
            <a:off x="4956048" y="3291840"/>
            <a:ext cx="2286000" cy="420624"/>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Schémas Pydantic</a:t>
            </a:r>
            <a:endParaRPr lang="en-US" sz="1350" dirty="0"/>
          </a:p>
        </p:txBody>
      </p:sp>
      <p:sp>
        <p:nvSpPr>
          <p:cNvPr id="28" name="Shape 24"/>
          <p:cNvSpPr/>
          <p:nvPr/>
        </p:nvSpPr>
        <p:spPr>
          <a:xfrm>
            <a:off x="4800600" y="3840480"/>
            <a:ext cx="2560320" cy="420624"/>
          </a:xfrm>
          <a:prstGeom prst="roundRect">
            <a:avLst>
              <a:gd name="adj" fmla="val 21739"/>
            </a:avLst>
          </a:prstGeom>
          <a:solidFill>
            <a:srgbClr val="7C2452"/>
          </a:solidFill>
          <a:ln w="12700">
            <a:solidFill>
              <a:srgbClr val="7C2452"/>
            </a:solidFill>
            <a:prstDash val="solid"/>
          </a:ln>
        </p:spPr>
      </p:sp>
      <p:sp>
        <p:nvSpPr>
          <p:cNvPr id="29" name="Text 25"/>
          <p:cNvSpPr txBox="1"/>
          <p:nvPr/>
        </p:nvSpPr>
        <p:spPr>
          <a:xfrm>
            <a:off x="4956048" y="3840480"/>
            <a:ext cx="2286000" cy="420624"/>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Règles métier</a:t>
            </a:r>
            <a:endParaRPr lang="en-US" sz="1350" dirty="0"/>
          </a:p>
        </p:txBody>
      </p:sp>
      <p:sp>
        <p:nvSpPr>
          <p:cNvPr id="30" name="Shape 26"/>
          <p:cNvSpPr/>
          <p:nvPr/>
        </p:nvSpPr>
        <p:spPr>
          <a:xfrm>
            <a:off x="4800600" y="4389120"/>
            <a:ext cx="2560320" cy="420624"/>
          </a:xfrm>
          <a:prstGeom prst="roundRect">
            <a:avLst>
              <a:gd name="adj" fmla="val 21739"/>
            </a:avLst>
          </a:prstGeom>
          <a:solidFill>
            <a:srgbClr val="7C2452"/>
          </a:solidFill>
          <a:ln w="12700">
            <a:solidFill>
              <a:srgbClr val="7C2452"/>
            </a:solidFill>
            <a:prstDash val="solid"/>
          </a:ln>
        </p:spPr>
      </p:sp>
      <p:sp>
        <p:nvSpPr>
          <p:cNvPr id="31" name="Text 27"/>
          <p:cNvSpPr txBox="1"/>
          <p:nvPr/>
        </p:nvSpPr>
        <p:spPr>
          <a:xfrm>
            <a:off x="4956048" y="4389120"/>
            <a:ext cx="2286000" cy="420624"/>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Sécurité JWT</a:t>
            </a:r>
            <a:endParaRPr lang="en-US" sz="1350" dirty="0"/>
          </a:p>
        </p:txBody>
      </p:sp>
      <p:sp>
        <p:nvSpPr>
          <p:cNvPr id="32" name="Shape 28"/>
          <p:cNvSpPr/>
          <p:nvPr/>
        </p:nvSpPr>
        <p:spPr>
          <a:xfrm>
            <a:off x="8622792" y="1645920"/>
            <a:ext cx="3017520" cy="3429000"/>
          </a:xfrm>
          <a:prstGeom prst="roundRect">
            <a:avLst>
              <a:gd name="adj" fmla="val 4242"/>
            </a:avLst>
          </a:prstGeom>
          <a:solidFill>
            <a:srgbClr val="F6EDF1"/>
          </a:solidFill>
          <a:ln w="12700">
            <a:solidFill>
              <a:srgbClr val="F6EDF1"/>
            </a:solidFill>
            <a:prstDash val="solid"/>
          </a:ln>
        </p:spPr>
      </p:sp>
      <p:sp>
        <p:nvSpPr>
          <p:cNvPr id="33" name="Shape 29"/>
          <p:cNvSpPr/>
          <p:nvPr/>
        </p:nvSpPr>
        <p:spPr>
          <a:xfrm>
            <a:off x="8851392" y="1874520"/>
            <a:ext cx="603504" cy="603504"/>
          </a:xfrm>
          <a:prstGeom prst="roundRect">
            <a:avLst>
              <a:gd name="adj" fmla="val 28000"/>
            </a:avLst>
          </a:prstGeom>
          <a:solidFill>
            <a:srgbClr val="FFFFFF"/>
          </a:solidFill>
          <a:ln w="12700">
            <a:solidFill>
              <a:srgbClr val="FFFFFF"/>
            </a:solidFill>
            <a:prstDash val="solid"/>
          </a:ln>
        </p:spPr>
      </p:sp>
      <p:pic>
        <p:nvPicPr>
          <p:cNvPr id="34" name="Image 2" descr="preencoded.png">    </p:cNvPr>
          <p:cNvPicPr>
            <a:picLocks noChangeAspect="1"/>
          </p:cNvPicPr>
          <p:nvPr/>
        </p:nvPicPr>
        <p:blipFill>
          <a:blip r:embed="rId3"/>
          <a:stretch>
            <a:fillRect/>
          </a:stretch>
        </p:blipFill>
        <p:spPr>
          <a:xfrm>
            <a:off x="8996233" y="2019361"/>
            <a:ext cx="313822" cy="313822"/>
          </a:xfrm>
          <a:prstGeom prst="rect">
            <a:avLst/>
          </a:prstGeom>
        </p:spPr>
      </p:pic>
      <p:sp>
        <p:nvSpPr>
          <p:cNvPr id="35" name="Text 30"/>
          <p:cNvSpPr txBox="1"/>
          <p:nvPr/>
        </p:nvSpPr>
        <p:spPr>
          <a:xfrm>
            <a:off x="9610344" y="1865376"/>
            <a:ext cx="1920240" cy="365760"/>
          </a:xfrm>
          <a:prstGeom prst="rect">
            <a:avLst/>
          </a:prstGeom>
          <a:noFill/>
          <a:ln/>
        </p:spPr>
        <p:txBody>
          <a:bodyPr wrap="square" lIns="0" tIns="0" rIns="0" bIns="0" rtlCol="0" anchor="t"/>
          <a:lstStyle/>
          <a:p>
            <a:pPr indent="0" marL="0">
              <a:buNone/>
            </a:pPr>
            <a:r>
              <a:rPr lang="en-US" sz="2100" b="1" dirty="0">
                <a:solidFill>
                  <a:srgbClr val="241820"/>
                </a:solidFill>
                <a:latin typeface="Calibri" pitchFamily="34" charset="0"/>
                <a:ea typeface="Calibri" pitchFamily="34" charset="-122"/>
                <a:cs typeface="Calibri" pitchFamily="34" charset="-120"/>
              </a:rPr>
              <a:t>SQL Server</a:t>
            </a:r>
            <a:endParaRPr lang="en-US" sz="2100" dirty="0"/>
          </a:p>
        </p:txBody>
      </p:sp>
      <p:sp>
        <p:nvSpPr>
          <p:cNvPr id="36" name="Text 31"/>
          <p:cNvSpPr txBox="1"/>
          <p:nvPr/>
        </p:nvSpPr>
        <p:spPr>
          <a:xfrm>
            <a:off x="9610344" y="2212848"/>
            <a:ext cx="1920240" cy="256032"/>
          </a:xfrm>
          <a:prstGeom prst="rect">
            <a:avLst/>
          </a:prstGeom>
          <a:noFill/>
          <a:ln/>
        </p:spPr>
        <p:txBody>
          <a:bodyPr wrap="square" lIns="0" tIns="0" rIns="0" bIns="0" rtlCol="0" anchor="t"/>
          <a:lstStyle/>
          <a:p>
            <a:pPr indent="0" marL="0">
              <a:buNone/>
            </a:pPr>
            <a:r>
              <a:rPr lang="en-US" sz="1250" dirty="0">
                <a:solidFill>
                  <a:srgbClr val="6A5660"/>
                </a:solidFill>
                <a:latin typeface="Calibri" pitchFamily="34" charset="0"/>
                <a:ea typeface="Calibri" pitchFamily="34" charset="-122"/>
                <a:cs typeface="Calibri" pitchFamily="34" charset="-120"/>
              </a:rPr>
              <a:t>Base de données</a:t>
            </a:r>
            <a:endParaRPr lang="en-US" sz="1250" dirty="0"/>
          </a:p>
        </p:txBody>
      </p:sp>
      <p:sp>
        <p:nvSpPr>
          <p:cNvPr id="37" name="Shape 32"/>
          <p:cNvSpPr/>
          <p:nvPr/>
        </p:nvSpPr>
        <p:spPr>
          <a:xfrm>
            <a:off x="8851392" y="2743200"/>
            <a:ext cx="2560320" cy="420624"/>
          </a:xfrm>
          <a:prstGeom prst="roundRect">
            <a:avLst>
              <a:gd name="adj" fmla="val 21739"/>
            </a:avLst>
          </a:prstGeom>
          <a:solidFill>
            <a:srgbClr val="FFFFFF"/>
          </a:solidFill>
          <a:ln w="12700">
            <a:solidFill>
              <a:srgbClr val="FFFFFF"/>
            </a:solidFill>
            <a:prstDash val="solid"/>
          </a:ln>
        </p:spPr>
      </p:sp>
      <p:sp>
        <p:nvSpPr>
          <p:cNvPr id="38" name="Text 33"/>
          <p:cNvSpPr txBox="1"/>
          <p:nvPr/>
        </p:nvSpPr>
        <p:spPr>
          <a:xfrm>
            <a:off x="9006840" y="2743200"/>
            <a:ext cx="2286000" cy="420624"/>
          </a:xfrm>
          <a:prstGeom prst="rect">
            <a:avLst/>
          </a:prstGeom>
          <a:noFill/>
          <a:ln/>
        </p:spPr>
        <p:txBody>
          <a:bodyPr wrap="square" lIns="0" tIns="0" rIns="0" bIns="0" rtlCol="0" anchor="ctr"/>
          <a:lstStyle/>
          <a:p>
            <a:pPr indent="0" marL="0">
              <a:buNone/>
            </a:pPr>
            <a:r>
              <a:rPr lang="en-US" sz="1350" dirty="0">
                <a:solidFill>
                  <a:srgbClr val="241820"/>
                </a:solidFill>
                <a:latin typeface="Calibri" pitchFamily="34" charset="0"/>
                <a:ea typeface="Calibri" pitchFamily="34" charset="-122"/>
                <a:cs typeface="Calibri" pitchFamily="34" charset="-120"/>
              </a:rPr>
              <a:t>Modèles SQLAlchemy</a:t>
            </a:r>
            <a:endParaRPr lang="en-US" sz="1350" dirty="0"/>
          </a:p>
        </p:txBody>
      </p:sp>
      <p:sp>
        <p:nvSpPr>
          <p:cNvPr id="39" name="Shape 34"/>
          <p:cNvSpPr/>
          <p:nvPr/>
        </p:nvSpPr>
        <p:spPr>
          <a:xfrm>
            <a:off x="8851392" y="3291840"/>
            <a:ext cx="2560320" cy="420624"/>
          </a:xfrm>
          <a:prstGeom prst="roundRect">
            <a:avLst>
              <a:gd name="adj" fmla="val 21739"/>
            </a:avLst>
          </a:prstGeom>
          <a:solidFill>
            <a:srgbClr val="FFFFFF"/>
          </a:solidFill>
          <a:ln w="12700">
            <a:solidFill>
              <a:srgbClr val="FFFFFF"/>
            </a:solidFill>
            <a:prstDash val="solid"/>
          </a:ln>
        </p:spPr>
      </p:sp>
      <p:sp>
        <p:nvSpPr>
          <p:cNvPr id="40" name="Text 35"/>
          <p:cNvSpPr txBox="1"/>
          <p:nvPr/>
        </p:nvSpPr>
        <p:spPr>
          <a:xfrm>
            <a:off x="9006840" y="3291840"/>
            <a:ext cx="2286000" cy="420624"/>
          </a:xfrm>
          <a:prstGeom prst="rect">
            <a:avLst/>
          </a:prstGeom>
          <a:noFill/>
          <a:ln/>
        </p:spPr>
        <p:txBody>
          <a:bodyPr wrap="square" lIns="0" tIns="0" rIns="0" bIns="0" rtlCol="0" anchor="ctr"/>
          <a:lstStyle/>
          <a:p>
            <a:pPr indent="0" marL="0">
              <a:buNone/>
            </a:pPr>
            <a:r>
              <a:rPr lang="en-US" sz="1350" dirty="0">
                <a:solidFill>
                  <a:srgbClr val="241820"/>
                </a:solidFill>
                <a:latin typeface="Calibri" pitchFamily="34" charset="0"/>
                <a:ea typeface="Calibri" pitchFamily="34" charset="-122"/>
                <a:cs typeface="Calibri" pitchFamily="34" charset="-120"/>
              </a:rPr>
              <a:t>Relations entre tables</a:t>
            </a:r>
            <a:endParaRPr lang="en-US" sz="1350" dirty="0"/>
          </a:p>
        </p:txBody>
      </p:sp>
      <p:sp>
        <p:nvSpPr>
          <p:cNvPr id="41" name="Shape 36"/>
          <p:cNvSpPr/>
          <p:nvPr/>
        </p:nvSpPr>
        <p:spPr>
          <a:xfrm>
            <a:off x="8851392" y="3840480"/>
            <a:ext cx="2560320" cy="420624"/>
          </a:xfrm>
          <a:prstGeom prst="roundRect">
            <a:avLst>
              <a:gd name="adj" fmla="val 21739"/>
            </a:avLst>
          </a:prstGeom>
          <a:solidFill>
            <a:srgbClr val="FFFFFF"/>
          </a:solidFill>
          <a:ln w="12700">
            <a:solidFill>
              <a:srgbClr val="FFFFFF"/>
            </a:solidFill>
            <a:prstDash val="solid"/>
          </a:ln>
        </p:spPr>
      </p:sp>
      <p:sp>
        <p:nvSpPr>
          <p:cNvPr id="42" name="Text 37"/>
          <p:cNvSpPr txBox="1"/>
          <p:nvPr/>
        </p:nvSpPr>
        <p:spPr>
          <a:xfrm>
            <a:off x="9006840" y="3840480"/>
            <a:ext cx="2286000" cy="420624"/>
          </a:xfrm>
          <a:prstGeom prst="rect">
            <a:avLst/>
          </a:prstGeom>
          <a:noFill/>
          <a:ln/>
        </p:spPr>
        <p:txBody>
          <a:bodyPr wrap="square" lIns="0" tIns="0" rIns="0" bIns="0" rtlCol="0" anchor="ctr"/>
          <a:lstStyle/>
          <a:p>
            <a:pPr indent="0" marL="0">
              <a:buNone/>
            </a:pPr>
            <a:r>
              <a:rPr lang="en-US" sz="1350" dirty="0">
                <a:solidFill>
                  <a:srgbClr val="241820"/>
                </a:solidFill>
                <a:latin typeface="Calibri" pitchFamily="34" charset="0"/>
                <a:ea typeface="Calibri" pitchFamily="34" charset="-122"/>
                <a:cs typeface="Calibri" pitchFamily="34" charset="-120"/>
              </a:rPr>
              <a:t>Scripts de migration</a:t>
            </a:r>
            <a:endParaRPr lang="en-US" sz="1350" dirty="0"/>
          </a:p>
        </p:txBody>
      </p:sp>
      <p:sp>
        <p:nvSpPr>
          <p:cNvPr id="43" name="Shape 38"/>
          <p:cNvSpPr/>
          <p:nvPr/>
        </p:nvSpPr>
        <p:spPr>
          <a:xfrm>
            <a:off x="8851392" y="4389120"/>
            <a:ext cx="2560320" cy="420624"/>
          </a:xfrm>
          <a:prstGeom prst="roundRect">
            <a:avLst>
              <a:gd name="adj" fmla="val 21739"/>
            </a:avLst>
          </a:prstGeom>
          <a:solidFill>
            <a:srgbClr val="FFFFFF"/>
          </a:solidFill>
          <a:ln w="12700">
            <a:solidFill>
              <a:srgbClr val="FFFFFF"/>
            </a:solidFill>
            <a:prstDash val="solid"/>
          </a:ln>
        </p:spPr>
      </p:sp>
      <p:sp>
        <p:nvSpPr>
          <p:cNvPr id="44" name="Text 39"/>
          <p:cNvSpPr txBox="1"/>
          <p:nvPr/>
        </p:nvSpPr>
        <p:spPr>
          <a:xfrm>
            <a:off x="9006840" y="4389120"/>
            <a:ext cx="2286000" cy="420624"/>
          </a:xfrm>
          <a:prstGeom prst="rect">
            <a:avLst/>
          </a:prstGeom>
          <a:noFill/>
          <a:ln/>
        </p:spPr>
        <p:txBody>
          <a:bodyPr wrap="square" lIns="0" tIns="0" rIns="0" bIns="0" rtlCol="0" anchor="ctr"/>
          <a:lstStyle/>
          <a:p>
            <a:pPr indent="0" marL="0">
              <a:buNone/>
            </a:pPr>
            <a:r>
              <a:rPr lang="en-US" sz="1350" dirty="0">
                <a:solidFill>
                  <a:srgbClr val="241820"/>
                </a:solidFill>
                <a:latin typeface="Calibri" pitchFamily="34" charset="0"/>
                <a:ea typeface="Calibri" pitchFamily="34" charset="-122"/>
                <a:cs typeface="Calibri" pitchFamily="34" charset="-120"/>
              </a:rPr>
              <a:t>Données de démo (seed)</a:t>
            </a:r>
            <a:endParaRPr lang="en-US" sz="1350" dirty="0"/>
          </a:p>
        </p:txBody>
      </p:sp>
      <p:sp>
        <p:nvSpPr>
          <p:cNvPr id="45" name="Shape 40"/>
          <p:cNvSpPr/>
          <p:nvPr/>
        </p:nvSpPr>
        <p:spPr>
          <a:xfrm>
            <a:off x="3639312" y="3355848"/>
            <a:ext cx="859536" cy="0"/>
          </a:xfrm>
          <a:prstGeom prst="line">
            <a:avLst/>
          </a:prstGeom>
          <a:noFill/>
          <a:ln w="25400">
            <a:solidFill>
              <a:srgbClr val="9C2F68"/>
            </a:solidFill>
            <a:prstDash val="solid"/>
            <a:headEnd type="triangle"/>
            <a:tailEnd type="triangle"/>
          </a:ln>
        </p:spPr>
      </p:sp>
      <p:sp>
        <p:nvSpPr>
          <p:cNvPr id="46" name="Text 41"/>
          <p:cNvSpPr txBox="1"/>
          <p:nvPr/>
        </p:nvSpPr>
        <p:spPr>
          <a:xfrm>
            <a:off x="3474720" y="2907792"/>
            <a:ext cx="1188720" cy="274320"/>
          </a:xfrm>
          <a:prstGeom prst="rect">
            <a:avLst/>
          </a:prstGeom>
          <a:noFill/>
          <a:ln/>
        </p:spPr>
        <p:txBody>
          <a:bodyPr wrap="square" lIns="0" tIns="0" rIns="0" bIns="0" rtlCol="0" anchor="t"/>
          <a:lstStyle/>
          <a:p>
            <a:pPr algn="ctr" indent="0" marL="0">
              <a:buNone/>
            </a:pPr>
            <a:r>
              <a:rPr lang="en-US" sz="1200" b="1" dirty="0">
                <a:solidFill>
                  <a:srgbClr val="9C2F68"/>
                </a:solidFill>
                <a:latin typeface="Calibri" pitchFamily="34" charset="0"/>
                <a:ea typeface="Calibri" pitchFamily="34" charset="-122"/>
                <a:cs typeface="Calibri" pitchFamily="34" charset="-120"/>
              </a:rPr>
              <a:t>HTTP / JSON</a:t>
            </a:r>
            <a:endParaRPr lang="en-US" sz="1200" dirty="0"/>
          </a:p>
        </p:txBody>
      </p:sp>
      <p:sp>
        <p:nvSpPr>
          <p:cNvPr id="47" name="Text 42"/>
          <p:cNvSpPr txBox="1"/>
          <p:nvPr/>
        </p:nvSpPr>
        <p:spPr>
          <a:xfrm>
            <a:off x="3584448" y="3493008"/>
            <a:ext cx="969264" cy="457200"/>
          </a:xfrm>
          <a:prstGeom prst="rect">
            <a:avLst/>
          </a:prstGeom>
          <a:noFill/>
          <a:ln/>
        </p:spPr>
        <p:txBody>
          <a:bodyPr wrap="square" lIns="0" tIns="0" rIns="0" bIns="0" rtlCol="0" anchor="t"/>
          <a:lstStyle/>
          <a:p>
            <a:pPr algn="ctr" indent="0" marL="0">
              <a:buNone/>
            </a:pPr>
            <a:r>
              <a:rPr lang="en-US" sz="1200" dirty="0">
                <a:solidFill>
                  <a:srgbClr val="4A3A42"/>
                </a:solidFill>
                <a:latin typeface="Calibri" pitchFamily="34" charset="0"/>
                <a:ea typeface="Calibri" pitchFamily="34" charset="-122"/>
                <a:cs typeface="Calibri" pitchFamily="34" charset="-120"/>
              </a:rPr>
              <a:t>+ jeton JWT</a:t>
            </a:r>
            <a:endParaRPr lang="en-US" sz="1200" dirty="0"/>
          </a:p>
        </p:txBody>
      </p:sp>
      <p:sp>
        <p:nvSpPr>
          <p:cNvPr id="48" name="Shape 43"/>
          <p:cNvSpPr/>
          <p:nvPr/>
        </p:nvSpPr>
        <p:spPr>
          <a:xfrm>
            <a:off x="7662672" y="3355848"/>
            <a:ext cx="886968" cy="0"/>
          </a:xfrm>
          <a:prstGeom prst="line">
            <a:avLst/>
          </a:prstGeom>
          <a:noFill/>
          <a:ln w="25400">
            <a:solidFill>
              <a:srgbClr val="9C2F68"/>
            </a:solidFill>
            <a:prstDash val="solid"/>
            <a:headEnd type="triangle"/>
            <a:tailEnd type="triangle"/>
          </a:ln>
        </p:spPr>
      </p:sp>
      <p:sp>
        <p:nvSpPr>
          <p:cNvPr id="49" name="Text 44"/>
          <p:cNvSpPr txBox="1"/>
          <p:nvPr/>
        </p:nvSpPr>
        <p:spPr>
          <a:xfrm>
            <a:off x="7498080" y="2907792"/>
            <a:ext cx="1216152" cy="274320"/>
          </a:xfrm>
          <a:prstGeom prst="rect">
            <a:avLst/>
          </a:prstGeom>
          <a:noFill/>
          <a:ln/>
        </p:spPr>
        <p:txBody>
          <a:bodyPr wrap="square" lIns="0" tIns="0" rIns="0" bIns="0" rtlCol="0" anchor="t"/>
          <a:lstStyle/>
          <a:p>
            <a:pPr algn="ctr" indent="0" marL="0">
              <a:buNone/>
            </a:pPr>
            <a:r>
              <a:rPr lang="en-US" sz="1200" b="1" dirty="0">
                <a:solidFill>
                  <a:srgbClr val="9C2F68"/>
                </a:solidFill>
                <a:latin typeface="Calibri" pitchFamily="34" charset="0"/>
                <a:ea typeface="Calibri" pitchFamily="34" charset="-122"/>
                <a:cs typeface="Calibri" pitchFamily="34" charset="-120"/>
              </a:rPr>
              <a:t>ORM</a:t>
            </a:r>
            <a:endParaRPr lang="en-US" sz="1200" dirty="0"/>
          </a:p>
        </p:txBody>
      </p:sp>
      <p:sp>
        <p:nvSpPr>
          <p:cNvPr id="50" name="Text 45"/>
          <p:cNvSpPr txBox="1"/>
          <p:nvPr/>
        </p:nvSpPr>
        <p:spPr>
          <a:xfrm>
            <a:off x="7607808" y="3493008"/>
            <a:ext cx="996696" cy="457200"/>
          </a:xfrm>
          <a:prstGeom prst="rect">
            <a:avLst/>
          </a:prstGeom>
          <a:noFill/>
          <a:ln/>
        </p:spPr>
        <p:txBody>
          <a:bodyPr wrap="square" lIns="0" tIns="0" rIns="0" bIns="0" rtlCol="0" anchor="t"/>
          <a:lstStyle/>
          <a:p>
            <a:pPr algn="ctr" indent="0" marL="0">
              <a:buNone/>
            </a:pPr>
            <a:r>
              <a:rPr lang="en-US" sz="1200" dirty="0">
                <a:solidFill>
                  <a:srgbClr val="4A3A42"/>
                </a:solidFill>
                <a:latin typeface="Calibri" pitchFamily="34" charset="0"/>
                <a:ea typeface="Calibri" pitchFamily="34" charset="-122"/>
                <a:cs typeface="Calibri" pitchFamily="34" charset="-120"/>
              </a:rPr>
              <a:t>SQLAlchemy</a:t>
            </a:r>
            <a:endParaRPr lang="en-US" sz="1200" dirty="0"/>
          </a:p>
          <a:p>
            <a:pPr algn="ctr" indent="0" marL="0">
              <a:buNone/>
            </a:pPr>
            <a:r>
              <a:rPr lang="en-US" sz="1200" dirty="0">
                <a:solidFill>
                  <a:srgbClr val="4A3A42"/>
                </a:solidFill>
                <a:latin typeface="Calibri" pitchFamily="34" charset="0"/>
                <a:ea typeface="Calibri" pitchFamily="34" charset="-122"/>
                <a:cs typeface="Calibri" pitchFamily="34" charset="-120"/>
              </a:rPr>
              <a:t>+ pyodbc</a:t>
            </a:r>
            <a:endParaRPr lang="en-US" sz="1200" dirty="0"/>
          </a:p>
        </p:txBody>
      </p:sp>
      <p:sp>
        <p:nvSpPr>
          <p:cNvPr id="51" name="Text 46"/>
          <p:cNvSpPr txBox="1"/>
          <p:nvPr/>
        </p:nvSpPr>
        <p:spPr>
          <a:xfrm>
            <a:off x="548640" y="5349240"/>
            <a:ext cx="11064240" cy="777240"/>
          </a:xfrm>
          <a:prstGeom prst="rect">
            <a:avLst/>
          </a:prstGeom>
          <a:noFill/>
          <a:ln/>
        </p:spPr>
        <p:txBody>
          <a:bodyPr wrap="square" lIns="0" tIns="0" rIns="0" bIns="0" rtlCol="0" anchor="t"/>
          <a:lstStyle/>
          <a:p>
            <a:pPr indent="0" marL="0">
              <a:buNone/>
            </a:pPr>
            <a:r>
              <a:rPr lang="en-US" sz="1450" b="1" dirty="0">
                <a:solidFill>
                  <a:srgbClr val="241820"/>
                </a:solidFill>
                <a:latin typeface="Calibri" pitchFamily="34" charset="0"/>
                <a:ea typeface="Calibri" pitchFamily="34" charset="-122"/>
                <a:cs typeface="Calibri" pitchFamily="34" charset="-120"/>
              </a:rPr>
              <a:t>Séparation des responsabilités : </a:t>
            </a:r>
            <a:pPr indent="0" marL="0">
              <a:buNone/>
            </a:pPr>
            <a:r>
              <a:rPr lang="en-US" sz="1450" dirty="0">
                <a:solidFill>
                  <a:srgbClr val="6A5660"/>
                </a:solidFill>
                <a:latin typeface="Calibri" pitchFamily="34" charset="0"/>
                <a:ea typeface="Calibri" pitchFamily="34" charset="-122"/>
                <a:cs typeface="Calibri" pitchFamily="34" charset="-120"/>
              </a:rPr>
              <a:t>Angular gère l’interface ; FastAPI reçoit les requêtes et applique les règles métier (routeurs), après validation des données (schémas Pydantic) ; SQLAlchemy relie le code Python aux tables SQL Server.</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300" kern="0" dirty="0">
                <a:solidFill>
                  <a:srgbClr val="7A4A12"/>
                </a:solidFill>
                <a:latin typeface="Calibri" pitchFamily="34" charset="0"/>
                <a:ea typeface="Calibri" pitchFamily="34" charset="-122"/>
                <a:cs typeface="Calibri" pitchFamily="34" charset="-120"/>
              </a:rPr>
              <a:t>SÉCURITÉ</a:t>
            </a:r>
            <a:endParaRPr lang="en-US" sz="1200" dirty="0"/>
          </a:p>
        </p:txBody>
      </p:sp>
      <p:sp>
        <p:nvSpPr>
          <p:cNvPr id="3" name="Text 1"/>
          <p:cNvSpPr txBox="1"/>
          <p:nvPr/>
        </p:nvSpPr>
        <p:spPr>
          <a:xfrm>
            <a:off x="548640" y="694944"/>
            <a:ext cx="11064240" cy="685800"/>
          </a:xfrm>
          <a:prstGeom prst="rect">
            <a:avLst/>
          </a:prstGeom>
          <a:noFill/>
          <a:ln/>
        </p:spPr>
        <p:txBody>
          <a:bodyPr wrap="square" lIns="0" tIns="0" rIns="0" bIns="0" rtlCol="0" anchor="t"/>
          <a:lstStyle/>
          <a:p>
            <a:pPr indent="0" marL="0">
              <a:buNone/>
            </a:pPr>
            <a:r>
              <a:rPr lang="en-US" sz="3400" b="1" dirty="0">
                <a:solidFill>
                  <a:srgbClr val="241820"/>
                </a:solidFill>
                <a:latin typeface="Calibri" pitchFamily="34" charset="0"/>
                <a:ea typeface="Calibri" pitchFamily="34" charset="-122"/>
                <a:cs typeface="Calibri" pitchFamily="34" charset="-120"/>
              </a:rPr>
              <a:t>Authentification et protection des accès</a:t>
            </a:r>
            <a:endParaRPr lang="en-US" sz="3400" dirty="0"/>
          </a:p>
        </p:txBody>
      </p:sp>
      <p:sp>
        <p:nvSpPr>
          <p:cNvPr id="4" name="Text 2"/>
          <p:cNvSpPr txBox="1"/>
          <p:nvPr/>
        </p:nvSpPr>
        <p:spPr>
          <a:xfrm>
            <a:off x="548640" y="6419088"/>
            <a:ext cx="2743200" cy="256032"/>
          </a:xfrm>
          <a:prstGeom prst="rect">
            <a:avLst/>
          </a:prstGeom>
          <a:noFill/>
          <a:ln/>
        </p:spPr>
        <p:txBody>
          <a:bodyPr wrap="square" lIns="0" tIns="0" rIns="0" bIns="0" rtlCol="0" anchor="t"/>
          <a:lstStyle/>
          <a:p>
            <a:pPr indent="0" marL="0">
              <a:buNone/>
            </a:pPr>
            <a:r>
              <a:rPr lang="en-US" sz="1000" dirty="0">
                <a:solidFill>
                  <a:srgbClr val="A08C96"/>
                </a:solidFill>
                <a:latin typeface="Calibri" pitchFamily="34" charset="0"/>
                <a:ea typeface="Calibri" pitchFamily="34" charset="-122"/>
                <a:cs typeface="Calibri" pitchFamily="34" charset="-120"/>
              </a:rPr>
              <a:t>SportPlan</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t"/>
          <a:lstStyle/>
          <a:p>
            <a:pPr algn="r" indent="0" marL="0">
              <a:buNone/>
            </a:pPr>
            <a:r>
              <a:rPr lang="en-US" sz="1000" dirty="0">
                <a:solidFill>
                  <a:srgbClr val="A08C96"/>
                </a:solidFill>
                <a:latin typeface="Calibri" pitchFamily="34" charset="0"/>
                <a:ea typeface="Calibri" pitchFamily="34" charset="-122"/>
                <a:cs typeface="Calibri" pitchFamily="34" charset="-120"/>
              </a:rPr>
              <a:t>9</a:t>
            </a:r>
            <a:endParaRPr lang="en-US" sz="1000" dirty="0"/>
          </a:p>
        </p:txBody>
      </p:sp>
      <p:sp>
        <p:nvSpPr>
          <p:cNvPr id="6" name="Shape 4"/>
          <p:cNvSpPr/>
          <p:nvPr/>
        </p:nvSpPr>
        <p:spPr>
          <a:xfrm>
            <a:off x="548640" y="1600200"/>
            <a:ext cx="2487168" cy="1874520"/>
          </a:xfrm>
          <a:prstGeom prst="roundRect">
            <a:avLst>
              <a:gd name="adj" fmla="val 6829"/>
            </a:avLst>
          </a:prstGeom>
          <a:solidFill>
            <a:srgbClr val="F6EDF1"/>
          </a:solidFill>
          <a:ln w="12700">
            <a:solidFill>
              <a:srgbClr val="F6EDF1"/>
            </a:solidFill>
            <a:prstDash val="solid"/>
          </a:ln>
        </p:spPr>
      </p:sp>
      <p:sp>
        <p:nvSpPr>
          <p:cNvPr id="7" name="Shape 5"/>
          <p:cNvSpPr/>
          <p:nvPr/>
        </p:nvSpPr>
        <p:spPr>
          <a:xfrm>
            <a:off x="777240" y="1810512"/>
            <a:ext cx="548640" cy="548640"/>
          </a:xfrm>
          <a:prstGeom prst="roundRect">
            <a:avLst>
              <a:gd name="adj" fmla="val 28000"/>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908914" y="1942186"/>
            <a:ext cx="285293" cy="285293"/>
          </a:xfrm>
          <a:prstGeom prst="rect">
            <a:avLst/>
          </a:prstGeom>
        </p:spPr>
      </p:pic>
      <p:sp>
        <p:nvSpPr>
          <p:cNvPr id="9" name="Text 6"/>
          <p:cNvSpPr txBox="1"/>
          <p:nvPr/>
        </p:nvSpPr>
        <p:spPr>
          <a:xfrm>
            <a:off x="777240" y="2487168"/>
            <a:ext cx="2075688" cy="347472"/>
          </a:xfrm>
          <a:prstGeom prst="rect">
            <a:avLst/>
          </a:prstGeom>
          <a:noFill/>
          <a:ln/>
        </p:spPr>
        <p:txBody>
          <a:bodyPr wrap="square" lIns="0" tIns="0" rIns="0" bIns="0" rtlCol="0" anchor="t"/>
          <a:lstStyle/>
          <a:p>
            <a:pPr indent="0" marL="0">
              <a:buNone/>
            </a:pPr>
            <a:r>
              <a:rPr lang="en-US" sz="1700" b="1" dirty="0">
                <a:solidFill>
                  <a:srgbClr val="241820"/>
                </a:solidFill>
                <a:latin typeface="Calibri" pitchFamily="34" charset="0"/>
                <a:ea typeface="Calibri" pitchFamily="34" charset="-122"/>
                <a:cs typeface="Calibri" pitchFamily="34" charset="-120"/>
              </a:rPr>
              <a:t>Connexion</a:t>
            </a:r>
            <a:endParaRPr lang="en-US" sz="1700" dirty="0"/>
          </a:p>
        </p:txBody>
      </p:sp>
      <p:sp>
        <p:nvSpPr>
          <p:cNvPr id="10" name="Text 7"/>
          <p:cNvSpPr txBox="1"/>
          <p:nvPr/>
        </p:nvSpPr>
        <p:spPr>
          <a:xfrm>
            <a:off x="777240" y="2834640"/>
            <a:ext cx="2075688" cy="566928"/>
          </a:xfrm>
          <a:prstGeom prst="rect">
            <a:avLst/>
          </a:prstGeom>
          <a:noFill/>
          <a:ln/>
        </p:spPr>
        <p:txBody>
          <a:bodyPr wrap="square" lIns="0" tIns="0" rIns="0" bIns="0" rtlCol="0" anchor="t"/>
          <a:lstStyle/>
          <a:p>
            <a:pPr indent="0" marL="0">
              <a:buNone/>
            </a:pPr>
            <a:r>
              <a:rPr lang="en-US" sz="1250" dirty="0">
                <a:solidFill>
                  <a:srgbClr val="6A5660"/>
                </a:solidFill>
                <a:latin typeface="Calibri" pitchFamily="34" charset="0"/>
                <a:ea typeface="Calibri" pitchFamily="34" charset="-122"/>
                <a:cs typeface="Calibri" pitchFamily="34" charset="-120"/>
              </a:rPr>
              <a:t>Email + mot de passe</a:t>
            </a:r>
            <a:endParaRPr lang="en-US" sz="1250" dirty="0"/>
          </a:p>
        </p:txBody>
      </p:sp>
      <p:pic>
        <p:nvPicPr>
          <p:cNvPr id="11" name="Image 1" descr="preencoded.png">    </p:cNvPr>
          <p:cNvPicPr>
            <a:picLocks noChangeAspect="1"/>
          </p:cNvPicPr>
          <p:nvPr/>
        </p:nvPicPr>
        <p:blipFill>
          <a:blip r:embed="rId2"/>
          <a:stretch>
            <a:fillRect/>
          </a:stretch>
        </p:blipFill>
        <p:spPr>
          <a:xfrm>
            <a:off x="3090672" y="2377440"/>
            <a:ext cx="274320" cy="274320"/>
          </a:xfrm>
          <a:prstGeom prst="rect">
            <a:avLst/>
          </a:prstGeom>
        </p:spPr>
      </p:pic>
      <p:sp>
        <p:nvSpPr>
          <p:cNvPr id="12" name="Shape 8"/>
          <p:cNvSpPr/>
          <p:nvPr/>
        </p:nvSpPr>
        <p:spPr>
          <a:xfrm>
            <a:off x="3419856" y="1600200"/>
            <a:ext cx="2487168" cy="1874520"/>
          </a:xfrm>
          <a:prstGeom prst="roundRect">
            <a:avLst>
              <a:gd name="adj" fmla="val 6829"/>
            </a:avLst>
          </a:prstGeom>
          <a:solidFill>
            <a:srgbClr val="F6EDF1"/>
          </a:solidFill>
          <a:ln w="12700">
            <a:solidFill>
              <a:srgbClr val="F6EDF1"/>
            </a:solidFill>
            <a:prstDash val="solid"/>
          </a:ln>
        </p:spPr>
      </p:sp>
      <p:sp>
        <p:nvSpPr>
          <p:cNvPr id="13" name="Shape 9"/>
          <p:cNvSpPr/>
          <p:nvPr/>
        </p:nvSpPr>
        <p:spPr>
          <a:xfrm>
            <a:off x="3648456" y="1810512"/>
            <a:ext cx="548640" cy="548640"/>
          </a:xfrm>
          <a:prstGeom prst="roundRect">
            <a:avLst>
              <a:gd name="adj" fmla="val 28000"/>
            </a:avLst>
          </a:prstGeom>
          <a:solidFill>
            <a:srgbClr val="FFFFFF"/>
          </a:solidFill>
          <a:ln w="12700">
            <a:solidFill>
              <a:srgbClr val="FFFFFF"/>
            </a:solidFill>
            <a:prstDash val="solid"/>
          </a:ln>
        </p:spPr>
      </p:sp>
      <p:pic>
        <p:nvPicPr>
          <p:cNvPr id="14" name="Image 2" descr="preencoded.png">    </p:cNvPr>
          <p:cNvPicPr>
            <a:picLocks noChangeAspect="1"/>
          </p:cNvPicPr>
          <p:nvPr/>
        </p:nvPicPr>
        <p:blipFill>
          <a:blip r:embed="rId3"/>
          <a:stretch>
            <a:fillRect/>
          </a:stretch>
        </p:blipFill>
        <p:spPr>
          <a:xfrm>
            <a:off x="3780130" y="1942186"/>
            <a:ext cx="285293" cy="285293"/>
          </a:xfrm>
          <a:prstGeom prst="rect">
            <a:avLst/>
          </a:prstGeom>
        </p:spPr>
      </p:pic>
      <p:sp>
        <p:nvSpPr>
          <p:cNvPr id="15" name="Text 10"/>
          <p:cNvSpPr txBox="1"/>
          <p:nvPr/>
        </p:nvSpPr>
        <p:spPr>
          <a:xfrm>
            <a:off x="3648456" y="2487168"/>
            <a:ext cx="2075688" cy="347472"/>
          </a:xfrm>
          <a:prstGeom prst="rect">
            <a:avLst/>
          </a:prstGeom>
          <a:noFill/>
          <a:ln/>
        </p:spPr>
        <p:txBody>
          <a:bodyPr wrap="square" lIns="0" tIns="0" rIns="0" bIns="0" rtlCol="0" anchor="t"/>
          <a:lstStyle/>
          <a:p>
            <a:pPr indent="0" marL="0">
              <a:buNone/>
            </a:pPr>
            <a:r>
              <a:rPr lang="en-US" sz="1700" b="1" dirty="0">
                <a:solidFill>
                  <a:srgbClr val="241820"/>
                </a:solidFill>
                <a:latin typeface="Calibri" pitchFamily="34" charset="0"/>
                <a:ea typeface="Calibri" pitchFamily="34" charset="-122"/>
                <a:cs typeface="Calibri" pitchFamily="34" charset="-120"/>
              </a:rPr>
              <a:t>Argon2</a:t>
            </a:r>
            <a:endParaRPr lang="en-US" sz="1700" dirty="0"/>
          </a:p>
        </p:txBody>
      </p:sp>
      <p:sp>
        <p:nvSpPr>
          <p:cNvPr id="16" name="Text 11"/>
          <p:cNvSpPr txBox="1"/>
          <p:nvPr/>
        </p:nvSpPr>
        <p:spPr>
          <a:xfrm>
            <a:off x="3648456" y="2834640"/>
            <a:ext cx="2075688" cy="566928"/>
          </a:xfrm>
          <a:prstGeom prst="rect">
            <a:avLst/>
          </a:prstGeom>
          <a:noFill/>
          <a:ln/>
        </p:spPr>
        <p:txBody>
          <a:bodyPr wrap="square" lIns="0" tIns="0" rIns="0" bIns="0" rtlCol="0" anchor="t"/>
          <a:lstStyle/>
          <a:p>
            <a:pPr indent="0" marL="0">
              <a:buNone/>
            </a:pPr>
            <a:r>
              <a:rPr lang="en-US" sz="1250" dirty="0">
                <a:solidFill>
                  <a:srgbClr val="6A5660"/>
                </a:solidFill>
                <a:latin typeface="Calibri" pitchFamily="34" charset="0"/>
                <a:ea typeface="Calibri" pitchFamily="34" charset="-122"/>
                <a:cs typeface="Calibri" pitchFamily="34" charset="-120"/>
              </a:rPr>
              <a:t>Mot de passe haché, jamais stocké en clair</a:t>
            </a:r>
            <a:endParaRPr lang="en-US" sz="1250" dirty="0"/>
          </a:p>
        </p:txBody>
      </p:sp>
      <p:pic>
        <p:nvPicPr>
          <p:cNvPr id="17" name="Image 3" descr="preencoded.png">    </p:cNvPr>
          <p:cNvPicPr>
            <a:picLocks noChangeAspect="1"/>
          </p:cNvPicPr>
          <p:nvPr/>
        </p:nvPicPr>
        <p:blipFill>
          <a:blip r:embed="rId4"/>
          <a:stretch>
            <a:fillRect/>
          </a:stretch>
        </p:blipFill>
        <p:spPr>
          <a:xfrm>
            <a:off x="5961888" y="2377440"/>
            <a:ext cx="274320" cy="274320"/>
          </a:xfrm>
          <a:prstGeom prst="rect">
            <a:avLst/>
          </a:prstGeom>
        </p:spPr>
      </p:pic>
      <p:sp>
        <p:nvSpPr>
          <p:cNvPr id="18" name="Shape 12"/>
          <p:cNvSpPr/>
          <p:nvPr/>
        </p:nvSpPr>
        <p:spPr>
          <a:xfrm>
            <a:off x="6291072" y="1600200"/>
            <a:ext cx="2487168" cy="1874520"/>
          </a:xfrm>
          <a:prstGeom prst="roundRect">
            <a:avLst>
              <a:gd name="adj" fmla="val 6829"/>
            </a:avLst>
          </a:prstGeom>
          <a:solidFill>
            <a:srgbClr val="F6EDF1"/>
          </a:solidFill>
          <a:ln w="12700">
            <a:solidFill>
              <a:srgbClr val="F6EDF1"/>
            </a:solidFill>
            <a:prstDash val="solid"/>
          </a:ln>
        </p:spPr>
      </p:sp>
      <p:sp>
        <p:nvSpPr>
          <p:cNvPr id="19" name="Shape 13"/>
          <p:cNvSpPr/>
          <p:nvPr/>
        </p:nvSpPr>
        <p:spPr>
          <a:xfrm>
            <a:off x="6519672" y="1810512"/>
            <a:ext cx="548640" cy="548640"/>
          </a:xfrm>
          <a:prstGeom prst="roundRect">
            <a:avLst>
              <a:gd name="adj" fmla="val 28000"/>
            </a:avLst>
          </a:prstGeom>
          <a:solidFill>
            <a:srgbClr val="FFFFFF"/>
          </a:solidFill>
          <a:ln w="12700">
            <a:solidFill>
              <a:srgbClr val="FFFFFF"/>
            </a:solidFill>
            <a:prstDash val="solid"/>
          </a:ln>
        </p:spPr>
      </p:sp>
      <p:pic>
        <p:nvPicPr>
          <p:cNvPr id="20" name="Image 4" descr="preencoded.png">    </p:cNvPr>
          <p:cNvPicPr>
            <a:picLocks noChangeAspect="1"/>
          </p:cNvPicPr>
          <p:nvPr/>
        </p:nvPicPr>
        <p:blipFill>
          <a:blip r:embed="rId5"/>
          <a:stretch>
            <a:fillRect/>
          </a:stretch>
        </p:blipFill>
        <p:spPr>
          <a:xfrm>
            <a:off x="6651346" y="1942186"/>
            <a:ext cx="285293" cy="285293"/>
          </a:xfrm>
          <a:prstGeom prst="rect">
            <a:avLst/>
          </a:prstGeom>
        </p:spPr>
      </p:pic>
      <p:sp>
        <p:nvSpPr>
          <p:cNvPr id="21" name="Text 14"/>
          <p:cNvSpPr txBox="1"/>
          <p:nvPr/>
        </p:nvSpPr>
        <p:spPr>
          <a:xfrm>
            <a:off x="6519672" y="2487168"/>
            <a:ext cx="2075688" cy="347472"/>
          </a:xfrm>
          <a:prstGeom prst="rect">
            <a:avLst/>
          </a:prstGeom>
          <a:noFill/>
          <a:ln/>
        </p:spPr>
        <p:txBody>
          <a:bodyPr wrap="square" lIns="0" tIns="0" rIns="0" bIns="0" rtlCol="0" anchor="t"/>
          <a:lstStyle/>
          <a:p>
            <a:pPr indent="0" marL="0">
              <a:buNone/>
            </a:pPr>
            <a:r>
              <a:rPr lang="en-US" sz="1700" b="1" dirty="0">
                <a:solidFill>
                  <a:srgbClr val="241820"/>
                </a:solidFill>
                <a:latin typeface="Calibri" pitchFamily="34" charset="0"/>
                <a:ea typeface="Calibri" pitchFamily="34" charset="-122"/>
                <a:cs typeface="Calibri" pitchFamily="34" charset="-120"/>
              </a:rPr>
              <a:t>Jetons JWT</a:t>
            </a:r>
            <a:endParaRPr lang="en-US" sz="1700" dirty="0"/>
          </a:p>
        </p:txBody>
      </p:sp>
      <p:sp>
        <p:nvSpPr>
          <p:cNvPr id="22" name="Text 15"/>
          <p:cNvSpPr txBox="1"/>
          <p:nvPr/>
        </p:nvSpPr>
        <p:spPr>
          <a:xfrm>
            <a:off x="6519672" y="2834640"/>
            <a:ext cx="2075688" cy="566928"/>
          </a:xfrm>
          <a:prstGeom prst="rect">
            <a:avLst/>
          </a:prstGeom>
          <a:noFill/>
          <a:ln/>
        </p:spPr>
        <p:txBody>
          <a:bodyPr wrap="square" lIns="0" tIns="0" rIns="0" bIns="0" rtlCol="0" anchor="t"/>
          <a:lstStyle/>
          <a:p>
            <a:pPr indent="0" marL="0">
              <a:buNone/>
            </a:pPr>
            <a:r>
              <a:rPr lang="en-US" sz="1250" dirty="0">
                <a:solidFill>
                  <a:srgbClr val="6A5660"/>
                </a:solidFill>
                <a:latin typeface="Calibri" pitchFamily="34" charset="0"/>
                <a:ea typeface="Calibri" pitchFamily="34" charset="-122"/>
                <a:cs typeface="Calibri" pitchFamily="34" charset="-120"/>
              </a:rPr>
              <a:t>Accès 30 min, renouvelé automatiquement (refresh 7 j)</a:t>
            </a:r>
            <a:endParaRPr lang="en-US" sz="1250" dirty="0"/>
          </a:p>
        </p:txBody>
      </p:sp>
      <p:pic>
        <p:nvPicPr>
          <p:cNvPr id="23" name="Image 5" descr="preencoded.png">    </p:cNvPr>
          <p:cNvPicPr>
            <a:picLocks noChangeAspect="1"/>
          </p:cNvPicPr>
          <p:nvPr/>
        </p:nvPicPr>
        <p:blipFill>
          <a:blip r:embed="rId6"/>
          <a:stretch>
            <a:fillRect/>
          </a:stretch>
        </p:blipFill>
        <p:spPr>
          <a:xfrm>
            <a:off x="8833104" y="2377440"/>
            <a:ext cx="274320" cy="274320"/>
          </a:xfrm>
          <a:prstGeom prst="rect">
            <a:avLst/>
          </a:prstGeom>
        </p:spPr>
      </p:pic>
      <p:sp>
        <p:nvSpPr>
          <p:cNvPr id="24" name="Shape 16"/>
          <p:cNvSpPr/>
          <p:nvPr/>
        </p:nvSpPr>
        <p:spPr>
          <a:xfrm>
            <a:off x="9162288" y="1600200"/>
            <a:ext cx="2487168" cy="1874520"/>
          </a:xfrm>
          <a:prstGeom prst="roundRect">
            <a:avLst>
              <a:gd name="adj" fmla="val 6829"/>
            </a:avLst>
          </a:prstGeom>
          <a:solidFill>
            <a:srgbClr val="9C2F68"/>
          </a:solidFill>
          <a:ln w="12700">
            <a:solidFill>
              <a:srgbClr val="9C2F68"/>
            </a:solidFill>
            <a:prstDash val="solid"/>
          </a:ln>
        </p:spPr>
      </p:sp>
      <p:sp>
        <p:nvSpPr>
          <p:cNvPr id="25" name="Shape 17"/>
          <p:cNvSpPr/>
          <p:nvPr/>
        </p:nvSpPr>
        <p:spPr>
          <a:xfrm>
            <a:off x="9390888" y="1810512"/>
            <a:ext cx="548640" cy="548640"/>
          </a:xfrm>
          <a:prstGeom prst="roundRect">
            <a:avLst>
              <a:gd name="adj" fmla="val 28000"/>
            </a:avLst>
          </a:prstGeom>
          <a:solidFill>
            <a:srgbClr val="7C2452"/>
          </a:solidFill>
          <a:ln w="12700">
            <a:solidFill>
              <a:srgbClr val="7C2452"/>
            </a:solidFill>
            <a:prstDash val="solid"/>
          </a:ln>
        </p:spPr>
      </p:sp>
      <p:pic>
        <p:nvPicPr>
          <p:cNvPr id="26" name="Image 6" descr="preencoded.png">    </p:cNvPr>
          <p:cNvPicPr>
            <a:picLocks noChangeAspect="1"/>
          </p:cNvPicPr>
          <p:nvPr/>
        </p:nvPicPr>
        <p:blipFill>
          <a:blip r:embed="rId7"/>
          <a:stretch>
            <a:fillRect/>
          </a:stretch>
        </p:blipFill>
        <p:spPr>
          <a:xfrm>
            <a:off x="9522562" y="1942186"/>
            <a:ext cx="285293" cy="285293"/>
          </a:xfrm>
          <a:prstGeom prst="rect">
            <a:avLst/>
          </a:prstGeom>
        </p:spPr>
      </p:pic>
      <p:sp>
        <p:nvSpPr>
          <p:cNvPr id="27" name="Text 18"/>
          <p:cNvSpPr txBox="1"/>
          <p:nvPr/>
        </p:nvSpPr>
        <p:spPr>
          <a:xfrm>
            <a:off x="9390888" y="2487168"/>
            <a:ext cx="2075688" cy="347472"/>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Accès contrôlé</a:t>
            </a:r>
            <a:endParaRPr lang="en-US" sz="1700" dirty="0"/>
          </a:p>
        </p:txBody>
      </p:sp>
      <p:sp>
        <p:nvSpPr>
          <p:cNvPr id="28" name="Text 19"/>
          <p:cNvSpPr txBox="1"/>
          <p:nvPr/>
        </p:nvSpPr>
        <p:spPr>
          <a:xfrm>
            <a:off x="9390888" y="2834640"/>
            <a:ext cx="2075688" cy="566928"/>
          </a:xfrm>
          <a:prstGeom prst="rect">
            <a:avLst/>
          </a:prstGeom>
          <a:noFill/>
          <a:ln/>
        </p:spPr>
        <p:txBody>
          <a:bodyPr wrap="square" lIns="0" tIns="0" rIns="0" bIns="0" rtlCol="0" anchor="t"/>
          <a:lstStyle/>
          <a:p>
            <a:pPr indent="0" marL="0">
              <a:buNone/>
            </a:pPr>
            <a:r>
              <a:rPr lang="en-US" sz="1250" dirty="0">
                <a:solidFill>
                  <a:srgbClr val="F6E7EE"/>
                </a:solidFill>
                <a:latin typeface="Calibri" pitchFamily="34" charset="0"/>
                <a:ea typeface="Calibri" pitchFamily="34" charset="-122"/>
                <a:cs typeface="Calibri" pitchFamily="34" charset="-120"/>
              </a:rPr>
              <a:t>Rôle revérifié par l’API (require_roles)</a:t>
            </a:r>
            <a:endParaRPr lang="en-US" sz="1250" dirty="0"/>
          </a:p>
        </p:txBody>
      </p:sp>
      <p:sp>
        <p:nvSpPr>
          <p:cNvPr id="29" name="Shape 20"/>
          <p:cNvSpPr/>
          <p:nvPr/>
        </p:nvSpPr>
        <p:spPr>
          <a:xfrm>
            <a:off x="548640" y="3794760"/>
            <a:ext cx="2020824" cy="2295144"/>
          </a:xfrm>
          <a:prstGeom prst="roundRect">
            <a:avLst>
              <a:gd name="adj" fmla="val 3620"/>
            </a:avLst>
          </a:prstGeom>
          <a:solidFill>
            <a:srgbClr val="FFFFFF"/>
          </a:solidFill>
          <a:ln w="9525">
            <a:solidFill>
              <a:srgbClr val="E6D8DE"/>
            </a:solidFill>
            <a:prstDash val="solid"/>
          </a:ln>
          <a:effectLst>
            <a:outerShdw sx="100000" sy="100000" kx="0" ky="0" algn="bl" rotWithShape="0" blurRad="177800" dist="38100" dir="5400000">
              <a:srgbClr val="000000">
                <a:alpha val="16000"/>
              </a:srgbClr>
            </a:outerShdw>
          </a:effectLst>
        </p:spPr>
      </p:sp>
      <p:pic>
        <p:nvPicPr>
          <p:cNvPr id="30" name="Image 7" descr="img/login-card.png">    </p:cNvPr>
          <p:cNvPicPr>
            <a:picLocks noChangeAspect="1"/>
          </p:cNvPicPr>
          <p:nvPr/>
        </p:nvPicPr>
        <p:blipFill>
          <a:blip r:embed="rId8"/>
          <a:stretch>
            <a:fillRect/>
          </a:stretch>
        </p:blipFill>
        <p:spPr>
          <a:xfrm>
            <a:off x="548640" y="3794760"/>
            <a:ext cx="2020824" cy="2295144"/>
          </a:xfrm>
          <a:prstGeom prst="rect">
            <a:avLst/>
          </a:prstGeom>
        </p:spPr>
      </p:pic>
      <p:sp>
        <p:nvSpPr>
          <p:cNvPr id="31" name="Shape 21"/>
          <p:cNvSpPr/>
          <p:nvPr/>
        </p:nvSpPr>
        <p:spPr>
          <a:xfrm>
            <a:off x="2889504" y="3794760"/>
            <a:ext cx="8750808" cy="2295144"/>
          </a:xfrm>
          <a:prstGeom prst="roundRect">
            <a:avLst>
              <a:gd name="adj" fmla="val 4781"/>
            </a:avLst>
          </a:prstGeom>
          <a:solidFill>
            <a:srgbClr val="22171E"/>
          </a:solidFill>
          <a:ln w="12700">
            <a:solidFill>
              <a:srgbClr val="22171E"/>
            </a:solidFill>
            <a:prstDash val="solid"/>
          </a:ln>
        </p:spPr>
      </p:sp>
      <p:sp>
        <p:nvSpPr>
          <p:cNvPr id="32" name="Text 22"/>
          <p:cNvSpPr txBox="1"/>
          <p:nvPr/>
        </p:nvSpPr>
        <p:spPr>
          <a:xfrm>
            <a:off x="3118104" y="3941064"/>
            <a:ext cx="8293608" cy="237744"/>
          </a:xfrm>
          <a:prstGeom prst="rect">
            <a:avLst/>
          </a:prstGeom>
          <a:noFill/>
          <a:ln/>
        </p:spPr>
        <p:txBody>
          <a:bodyPr wrap="square" lIns="0" tIns="0" rIns="0" bIns="0" rtlCol="0" anchor="t"/>
          <a:lstStyle/>
          <a:p>
            <a:pPr indent="0" marL="0">
              <a:buNone/>
            </a:pPr>
            <a:r>
              <a:rPr lang="en-US" sz="1050" dirty="0">
                <a:solidFill>
                  <a:srgbClr val="E3A857"/>
                </a:solidFill>
                <a:latin typeface="Consolas" pitchFamily="34" charset="0"/>
                <a:ea typeface="Consolas" pitchFamily="34" charset="-122"/>
                <a:cs typeface="Consolas" pitchFamily="34" charset="-120"/>
              </a:rPr>
              <a:t>backend/app/security.py</a:t>
            </a:r>
            <a:endParaRPr lang="en-US" sz="1050" dirty="0"/>
          </a:p>
        </p:txBody>
      </p:sp>
      <p:sp>
        <p:nvSpPr>
          <p:cNvPr id="33" name="Text 23"/>
          <p:cNvSpPr txBox="1"/>
          <p:nvPr/>
        </p:nvSpPr>
        <p:spPr>
          <a:xfrm>
            <a:off x="3118104" y="4270248"/>
            <a:ext cx="8293608" cy="1673352"/>
          </a:xfrm>
          <a:prstGeom prst="rect">
            <a:avLst/>
          </a:prstGeom>
          <a:noFill/>
          <a:ln/>
        </p:spPr>
        <p:txBody>
          <a:bodyPr wrap="square" lIns="0" tIns="0" rIns="0" bIns="0" rtlCol="0" anchor="t"/>
          <a:lstStyle/>
          <a:p>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ALGORITHM</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FD8B0"/>
                </a:solidFill>
                <a:latin typeface="Consolas" pitchFamily="34" charset="0"/>
                <a:ea typeface="Consolas" pitchFamily="34" charset="-122"/>
                <a:cs typeface="Consolas" pitchFamily="34" charset="-120"/>
              </a:rPr>
              <a:t>"HS256"</a:t>
            </a:r>
            <a:endParaRPr lang="en-US" sz="1050" dirty="0"/>
          </a:p>
          <a:p>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password_hasher</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PasswordHasher</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E3A857"/>
                </a:solidFill>
                <a:latin typeface="Consolas" pitchFamily="34" charset="0"/>
                <a:ea typeface="Consolas" pitchFamily="34" charset="-122"/>
                <a:cs typeface="Consolas" pitchFamily="34" charset="-120"/>
              </a:rPr>
              <a:t>def</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hash_password</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password</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str</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str</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3A857"/>
                </a:solidFill>
                <a:latin typeface="Consolas" pitchFamily="34" charset="0"/>
                <a:ea typeface="Consolas" pitchFamily="34" charset="-122"/>
                <a:cs typeface="Consolas" pitchFamily="34" charset="-120"/>
              </a:rPr>
              <a:t>return</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password_hasher</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hash</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password</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E3A857"/>
                </a:solidFill>
                <a:latin typeface="Consolas" pitchFamily="34" charset="0"/>
                <a:ea typeface="Consolas" pitchFamily="34" charset="-122"/>
                <a:cs typeface="Consolas" pitchFamily="34" charset="-120"/>
              </a:rPr>
              <a:t>def</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create_token</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subject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str</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token_type</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str</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expires_delta</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timedelta</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str</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now</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datetime</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now</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timezone</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utc</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payload</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9FD8B0"/>
                </a:solidFill>
                <a:latin typeface="Consolas" pitchFamily="34" charset="0"/>
                <a:ea typeface="Consolas" pitchFamily="34" charset="-122"/>
                <a:cs typeface="Consolas" pitchFamily="34" charset="-120"/>
              </a:rPr>
              <a:t>"sub"</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subject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FD8B0"/>
                </a:solidFill>
                <a:latin typeface="Consolas" pitchFamily="34" charset="0"/>
                <a:ea typeface="Consolas" pitchFamily="34" charset="-122"/>
                <a:cs typeface="Consolas" pitchFamily="34" charset="-120"/>
              </a:rPr>
              <a:t>"type"</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token_type</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FD8B0"/>
                </a:solidFill>
                <a:latin typeface="Consolas" pitchFamily="34" charset="0"/>
                <a:ea typeface="Consolas" pitchFamily="34" charset="-122"/>
                <a:cs typeface="Consolas" pitchFamily="34" charset="-120"/>
              </a:rPr>
              <a:t>"iat"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now</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FD8B0"/>
                </a:solidFill>
                <a:latin typeface="Consolas" pitchFamily="34" charset="0"/>
                <a:ea typeface="Consolas" pitchFamily="34" charset="-122"/>
                <a:cs typeface="Consolas" pitchFamily="34" charset="-120"/>
              </a:rPr>
              <a:t>"exp"</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now</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expires_delta</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FD8B0"/>
                </a:solidFill>
                <a:latin typeface="Consolas" pitchFamily="34" charset="0"/>
                <a:ea typeface="Consolas" pitchFamily="34" charset="-122"/>
                <a:cs typeface="Consolas" pitchFamily="34" charset="-120"/>
              </a:rPr>
              <a:t>"jti"</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secrets</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token_urlsafe</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1</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6</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3A857"/>
                </a:solidFill>
                <a:latin typeface="Consolas" pitchFamily="34" charset="0"/>
                <a:ea typeface="Consolas" pitchFamily="34" charset="-122"/>
                <a:cs typeface="Consolas" pitchFamily="34" charset="-120"/>
              </a:rPr>
              <a:t>return</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jwt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encode</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payload</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get_settings</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secret_key</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algorithm</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ALGORITHM</a:t>
            </a:r>
            <a:pPr indent="0" marL="0">
              <a:lnSpc>
                <a:spcPct val="100000"/>
              </a:lnSpc>
              <a:buNone/>
            </a:pPr>
            <a:r>
              <a:rPr lang="en-US" sz="1050" dirty="0">
                <a:solidFill>
                  <a:srgbClr val="EDE3E8"/>
                </a:solidFill>
                <a:latin typeface="Consolas" pitchFamily="34" charset="0"/>
                <a:ea typeface="Consolas" pitchFamily="34" charset="-122"/>
                <a:cs typeface="Consolas" pitchFamily="34" charset="-120"/>
              </a:rPr>
              <a: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300" kern="0" dirty="0">
                <a:solidFill>
                  <a:srgbClr val="7A4A12"/>
                </a:solidFill>
                <a:latin typeface="Calibri" pitchFamily="34" charset="0"/>
                <a:ea typeface="Calibri" pitchFamily="34" charset="-122"/>
                <a:cs typeface="Calibri" pitchFamily="34" charset="-120"/>
              </a:rPr>
              <a:t>DÉMONSTRATION A</a:t>
            </a:r>
            <a:endParaRPr lang="en-US" sz="1200" dirty="0"/>
          </a:p>
        </p:txBody>
      </p:sp>
      <p:sp>
        <p:nvSpPr>
          <p:cNvPr id="3" name="Text 1"/>
          <p:cNvSpPr txBox="1"/>
          <p:nvPr/>
        </p:nvSpPr>
        <p:spPr>
          <a:xfrm>
            <a:off x="548640" y="694944"/>
            <a:ext cx="11064240" cy="685800"/>
          </a:xfrm>
          <a:prstGeom prst="rect">
            <a:avLst/>
          </a:prstGeom>
          <a:noFill/>
          <a:ln/>
        </p:spPr>
        <p:txBody>
          <a:bodyPr wrap="square" lIns="0" tIns="0" rIns="0" bIns="0" rtlCol="0" anchor="t"/>
          <a:lstStyle/>
          <a:p>
            <a:pPr indent="0" marL="0">
              <a:buNone/>
            </a:pPr>
            <a:r>
              <a:rPr lang="en-US" sz="3400" b="1" dirty="0">
                <a:solidFill>
                  <a:srgbClr val="241820"/>
                </a:solidFill>
                <a:latin typeface="Calibri" pitchFamily="34" charset="0"/>
                <a:ea typeface="Calibri" pitchFamily="34" charset="-122"/>
                <a:cs typeface="Calibri" pitchFamily="34" charset="-120"/>
              </a:rPr>
              <a:t>Créer une séance d’entraînement</a:t>
            </a:r>
            <a:endParaRPr lang="en-US" sz="3400" dirty="0"/>
          </a:p>
        </p:txBody>
      </p:sp>
      <p:sp>
        <p:nvSpPr>
          <p:cNvPr id="4" name="Text 2"/>
          <p:cNvSpPr txBox="1"/>
          <p:nvPr/>
        </p:nvSpPr>
        <p:spPr>
          <a:xfrm>
            <a:off x="548640" y="6419088"/>
            <a:ext cx="2743200" cy="256032"/>
          </a:xfrm>
          <a:prstGeom prst="rect">
            <a:avLst/>
          </a:prstGeom>
          <a:noFill/>
          <a:ln/>
        </p:spPr>
        <p:txBody>
          <a:bodyPr wrap="square" lIns="0" tIns="0" rIns="0" bIns="0" rtlCol="0" anchor="t"/>
          <a:lstStyle/>
          <a:p>
            <a:pPr indent="0" marL="0">
              <a:buNone/>
            </a:pPr>
            <a:r>
              <a:rPr lang="en-US" sz="1000" dirty="0">
                <a:solidFill>
                  <a:srgbClr val="A08C96"/>
                </a:solidFill>
                <a:latin typeface="Calibri" pitchFamily="34" charset="0"/>
                <a:ea typeface="Calibri" pitchFamily="34" charset="-122"/>
                <a:cs typeface="Calibri" pitchFamily="34" charset="-120"/>
              </a:rPr>
              <a:t>SportPlan</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t"/>
          <a:lstStyle/>
          <a:p>
            <a:pPr algn="r" indent="0" marL="0">
              <a:buNone/>
            </a:pPr>
            <a:r>
              <a:rPr lang="en-US" sz="1000" dirty="0">
                <a:solidFill>
                  <a:srgbClr val="A08C96"/>
                </a:solidFill>
                <a:latin typeface="Calibri" pitchFamily="34" charset="0"/>
                <a:ea typeface="Calibri" pitchFamily="34" charset="-122"/>
                <a:cs typeface="Calibri" pitchFamily="34" charset="-120"/>
              </a:rPr>
              <a:t>10</a:t>
            </a:r>
            <a:endParaRPr lang="en-US" sz="1000" dirty="0"/>
          </a:p>
        </p:txBody>
      </p:sp>
      <p:sp>
        <p:nvSpPr>
          <p:cNvPr id="6" name="Shape 4"/>
          <p:cNvSpPr/>
          <p:nvPr/>
        </p:nvSpPr>
        <p:spPr>
          <a:xfrm>
            <a:off x="548640" y="1600200"/>
            <a:ext cx="5148072" cy="4434840"/>
          </a:xfrm>
          <a:prstGeom prst="roundRect">
            <a:avLst>
              <a:gd name="adj" fmla="val 1649"/>
            </a:avLst>
          </a:prstGeom>
          <a:solidFill>
            <a:srgbClr val="FFFFFF"/>
          </a:solidFill>
          <a:ln w="9525">
            <a:solidFill>
              <a:srgbClr val="E6D8DE"/>
            </a:solidFill>
            <a:prstDash val="solid"/>
          </a:ln>
          <a:effectLst>
            <a:outerShdw sx="100000" sy="100000" kx="0" ky="0" algn="bl" rotWithShape="0" blurRad="177800" dist="38100" dir="5400000">
              <a:srgbClr val="000000">
                <a:alpha val="16000"/>
              </a:srgbClr>
            </a:outerShdw>
          </a:effectLst>
        </p:spPr>
      </p:sp>
      <p:pic>
        <p:nvPicPr>
          <p:cNvPr id="7" name="Image 0" descr="img/workout-main.png">    </p:cNvPr>
          <p:cNvPicPr>
            <a:picLocks noChangeAspect="1"/>
          </p:cNvPicPr>
          <p:nvPr/>
        </p:nvPicPr>
        <p:blipFill>
          <a:blip r:embed="rId1"/>
          <a:stretch>
            <a:fillRect/>
          </a:stretch>
        </p:blipFill>
        <p:spPr>
          <a:xfrm>
            <a:off x="548640" y="1600200"/>
            <a:ext cx="5148072" cy="4434840"/>
          </a:xfrm>
          <a:prstGeom prst="rect">
            <a:avLst/>
          </a:prstGeom>
        </p:spPr>
      </p:pic>
      <p:sp>
        <p:nvSpPr>
          <p:cNvPr id="8" name="Shape 5"/>
          <p:cNvSpPr/>
          <p:nvPr/>
        </p:nvSpPr>
        <p:spPr>
          <a:xfrm>
            <a:off x="6035040" y="1591056"/>
            <a:ext cx="329184" cy="329184"/>
          </a:xfrm>
          <a:prstGeom prst="ellipse">
            <a:avLst/>
          </a:prstGeom>
          <a:solidFill>
            <a:srgbClr val="9C2F68"/>
          </a:solidFill>
          <a:ln w="12700">
            <a:solidFill>
              <a:srgbClr val="9C2F68"/>
            </a:solidFill>
            <a:prstDash val="solid"/>
          </a:ln>
        </p:spPr>
      </p:sp>
      <p:sp>
        <p:nvSpPr>
          <p:cNvPr id="9" name="Text 6"/>
          <p:cNvSpPr txBox="1"/>
          <p:nvPr/>
        </p:nvSpPr>
        <p:spPr>
          <a:xfrm>
            <a:off x="6035040" y="159105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7"/>
          <p:cNvSpPr txBox="1"/>
          <p:nvPr/>
        </p:nvSpPr>
        <p:spPr>
          <a:xfrm>
            <a:off x="6510528" y="1572768"/>
            <a:ext cx="5129784" cy="384048"/>
          </a:xfrm>
          <a:prstGeom prst="rect">
            <a:avLst/>
          </a:prstGeom>
          <a:noFill/>
          <a:ln/>
        </p:spPr>
        <p:txBody>
          <a:bodyPr wrap="square" lIns="0" tIns="0" rIns="0" bIns="0" rtlCol="0" anchor="ctr"/>
          <a:lstStyle/>
          <a:p>
            <a:pPr indent="0" marL="0">
              <a:buNone/>
            </a:pPr>
            <a:r>
              <a:rPr lang="en-US" sz="1350" dirty="0">
                <a:solidFill>
                  <a:srgbClr val="241820"/>
                </a:solidFill>
                <a:latin typeface="Calibri" pitchFamily="34" charset="0"/>
                <a:ea typeface="Calibri" pitchFamily="34" charset="-122"/>
                <a:cs typeface="Calibri" pitchFamily="34" charset="-120"/>
              </a:rPr>
              <a:t>Se connecter avec le compte coach de démo</a:t>
            </a:r>
            <a:endParaRPr lang="en-US" sz="1350" dirty="0"/>
          </a:p>
        </p:txBody>
      </p:sp>
      <p:sp>
        <p:nvSpPr>
          <p:cNvPr id="11" name="Shape 8"/>
          <p:cNvSpPr/>
          <p:nvPr/>
        </p:nvSpPr>
        <p:spPr>
          <a:xfrm>
            <a:off x="6035040" y="1956816"/>
            <a:ext cx="329184" cy="329184"/>
          </a:xfrm>
          <a:prstGeom prst="ellipse">
            <a:avLst/>
          </a:prstGeom>
          <a:solidFill>
            <a:srgbClr val="9C2F68"/>
          </a:solidFill>
          <a:ln w="12700">
            <a:solidFill>
              <a:srgbClr val="9C2F68"/>
            </a:solidFill>
            <a:prstDash val="solid"/>
          </a:ln>
        </p:spPr>
      </p:sp>
      <p:sp>
        <p:nvSpPr>
          <p:cNvPr id="12" name="Text 9"/>
          <p:cNvSpPr txBox="1"/>
          <p:nvPr/>
        </p:nvSpPr>
        <p:spPr>
          <a:xfrm>
            <a:off x="6035040" y="195681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6510528" y="1938528"/>
            <a:ext cx="5129784" cy="384048"/>
          </a:xfrm>
          <a:prstGeom prst="rect">
            <a:avLst/>
          </a:prstGeom>
          <a:noFill/>
          <a:ln/>
        </p:spPr>
        <p:txBody>
          <a:bodyPr wrap="square" lIns="0" tIns="0" rIns="0" bIns="0" rtlCol="0" anchor="ctr"/>
          <a:lstStyle/>
          <a:p>
            <a:pPr indent="0" marL="0">
              <a:buNone/>
            </a:pPr>
            <a:r>
              <a:rPr lang="en-US" sz="1350" dirty="0">
                <a:solidFill>
                  <a:srgbClr val="241820"/>
                </a:solidFill>
                <a:latin typeface="Calibri" pitchFamily="34" charset="0"/>
                <a:ea typeface="Calibri" pitchFamily="34" charset="-122"/>
                <a:cs typeface="Calibri" pitchFamily="34" charset="-120"/>
              </a:rPr>
              <a:t>Ouvrir « Créer » (/workouts/new)</a:t>
            </a:r>
            <a:endParaRPr lang="en-US" sz="1350" dirty="0"/>
          </a:p>
        </p:txBody>
      </p:sp>
      <p:sp>
        <p:nvSpPr>
          <p:cNvPr id="14" name="Shape 11"/>
          <p:cNvSpPr/>
          <p:nvPr/>
        </p:nvSpPr>
        <p:spPr>
          <a:xfrm>
            <a:off x="6035040" y="2322576"/>
            <a:ext cx="329184" cy="329184"/>
          </a:xfrm>
          <a:prstGeom prst="ellipse">
            <a:avLst/>
          </a:prstGeom>
          <a:solidFill>
            <a:srgbClr val="9C2F68"/>
          </a:solidFill>
          <a:ln w="12700">
            <a:solidFill>
              <a:srgbClr val="9C2F68"/>
            </a:solidFill>
            <a:prstDash val="solid"/>
          </a:ln>
        </p:spPr>
      </p:sp>
      <p:sp>
        <p:nvSpPr>
          <p:cNvPr id="15" name="Text 12"/>
          <p:cNvSpPr txBox="1"/>
          <p:nvPr/>
        </p:nvSpPr>
        <p:spPr>
          <a:xfrm>
            <a:off x="6035040" y="232257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3"/>
          <p:cNvSpPr txBox="1"/>
          <p:nvPr/>
        </p:nvSpPr>
        <p:spPr>
          <a:xfrm>
            <a:off x="6510528" y="2304288"/>
            <a:ext cx="5129784" cy="384048"/>
          </a:xfrm>
          <a:prstGeom prst="rect">
            <a:avLst/>
          </a:prstGeom>
          <a:noFill/>
          <a:ln/>
        </p:spPr>
        <p:txBody>
          <a:bodyPr wrap="square" lIns="0" tIns="0" rIns="0" bIns="0" rtlCol="0" anchor="ctr"/>
          <a:lstStyle/>
          <a:p>
            <a:pPr indent="0" marL="0">
              <a:buNone/>
            </a:pPr>
            <a:r>
              <a:rPr lang="en-US" sz="1350" dirty="0">
                <a:solidFill>
                  <a:srgbClr val="241820"/>
                </a:solidFill>
                <a:latin typeface="Calibri" pitchFamily="34" charset="0"/>
                <a:ea typeface="Calibri" pitchFamily="34" charset="-122"/>
                <a:cs typeface="Calibri" pitchFamily="34" charset="-120"/>
              </a:rPr>
              <a:t>Saisir la séance et choisir les exercices</a:t>
            </a:r>
            <a:endParaRPr lang="en-US" sz="1350" dirty="0"/>
          </a:p>
        </p:txBody>
      </p:sp>
      <p:sp>
        <p:nvSpPr>
          <p:cNvPr id="17" name="Shape 14"/>
          <p:cNvSpPr/>
          <p:nvPr/>
        </p:nvSpPr>
        <p:spPr>
          <a:xfrm>
            <a:off x="6035040" y="2688336"/>
            <a:ext cx="329184" cy="329184"/>
          </a:xfrm>
          <a:prstGeom prst="ellipse">
            <a:avLst/>
          </a:prstGeom>
          <a:solidFill>
            <a:srgbClr val="9C2F68"/>
          </a:solidFill>
          <a:ln w="12700">
            <a:solidFill>
              <a:srgbClr val="9C2F68"/>
            </a:solidFill>
            <a:prstDash val="solid"/>
          </a:ln>
        </p:spPr>
      </p:sp>
      <p:sp>
        <p:nvSpPr>
          <p:cNvPr id="18" name="Text 15"/>
          <p:cNvSpPr txBox="1"/>
          <p:nvPr/>
        </p:nvSpPr>
        <p:spPr>
          <a:xfrm>
            <a:off x="6035040" y="26883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6"/>
          <p:cNvSpPr txBox="1"/>
          <p:nvPr/>
        </p:nvSpPr>
        <p:spPr>
          <a:xfrm>
            <a:off x="6510528" y="2670048"/>
            <a:ext cx="5129784" cy="384048"/>
          </a:xfrm>
          <a:prstGeom prst="rect">
            <a:avLst/>
          </a:prstGeom>
          <a:noFill/>
          <a:ln/>
        </p:spPr>
        <p:txBody>
          <a:bodyPr wrap="square" lIns="0" tIns="0" rIns="0" bIns="0" rtlCol="0" anchor="ctr"/>
          <a:lstStyle/>
          <a:p>
            <a:pPr indent="0" marL="0">
              <a:buNone/>
            </a:pPr>
            <a:r>
              <a:rPr lang="en-US" sz="1350" dirty="0">
                <a:solidFill>
                  <a:srgbClr val="241820"/>
                </a:solidFill>
                <a:latin typeface="Calibri" pitchFamily="34" charset="0"/>
                <a:ea typeface="Calibri" pitchFamily="34" charset="-122"/>
                <a:cs typeface="Calibri" pitchFamily="34" charset="-120"/>
              </a:rPr>
              <a:t>Enregistrer : retour à « Séances », puis au calendrier</a:t>
            </a:r>
            <a:endParaRPr lang="en-US" sz="1350" dirty="0"/>
          </a:p>
        </p:txBody>
      </p:sp>
      <p:sp>
        <p:nvSpPr>
          <p:cNvPr id="20" name="Shape 17"/>
          <p:cNvSpPr/>
          <p:nvPr/>
        </p:nvSpPr>
        <p:spPr>
          <a:xfrm>
            <a:off x="6035040" y="3291840"/>
            <a:ext cx="5605272" cy="2743200"/>
          </a:xfrm>
          <a:prstGeom prst="roundRect">
            <a:avLst>
              <a:gd name="adj" fmla="val 4000"/>
            </a:avLst>
          </a:prstGeom>
          <a:solidFill>
            <a:srgbClr val="22171E"/>
          </a:solidFill>
          <a:ln w="12700">
            <a:solidFill>
              <a:srgbClr val="22171E"/>
            </a:solidFill>
            <a:prstDash val="solid"/>
          </a:ln>
        </p:spPr>
      </p:sp>
      <p:sp>
        <p:nvSpPr>
          <p:cNvPr id="21" name="Text 18"/>
          <p:cNvSpPr txBox="1"/>
          <p:nvPr/>
        </p:nvSpPr>
        <p:spPr>
          <a:xfrm>
            <a:off x="6263640" y="3438144"/>
            <a:ext cx="5148072" cy="237744"/>
          </a:xfrm>
          <a:prstGeom prst="rect">
            <a:avLst/>
          </a:prstGeom>
          <a:noFill/>
          <a:ln/>
        </p:spPr>
        <p:txBody>
          <a:bodyPr wrap="square" lIns="0" tIns="0" rIns="0" bIns="0" rtlCol="0" anchor="t"/>
          <a:lstStyle/>
          <a:p>
            <a:pPr indent="0" marL="0">
              <a:buNone/>
            </a:pPr>
            <a:r>
              <a:rPr lang="en-US" sz="1050" dirty="0">
                <a:solidFill>
                  <a:srgbClr val="E3A857"/>
                </a:solidFill>
                <a:latin typeface="Consolas" pitchFamily="34" charset="0"/>
                <a:ea typeface="Consolas" pitchFamily="34" charset="-122"/>
                <a:cs typeface="Consolas" pitchFamily="34" charset="-120"/>
              </a:rPr>
              <a:t>backend/app/routers/sessions.py</a:t>
            </a:r>
            <a:endParaRPr lang="en-US" sz="1050" dirty="0"/>
          </a:p>
        </p:txBody>
      </p:sp>
      <p:sp>
        <p:nvSpPr>
          <p:cNvPr id="22" name="Text 19"/>
          <p:cNvSpPr txBox="1"/>
          <p:nvPr/>
        </p:nvSpPr>
        <p:spPr>
          <a:xfrm>
            <a:off x="6263640" y="3767328"/>
            <a:ext cx="5148072" cy="2121408"/>
          </a:xfrm>
          <a:prstGeom prst="rect">
            <a:avLst/>
          </a:prstGeom>
          <a:noFill/>
          <a:ln/>
        </p:spPr>
        <p:txBody>
          <a:bodyPr wrap="square" lIns="0" tIns="0" rIns="0" bIns="0" rtlCol="0" anchor="t"/>
          <a:lstStyle/>
          <a:p>
            <a:pPr indent="0" marL="0">
              <a:lnSpc>
                <a:spcPct val="100000"/>
              </a:lnSpc>
              <a:buNone/>
            </a:pPr>
            <a:r>
              <a:rPr lang="en-US" sz="1000" dirty="0">
                <a:solidFill>
                  <a:srgbClr val="C9A7FF"/>
                </a:solidFill>
                <a:latin typeface="Consolas" pitchFamily="34" charset="0"/>
                <a:ea typeface="Consolas" pitchFamily="34" charset="-122"/>
                <a:cs typeface="Consolas" pitchFamily="34" charset="-120"/>
              </a:rPr>
              <a:t>@router.post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9FD8B0"/>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response_model</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SessionRead</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status_code</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2</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0</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1</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E3A857"/>
                </a:solidFill>
                <a:latin typeface="Consolas" pitchFamily="34" charset="0"/>
                <a:ea typeface="Consolas" pitchFamily="34" charset="-122"/>
                <a:cs typeface="Consolas" pitchFamily="34" charset="-120"/>
              </a:rPr>
              <a:t>def</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create_session</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data</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SessionCreate</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db</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Session</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Depends</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get_db</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user</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User</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Depends</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require_roles</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9FD8B0"/>
                </a:solidFill>
                <a:latin typeface="Consolas" pitchFamily="34" charset="0"/>
                <a:ea typeface="Consolas" pitchFamily="34" charset="-122"/>
                <a:cs typeface="Consolas" pitchFamily="34" charset="-120"/>
              </a:rPr>
              <a:t>"coach"</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FD8B0"/>
                </a:solidFill>
                <a:latin typeface="Consolas" pitchFamily="34" charset="0"/>
                <a:ea typeface="Consolas" pitchFamily="34" charset="-122"/>
                <a:cs typeface="Consolas" pitchFamily="34" charset="-120"/>
              </a:rPr>
              <a:t>"admin"</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3A857"/>
                </a:solidFill>
                <a:latin typeface="Consolas" pitchFamily="34" charset="0"/>
                <a:ea typeface="Consolas" pitchFamily="34" charset="-122"/>
                <a:cs typeface="Consolas" pitchFamily="34" charset="-120"/>
              </a:rPr>
              <a:t>if</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user</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role</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FD8B0"/>
                </a:solidFill>
                <a:latin typeface="Consolas" pitchFamily="34" charset="0"/>
                <a:ea typeface="Consolas" pitchFamily="34" charset="-122"/>
                <a:cs typeface="Consolas" pitchFamily="34" charset="-120"/>
              </a:rPr>
              <a:t>"coach"</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3A857"/>
                </a:solidFill>
                <a:latin typeface="Consolas" pitchFamily="34" charset="0"/>
                <a:ea typeface="Consolas" pitchFamily="34" charset="-122"/>
                <a:cs typeface="Consolas" pitchFamily="34" charset="-120"/>
              </a:rPr>
              <a:t>and</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data</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coach_id</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user</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id</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3A857"/>
                </a:solidFill>
                <a:latin typeface="Consolas" pitchFamily="34" charset="0"/>
                <a:ea typeface="Consolas" pitchFamily="34" charset="-122"/>
                <a:cs typeface="Consolas" pitchFamily="34" charset="-120"/>
              </a:rPr>
              <a:t>raise</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HTTPException</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4</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0</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3</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FD8B0"/>
                </a:solidFill>
                <a:latin typeface="Consolas" pitchFamily="34" charset="0"/>
                <a:ea typeface="Consolas" pitchFamily="34" charset="-122"/>
                <a:cs typeface="Consolas" pitchFamily="34" charset="-120"/>
              </a:rPr>
              <a:t>"Un coach ne peut créer que ses propres séances"</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item</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SportSession</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data</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model_dump</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db</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add</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item</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db</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commit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300" kern="0" dirty="0">
                <a:solidFill>
                  <a:srgbClr val="7A4A12"/>
                </a:solidFill>
                <a:latin typeface="Calibri" pitchFamily="34" charset="0"/>
                <a:ea typeface="Calibri" pitchFamily="34" charset="-122"/>
                <a:cs typeface="Calibri" pitchFamily="34" charset="-120"/>
              </a:rPr>
              <a:t>DÉMONSTRATION B</a:t>
            </a:r>
            <a:endParaRPr lang="en-US" sz="1200" dirty="0"/>
          </a:p>
        </p:txBody>
      </p:sp>
      <p:sp>
        <p:nvSpPr>
          <p:cNvPr id="3" name="Text 1"/>
          <p:cNvSpPr txBox="1"/>
          <p:nvPr/>
        </p:nvSpPr>
        <p:spPr>
          <a:xfrm>
            <a:off x="548640" y="694944"/>
            <a:ext cx="11064240" cy="685800"/>
          </a:xfrm>
          <a:prstGeom prst="rect">
            <a:avLst/>
          </a:prstGeom>
          <a:noFill/>
          <a:ln/>
        </p:spPr>
        <p:txBody>
          <a:bodyPr wrap="square" lIns="0" tIns="0" rIns="0" bIns="0" rtlCol="0" anchor="t"/>
          <a:lstStyle/>
          <a:p>
            <a:pPr indent="0" marL="0">
              <a:buNone/>
            </a:pPr>
            <a:r>
              <a:rPr lang="en-US" sz="3400" b="1" dirty="0">
                <a:solidFill>
                  <a:srgbClr val="241820"/>
                </a:solidFill>
                <a:latin typeface="Calibri" pitchFamily="34" charset="0"/>
                <a:ea typeface="Calibri" pitchFamily="34" charset="-122"/>
                <a:cs typeface="Calibri" pitchFamily="34" charset="-120"/>
              </a:rPr>
              <a:t>Suivre sa progression</a:t>
            </a:r>
            <a:endParaRPr lang="en-US" sz="3400" dirty="0"/>
          </a:p>
        </p:txBody>
      </p:sp>
      <p:sp>
        <p:nvSpPr>
          <p:cNvPr id="4" name="Text 2"/>
          <p:cNvSpPr txBox="1"/>
          <p:nvPr/>
        </p:nvSpPr>
        <p:spPr>
          <a:xfrm>
            <a:off x="548640" y="6419088"/>
            <a:ext cx="2743200" cy="256032"/>
          </a:xfrm>
          <a:prstGeom prst="rect">
            <a:avLst/>
          </a:prstGeom>
          <a:noFill/>
          <a:ln/>
        </p:spPr>
        <p:txBody>
          <a:bodyPr wrap="square" lIns="0" tIns="0" rIns="0" bIns="0" rtlCol="0" anchor="t"/>
          <a:lstStyle/>
          <a:p>
            <a:pPr indent="0" marL="0">
              <a:buNone/>
            </a:pPr>
            <a:r>
              <a:rPr lang="en-US" sz="1000" dirty="0">
                <a:solidFill>
                  <a:srgbClr val="A08C96"/>
                </a:solidFill>
                <a:latin typeface="Calibri" pitchFamily="34" charset="0"/>
                <a:ea typeface="Calibri" pitchFamily="34" charset="-122"/>
                <a:cs typeface="Calibri" pitchFamily="34" charset="-120"/>
              </a:rPr>
              <a:t>SportPlan</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t"/>
          <a:lstStyle/>
          <a:p>
            <a:pPr algn="r" indent="0" marL="0">
              <a:buNone/>
            </a:pPr>
            <a:r>
              <a:rPr lang="en-US" sz="1000" dirty="0">
                <a:solidFill>
                  <a:srgbClr val="A08C96"/>
                </a:solidFill>
                <a:latin typeface="Calibri" pitchFamily="34" charset="0"/>
                <a:ea typeface="Calibri" pitchFamily="34" charset="-122"/>
                <a:cs typeface="Calibri" pitchFamily="34" charset="-120"/>
              </a:rPr>
              <a:t>11</a:t>
            </a:r>
            <a:endParaRPr lang="en-US" sz="1000" dirty="0"/>
          </a:p>
        </p:txBody>
      </p:sp>
      <p:sp>
        <p:nvSpPr>
          <p:cNvPr id="6" name="Shape 4"/>
          <p:cNvSpPr/>
          <p:nvPr/>
        </p:nvSpPr>
        <p:spPr>
          <a:xfrm>
            <a:off x="548640" y="1600200"/>
            <a:ext cx="5568696" cy="4434840"/>
          </a:xfrm>
          <a:prstGeom prst="roundRect">
            <a:avLst>
              <a:gd name="adj" fmla="val 1649"/>
            </a:avLst>
          </a:prstGeom>
          <a:solidFill>
            <a:srgbClr val="FFFFFF"/>
          </a:solidFill>
          <a:ln w="9525">
            <a:solidFill>
              <a:srgbClr val="E6D8DE"/>
            </a:solidFill>
            <a:prstDash val="solid"/>
          </a:ln>
          <a:effectLst>
            <a:outerShdw sx="100000" sy="100000" kx="0" ky="0" algn="bl" rotWithShape="0" blurRad="177800" dist="38100" dir="5400000">
              <a:srgbClr val="000000">
                <a:alpha val="16000"/>
              </a:srgbClr>
            </a:outerShdw>
          </a:effectLst>
        </p:spPr>
      </p:sp>
      <p:pic>
        <p:nvPicPr>
          <p:cNvPr id="7" name="Image 0" descr="img/perf-overview.png">    </p:cNvPr>
          <p:cNvPicPr>
            <a:picLocks noChangeAspect="1"/>
          </p:cNvPicPr>
          <p:nvPr/>
        </p:nvPicPr>
        <p:blipFill>
          <a:blip r:embed="rId1"/>
          <a:stretch>
            <a:fillRect/>
          </a:stretch>
        </p:blipFill>
        <p:spPr>
          <a:xfrm>
            <a:off x="548640" y="1600200"/>
            <a:ext cx="5568696" cy="4434840"/>
          </a:xfrm>
          <a:prstGeom prst="rect">
            <a:avLst/>
          </a:prstGeom>
        </p:spPr>
      </p:pic>
      <p:sp>
        <p:nvSpPr>
          <p:cNvPr id="8" name="Shape 5"/>
          <p:cNvSpPr/>
          <p:nvPr/>
        </p:nvSpPr>
        <p:spPr>
          <a:xfrm>
            <a:off x="6400800" y="1591056"/>
            <a:ext cx="329184" cy="329184"/>
          </a:xfrm>
          <a:prstGeom prst="ellipse">
            <a:avLst/>
          </a:prstGeom>
          <a:solidFill>
            <a:srgbClr val="9C2F68"/>
          </a:solidFill>
          <a:ln w="12700">
            <a:solidFill>
              <a:srgbClr val="9C2F68"/>
            </a:solidFill>
            <a:prstDash val="solid"/>
          </a:ln>
        </p:spPr>
      </p:sp>
      <p:sp>
        <p:nvSpPr>
          <p:cNvPr id="9" name="Text 6"/>
          <p:cNvSpPr txBox="1"/>
          <p:nvPr/>
        </p:nvSpPr>
        <p:spPr>
          <a:xfrm>
            <a:off x="6400800" y="159105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7"/>
          <p:cNvSpPr txBox="1"/>
          <p:nvPr/>
        </p:nvSpPr>
        <p:spPr>
          <a:xfrm>
            <a:off x="6876288" y="1572768"/>
            <a:ext cx="4764024" cy="384048"/>
          </a:xfrm>
          <a:prstGeom prst="rect">
            <a:avLst/>
          </a:prstGeom>
          <a:noFill/>
          <a:ln/>
        </p:spPr>
        <p:txBody>
          <a:bodyPr wrap="square" lIns="0" tIns="0" rIns="0" bIns="0" rtlCol="0" anchor="ctr"/>
          <a:lstStyle/>
          <a:p>
            <a:pPr indent="0" marL="0">
              <a:buNone/>
            </a:pPr>
            <a:r>
              <a:rPr lang="en-US" sz="1350" dirty="0">
                <a:solidFill>
                  <a:srgbClr val="241820"/>
                </a:solidFill>
                <a:latin typeface="Calibri" pitchFamily="34" charset="0"/>
                <a:ea typeface="Calibri" pitchFamily="34" charset="-122"/>
                <a:cs typeface="Calibri" pitchFamily="34" charset="-120"/>
              </a:rPr>
              <a:t>Ouvrir Statistiques (compte sportif)</a:t>
            </a:r>
            <a:endParaRPr lang="en-US" sz="1350" dirty="0"/>
          </a:p>
        </p:txBody>
      </p:sp>
      <p:sp>
        <p:nvSpPr>
          <p:cNvPr id="11" name="Shape 8"/>
          <p:cNvSpPr/>
          <p:nvPr/>
        </p:nvSpPr>
        <p:spPr>
          <a:xfrm>
            <a:off x="6400800" y="1956816"/>
            <a:ext cx="329184" cy="329184"/>
          </a:xfrm>
          <a:prstGeom prst="ellipse">
            <a:avLst/>
          </a:prstGeom>
          <a:solidFill>
            <a:srgbClr val="9C2F68"/>
          </a:solidFill>
          <a:ln w="12700">
            <a:solidFill>
              <a:srgbClr val="9C2F68"/>
            </a:solidFill>
            <a:prstDash val="solid"/>
          </a:ln>
        </p:spPr>
      </p:sp>
      <p:sp>
        <p:nvSpPr>
          <p:cNvPr id="12" name="Text 9"/>
          <p:cNvSpPr txBox="1"/>
          <p:nvPr/>
        </p:nvSpPr>
        <p:spPr>
          <a:xfrm>
            <a:off x="6400800" y="195681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6876288" y="1938528"/>
            <a:ext cx="4764024" cy="384048"/>
          </a:xfrm>
          <a:prstGeom prst="rect">
            <a:avLst/>
          </a:prstGeom>
          <a:noFill/>
          <a:ln/>
        </p:spPr>
        <p:txBody>
          <a:bodyPr wrap="square" lIns="0" tIns="0" rIns="0" bIns="0" rtlCol="0" anchor="ctr"/>
          <a:lstStyle/>
          <a:p>
            <a:pPr indent="0" marL="0">
              <a:buNone/>
            </a:pPr>
            <a:r>
              <a:rPr lang="en-US" sz="1350" dirty="0">
                <a:solidFill>
                  <a:srgbClr val="241820"/>
                </a:solidFill>
                <a:latin typeface="Calibri" pitchFamily="34" charset="0"/>
                <a:ea typeface="Calibri" pitchFamily="34" charset="-122"/>
                <a:cs typeface="Calibri" pitchFamily="34" charset="-120"/>
              </a:rPr>
              <a:t>Lire le score moyen et le meilleur score</a:t>
            </a:r>
            <a:endParaRPr lang="en-US" sz="1350" dirty="0"/>
          </a:p>
        </p:txBody>
      </p:sp>
      <p:sp>
        <p:nvSpPr>
          <p:cNvPr id="14" name="Shape 11"/>
          <p:cNvSpPr/>
          <p:nvPr/>
        </p:nvSpPr>
        <p:spPr>
          <a:xfrm>
            <a:off x="6400800" y="2322576"/>
            <a:ext cx="329184" cy="329184"/>
          </a:xfrm>
          <a:prstGeom prst="ellipse">
            <a:avLst/>
          </a:prstGeom>
          <a:solidFill>
            <a:srgbClr val="9C2F68"/>
          </a:solidFill>
          <a:ln w="12700">
            <a:solidFill>
              <a:srgbClr val="9C2F68"/>
            </a:solidFill>
            <a:prstDash val="solid"/>
          </a:ln>
        </p:spPr>
      </p:sp>
      <p:sp>
        <p:nvSpPr>
          <p:cNvPr id="15" name="Text 12"/>
          <p:cNvSpPr txBox="1"/>
          <p:nvPr/>
        </p:nvSpPr>
        <p:spPr>
          <a:xfrm>
            <a:off x="6400800" y="232257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3"/>
          <p:cNvSpPr txBox="1"/>
          <p:nvPr/>
        </p:nvSpPr>
        <p:spPr>
          <a:xfrm>
            <a:off x="6876288" y="2304288"/>
            <a:ext cx="4764024" cy="384048"/>
          </a:xfrm>
          <a:prstGeom prst="rect">
            <a:avLst/>
          </a:prstGeom>
          <a:noFill/>
          <a:ln/>
        </p:spPr>
        <p:txBody>
          <a:bodyPr wrap="square" lIns="0" tIns="0" rIns="0" bIns="0" rtlCol="0" anchor="ctr"/>
          <a:lstStyle/>
          <a:p>
            <a:pPr indent="0" marL="0">
              <a:buNone/>
            </a:pPr>
            <a:r>
              <a:rPr lang="en-US" sz="1350" dirty="0">
                <a:solidFill>
                  <a:srgbClr val="241820"/>
                </a:solidFill>
                <a:latin typeface="Calibri" pitchFamily="34" charset="0"/>
                <a:ea typeface="Calibri" pitchFamily="34" charset="-122"/>
                <a:cs typeface="Calibri" pitchFamily="34" charset="-120"/>
              </a:rPr>
              <a:t>Montrer la courbe d’évolution (68 → 92)</a:t>
            </a:r>
            <a:endParaRPr lang="en-US" sz="1350" dirty="0"/>
          </a:p>
        </p:txBody>
      </p:sp>
      <p:sp>
        <p:nvSpPr>
          <p:cNvPr id="17" name="Shape 14"/>
          <p:cNvSpPr/>
          <p:nvPr/>
        </p:nvSpPr>
        <p:spPr>
          <a:xfrm>
            <a:off x="6400800" y="2688336"/>
            <a:ext cx="329184" cy="329184"/>
          </a:xfrm>
          <a:prstGeom prst="ellipse">
            <a:avLst/>
          </a:prstGeom>
          <a:solidFill>
            <a:srgbClr val="9C2F68"/>
          </a:solidFill>
          <a:ln w="12700">
            <a:solidFill>
              <a:srgbClr val="9C2F68"/>
            </a:solidFill>
            <a:prstDash val="solid"/>
          </a:ln>
        </p:spPr>
      </p:sp>
      <p:sp>
        <p:nvSpPr>
          <p:cNvPr id="18" name="Text 15"/>
          <p:cNvSpPr txBox="1"/>
          <p:nvPr/>
        </p:nvSpPr>
        <p:spPr>
          <a:xfrm>
            <a:off x="6400800" y="26883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6"/>
          <p:cNvSpPr txBox="1"/>
          <p:nvPr/>
        </p:nvSpPr>
        <p:spPr>
          <a:xfrm>
            <a:off x="6876288" y="2670048"/>
            <a:ext cx="4764024" cy="384048"/>
          </a:xfrm>
          <a:prstGeom prst="rect">
            <a:avLst/>
          </a:prstGeom>
          <a:noFill/>
          <a:ln/>
        </p:spPr>
        <p:txBody>
          <a:bodyPr wrap="square" lIns="0" tIns="0" rIns="0" bIns="0" rtlCol="0" anchor="ctr"/>
          <a:lstStyle/>
          <a:p>
            <a:pPr indent="0" marL="0">
              <a:buNone/>
            </a:pPr>
            <a:r>
              <a:rPr lang="en-US" sz="1350" dirty="0">
                <a:solidFill>
                  <a:srgbClr val="241820"/>
                </a:solidFill>
                <a:latin typeface="Calibri" pitchFamily="34" charset="0"/>
                <a:ea typeface="Calibri" pitchFamily="34" charset="-122"/>
                <a:cs typeface="Calibri" pitchFamily="34" charset="-120"/>
              </a:rPr>
              <a:t>Mettre à jour un objectif dans « Objectifs »</a:t>
            </a:r>
            <a:endParaRPr lang="en-US" sz="1350" dirty="0"/>
          </a:p>
        </p:txBody>
      </p:sp>
      <p:sp>
        <p:nvSpPr>
          <p:cNvPr id="20" name="Shape 17"/>
          <p:cNvSpPr/>
          <p:nvPr/>
        </p:nvSpPr>
        <p:spPr>
          <a:xfrm>
            <a:off x="6400800" y="3291840"/>
            <a:ext cx="5239512" cy="2743200"/>
          </a:xfrm>
          <a:prstGeom prst="roundRect">
            <a:avLst>
              <a:gd name="adj" fmla="val 4000"/>
            </a:avLst>
          </a:prstGeom>
          <a:solidFill>
            <a:srgbClr val="22171E"/>
          </a:solidFill>
          <a:ln w="12700">
            <a:solidFill>
              <a:srgbClr val="22171E"/>
            </a:solidFill>
            <a:prstDash val="solid"/>
          </a:ln>
        </p:spPr>
      </p:sp>
      <p:sp>
        <p:nvSpPr>
          <p:cNvPr id="21" name="Text 18"/>
          <p:cNvSpPr txBox="1"/>
          <p:nvPr/>
        </p:nvSpPr>
        <p:spPr>
          <a:xfrm>
            <a:off x="6629400" y="3438144"/>
            <a:ext cx="4782312" cy="237744"/>
          </a:xfrm>
          <a:prstGeom prst="rect">
            <a:avLst/>
          </a:prstGeom>
          <a:noFill/>
          <a:ln/>
        </p:spPr>
        <p:txBody>
          <a:bodyPr wrap="square" lIns="0" tIns="0" rIns="0" bIns="0" rtlCol="0" anchor="t"/>
          <a:lstStyle/>
          <a:p>
            <a:pPr indent="0" marL="0">
              <a:buNone/>
            </a:pPr>
            <a:r>
              <a:rPr lang="en-US" sz="1050" dirty="0">
                <a:solidFill>
                  <a:srgbClr val="E3A857"/>
                </a:solidFill>
                <a:latin typeface="Consolas" pitchFamily="34" charset="0"/>
                <a:ea typeface="Consolas" pitchFamily="34" charset="-122"/>
                <a:cs typeface="Consolas" pitchFamily="34" charset="-120"/>
              </a:rPr>
              <a:t>backend/app/routers/performances.py</a:t>
            </a:r>
            <a:endParaRPr lang="en-US" sz="1050" dirty="0"/>
          </a:p>
        </p:txBody>
      </p:sp>
      <p:sp>
        <p:nvSpPr>
          <p:cNvPr id="22" name="Text 19"/>
          <p:cNvSpPr txBox="1"/>
          <p:nvPr/>
        </p:nvSpPr>
        <p:spPr>
          <a:xfrm>
            <a:off x="6629400" y="3767328"/>
            <a:ext cx="4782312" cy="2121408"/>
          </a:xfrm>
          <a:prstGeom prst="rect">
            <a:avLst/>
          </a:prstGeom>
          <a:noFill/>
          <a:ln/>
        </p:spPr>
        <p:txBody>
          <a:bodyPr wrap="square" lIns="0" tIns="0" rIns="0" bIns="0" rtlCol="0" anchor="t"/>
          <a:lstStyle/>
          <a:p>
            <a:pPr indent="0" marL="0">
              <a:lnSpc>
                <a:spcPct val="100000"/>
              </a:lnSpc>
              <a:buNone/>
            </a:pPr>
            <a:r>
              <a:rPr lang="en-US" sz="1000" dirty="0">
                <a:solidFill>
                  <a:srgbClr val="C9A7FF"/>
                </a:solidFill>
                <a:latin typeface="Consolas" pitchFamily="34" charset="0"/>
                <a:ea typeface="Consolas" pitchFamily="34" charset="-122"/>
                <a:cs typeface="Consolas" pitchFamily="34" charset="-120"/>
              </a:rPr>
              <a:t>@router.get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9FD8B0"/>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response_model</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list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PerformanceRead</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E3A857"/>
                </a:solidFill>
                <a:latin typeface="Consolas" pitchFamily="34" charset="0"/>
                <a:ea typeface="Consolas" pitchFamily="34" charset="-122"/>
                <a:cs typeface="Consolas" pitchFamily="34" charset="-120"/>
              </a:rPr>
              <a:t>def</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list_performances</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db</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Session</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Depends</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get_db</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user</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User</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Depends</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get_current_user</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3A857"/>
                </a:solidFill>
                <a:latin typeface="Consolas" pitchFamily="34" charset="0"/>
                <a:ea typeface="Consolas" pitchFamily="34" charset="-122"/>
                <a:cs typeface="Consolas" pitchFamily="34" charset="-120"/>
              </a:rPr>
              <a:t>if</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user</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role</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FD8B0"/>
                </a:solidFill>
                <a:latin typeface="Consolas" pitchFamily="34" charset="0"/>
                <a:ea typeface="Consolas" pitchFamily="34" charset="-122"/>
                <a:cs typeface="Consolas" pitchFamily="34" charset="-120"/>
              </a:rPr>
              <a:t>"admin"</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query</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select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Performance</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3A857"/>
                </a:solidFill>
                <a:latin typeface="Consolas" pitchFamily="34" charset="0"/>
                <a:ea typeface="Consolas" pitchFamily="34" charset="-122"/>
                <a:cs typeface="Consolas" pitchFamily="34" charset="-120"/>
              </a:rPr>
              <a:t>elif</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user</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role</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FD8B0"/>
                </a:solidFill>
                <a:latin typeface="Consolas" pitchFamily="34" charset="0"/>
                <a:ea typeface="Consolas" pitchFamily="34" charset="-122"/>
                <a:cs typeface="Consolas" pitchFamily="34" charset="-120"/>
              </a:rPr>
              <a:t>"coach"</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3A857"/>
                </a:solidFill>
                <a:latin typeface="Consolas" pitchFamily="34" charset="0"/>
                <a:ea typeface="Consolas" pitchFamily="34" charset="-122"/>
                <a:cs typeface="Consolas" pitchFamily="34" charset="-120"/>
              </a:rPr>
              <a:t>else</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query</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select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Performance</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where</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Performance</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user_id</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user</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id</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3A857"/>
                </a:solidFill>
                <a:latin typeface="Consolas" pitchFamily="34" charset="0"/>
                <a:ea typeface="Consolas" pitchFamily="34" charset="-122"/>
                <a:cs typeface="Consolas" pitchFamily="34" charset="-120"/>
              </a:rPr>
              <a:t>return</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db</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scalars</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query</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order_by</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Performance</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recorded_at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desc</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all</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EDE3E8"/>
                </a:solidFill>
                <a:latin typeface="Consolas" pitchFamily="34" charset="0"/>
                <a:ea typeface="Consolas" pitchFamily="34" charset="-122"/>
                <a:cs typeface="Consolas" pitchFamily="34" charset="-120"/>
              </a:rPr>
              <a: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t"/>
          <a:lstStyle/>
          <a:p>
            <a:pPr indent="0" marL="0">
              <a:buNone/>
            </a:pPr>
            <a:r>
              <a:rPr lang="en-US" sz="1200" b="1" spc="300" kern="0" dirty="0">
                <a:solidFill>
                  <a:srgbClr val="7A4A12"/>
                </a:solidFill>
                <a:latin typeface="Calibri" pitchFamily="34" charset="0"/>
                <a:ea typeface="Calibri" pitchFamily="34" charset="-122"/>
                <a:cs typeface="Calibri" pitchFamily="34" charset="-120"/>
              </a:rPr>
              <a:t>QUALITÉ &amp; FINITIONS</a:t>
            </a:r>
            <a:endParaRPr lang="en-US" sz="1200" dirty="0"/>
          </a:p>
        </p:txBody>
      </p:sp>
      <p:sp>
        <p:nvSpPr>
          <p:cNvPr id="3" name="Text 1"/>
          <p:cNvSpPr txBox="1"/>
          <p:nvPr/>
        </p:nvSpPr>
        <p:spPr>
          <a:xfrm>
            <a:off x="548640" y="694944"/>
            <a:ext cx="11064240" cy="685800"/>
          </a:xfrm>
          <a:prstGeom prst="rect">
            <a:avLst/>
          </a:prstGeom>
          <a:noFill/>
          <a:ln/>
        </p:spPr>
        <p:txBody>
          <a:bodyPr wrap="square" lIns="0" tIns="0" rIns="0" bIns="0" rtlCol="0" anchor="t"/>
          <a:lstStyle/>
          <a:p>
            <a:pPr indent="0" marL="0">
              <a:buNone/>
            </a:pPr>
            <a:r>
              <a:rPr lang="en-US" sz="3400" b="1" dirty="0">
                <a:solidFill>
                  <a:srgbClr val="241820"/>
                </a:solidFill>
                <a:latin typeface="Calibri" pitchFamily="34" charset="0"/>
                <a:ea typeface="Calibri" pitchFamily="34" charset="-122"/>
                <a:cs typeface="Calibri" pitchFamily="34" charset="-120"/>
              </a:rPr>
              <a:t>Pensée pour le téléphone, vérifiée par des tests</a:t>
            </a:r>
            <a:endParaRPr lang="en-US" sz="3400" dirty="0"/>
          </a:p>
        </p:txBody>
      </p:sp>
      <p:sp>
        <p:nvSpPr>
          <p:cNvPr id="4" name="Text 2"/>
          <p:cNvSpPr txBox="1"/>
          <p:nvPr/>
        </p:nvSpPr>
        <p:spPr>
          <a:xfrm>
            <a:off x="548640" y="6419088"/>
            <a:ext cx="2743200" cy="256032"/>
          </a:xfrm>
          <a:prstGeom prst="rect">
            <a:avLst/>
          </a:prstGeom>
          <a:noFill/>
          <a:ln/>
        </p:spPr>
        <p:txBody>
          <a:bodyPr wrap="square" lIns="0" tIns="0" rIns="0" bIns="0" rtlCol="0" anchor="t"/>
          <a:lstStyle/>
          <a:p>
            <a:pPr indent="0" marL="0">
              <a:buNone/>
            </a:pPr>
            <a:r>
              <a:rPr lang="en-US" sz="1000" dirty="0">
                <a:solidFill>
                  <a:srgbClr val="A08C96"/>
                </a:solidFill>
                <a:latin typeface="Calibri" pitchFamily="34" charset="0"/>
                <a:ea typeface="Calibri" pitchFamily="34" charset="-122"/>
                <a:cs typeface="Calibri" pitchFamily="34" charset="-120"/>
              </a:rPr>
              <a:t>SportPlan</a:t>
            </a:r>
            <a:endParaRPr lang="en-US" sz="1000" dirty="0"/>
          </a:p>
        </p:txBody>
      </p:sp>
      <p:sp>
        <p:nvSpPr>
          <p:cNvPr id="5" name="Text 3"/>
          <p:cNvSpPr txBox="1"/>
          <p:nvPr/>
        </p:nvSpPr>
        <p:spPr>
          <a:xfrm>
            <a:off x="10725912" y="6419088"/>
            <a:ext cx="914400" cy="256032"/>
          </a:xfrm>
          <a:prstGeom prst="rect">
            <a:avLst/>
          </a:prstGeom>
          <a:noFill/>
          <a:ln/>
        </p:spPr>
        <p:txBody>
          <a:bodyPr wrap="square" lIns="0" tIns="0" rIns="0" bIns="0" rtlCol="0" anchor="t"/>
          <a:lstStyle/>
          <a:p>
            <a:pPr algn="r" indent="0" marL="0">
              <a:buNone/>
            </a:pPr>
            <a:r>
              <a:rPr lang="en-US" sz="1000" dirty="0">
                <a:solidFill>
                  <a:srgbClr val="A08C96"/>
                </a:solidFill>
                <a:latin typeface="Calibri" pitchFamily="34" charset="0"/>
                <a:ea typeface="Calibri" pitchFamily="34" charset="-122"/>
                <a:cs typeface="Calibri" pitchFamily="34" charset="-120"/>
              </a:rPr>
              <a:t>12</a:t>
            </a:r>
            <a:endParaRPr lang="en-US" sz="1000" dirty="0"/>
          </a:p>
        </p:txBody>
      </p:sp>
      <p:sp>
        <p:nvSpPr>
          <p:cNvPr id="6" name="Shape 4"/>
          <p:cNvSpPr/>
          <p:nvPr/>
        </p:nvSpPr>
        <p:spPr>
          <a:xfrm>
            <a:off x="548640" y="1600200"/>
            <a:ext cx="2139696" cy="4297680"/>
          </a:xfrm>
          <a:prstGeom prst="roundRect">
            <a:avLst>
              <a:gd name="adj" fmla="val 3419"/>
            </a:avLst>
          </a:prstGeom>
          <a:solidFill>
            <a:srgbClr val="FFFFFF"/>
          </a:solidFill>
          <a:ln w="9525">
            <a:solidFill>
              <a:srgbClr val="E6D8DE"/>
            </a:solidFill>
            <a:prstDash val="solid"/>
          </a:ln>
          <a:effectLst>
            <a:outerShdw sx="100000" sy="100000" kx="0" ky="0" algn="bl" rotWithShape="0" blurRad="177800" dist="38100" dir="5400000">
              <a:srgbClr val="000000">
                <a:alpha val="16000"/>
              </a:srgbClr>
            </a:outerShdw>
          </a:effectLst>
        </p:spPr>
      </p:sp>
      <p:pic>
        <p:nvPicPr>
          <p:cNvPr id="7" name="Image 0" descr="img/mobile-dashboard.png">    </p:cNvPr>
          <p:cNvPicPr>
            <a:picLocks noChangeAspect="1"/>
          </p:cNvPicPr>
          <p:nvPr/>
        </p:nvPicPr>
        <p:blipFill>
          <a:blip r:embed="rId1"/>
          <a:stretch>
            <a:fillRect/>
          </a:stretch>
        </p:blipFill>
        <p:spPr>
          <a:xfrm>
            <a:off x="548640" y="1600200"/>
            <a:ext cx="2139696" cy="4297680"/>
          </a:xfrm>
          <a:prstGeom prst="rect">
            <a:avLst/>
          </a:prstGeom>
        </p:spPr>
      </p:pic>
      <p:sp>
        <p:nvSpPr>
          <p:cNvPr id="8" name="Shape 5"/>
          <p:cNvSpPr/>
          <p:nvPr/>
        </p:nvSpPr>
        <p:spPr>
          <a:xfrm>
            <a:off x="3008376" y="1600200"/>
            <a:ext cx="2139696" cy="4297680"/>
          </a:xfrm>
          <a:prstGeom prst="roundRect">
            <a:avLst>
              <a:gd name="adj" fmla="val 3419"/>
            </a:avLst>
          </a:prstGeom>
          <a:solidFill>
            <a:srgbClr val="FFFFFF"/>
          </a:solidFill>
          <a:ln w="9525">
            <a:solidFill>
              <a:srgbClr val="E6D8DE"/>
            </a:solidFill>
            <a:prstDash val="solid"/>
          </a:ln>
          <a:effectLst>
            <a:outerShdw sx="100000" sy="100000" kx="0" ky="0" algn="bl" rotWithShape="0" blurRad="177800" dist="38100" dir="5400000">
              <a:srgbClr val="000000">
                <a:alpha val="16000"/>
              </a:srgbClr>
            </a:outerShdw>
          </a:effectLst>
        </p:spPr>
      </p:sp>
      <p:pic>
        <p:nvPicPr>
          <p:cNvPr id="9" name="Image 1" descr="img/mobile-menu.png">    </p:cNvPr>
          <p:cNvPicPr>
            <a:picLocks noChangeAspect="1"/>
          </p:cNvPicPr>
          <p:nvPr/>
        </p:nvPicPr>
        <p:blipFill>
          <a:blip r:embed="rId2"/>
          <a:stretch>
            <a:fillRect/>
          </a:stretch>
        </p:blipFill>
        <p:spPr>
          <a:xfrm>
            <a:off x="3008376" y="1600200"/>
            <a:ext cx="2139696" cy="4297680"/>
          </a:xfrm>
          <a:prstGeom prst="rect">
            <a:avLst/>
          </a:prstGeom>
        </p:spPr>
      </p:pic>
      <p:sp>
        <p:nvSpPr>
          <p:cNvPr id="10" name="Shape 6"/>
          <p:cNvSpPr/>
          <p:nvPr/>
        </p:nvSpPr>
        <p:spPr>
          <a:xfrm>
            <a:off x="5440680" y="1600200"/>
            <a:ext cx="1965960" cy="1234440"/>
          </a:xfrm>
          <a:prstGeom prst="roundRect">
            <a:avLst>
              <a:gd name="adj" fmla="val 10370"/>
            </a:avLst>
          </a:prstGeom>
          <a:solidFill>
            <a:srgbClr val="F6EDF1"/>
          </a:solidFill>
          <a:ln w="12700">
            <a:solidFill>
              <a:srgbClr val="F6EDF1"/>
            </a:solidFill>
            <a:prstDash val="solid"/>
          </a:ln>
        </p:spPr>
      </p:sp>
      <p:sp>
        <p:nvSpPr>
          <p:cNvPr id="11" name="Shape 7"/>
          <p:cNvSpPr/>
          <p:nvPr/>
        </p:nvSpPr>
        <p:spPr>
          <a:xfrm>
            <a:off x="5623560" y="1764792"/>
            <a:ext cx="457200" cy="457200"/>
          </a:xfrm>
          <a:prstGeom prst="roundRect">
            <a:avLst>
              <a:gd name="adj" fmla="val 28000"/>
            </a:avLst>
          </a:prstGeom>
          <a:solidFill>
            <a:srgbClr val="FFFFFF"/>
          </a:solidFill>
          <a:ln w="12700">
            <a:solidFill>
              <a:srgbClr val="FFFFFF"/>
            </a:solidFill>
            <a:prstDash val="solid"/>
          </a:ln>
        </p:spPr>
      </p:sp>
      <p:pic>
        <p:nvPicPr>
          <p:cNvPr id="12" name="Image 2" descr="preencoded.png">    </p:cNvPr>
          <p:cNvPicPr>
            <a:picLocks noChangeAspect="1"/>
          </p:cNvPicPr>
          <p:nvPr/>
        </p:nvPicPr>
        <p:blipFill>
          <a:blip r:embed="rId3"/>
          <a:stretch>
            <a:fillRect/>
          </a:stretch>
        </p:blipFill>
        <p:spPr>
          <a:xfrm>
            <a:off x="5733288" y="1874520"/>
            <a:ext cx="237744" cy="237744"/>
          </a:xfrm>
          <a:prstGeom prst="rect">
            <a:avLst/>
          </a:prstGeom>
        </p:spPr>
      </p:pic>
      <p:sp>
        <p:nvSpPr>
          <p:cNvPr id="13" name="Text 8"/>
          <p:cNvSpPr txBox="1"/>
          <p:nvPr/>
        </p:nvSpPr>
        <p:spPr>
          <a:xfrm>
            <a:off x="5623560" y="2286000"/>
            <a:ext cx="1737360" cy="274320"/>
          </a:xfrm>
          <a:prstGeom prst="rect">
            <a:avLst/>
          </a:prstGeom>
          <a:noFill/>
          <a:ln/>
        </p:spPr>
        <p:txBody>
          <a:bodyPr wrap="square" lIns="0" tIns="0" rIns="0" bIns="0" rtlCol="0" anchor="t"/>
          <a:lstStyle/>
          <a:p>
            <a:pPr indent="0" marL="0">
              <a:buNone/>
            </a:pPr>
            <a:r>
              <a:rPr lang="en-US" sz="1450" b="1" dirty="0">
                <a:solidFill>
                  <a:srgbClr val="241820"/>
                </a:solidFill>
                <a:latin typeface="Calibri" pitchFamily="34" charset="0"/>
                <a:ea typeface="Calibri" pitchFamily="34" charset="-122"/>
                <a:cs typeface="Calibri" pitchFamily="34" charset="-120"/>
              </a:rPr>
              <a:t>Mobile &amp; PWA</a:t>
            </a:r>
            <a:endParaRPr lang="en-US" sz="1450" dirty="0"/>
          </a:p>
        </p:txBody>
      </p:sp>
      <p:sp>
        <p:nvSpPr>
          <p:cNvPr id="14" name="Text 9"/>
          <p:cNvSpPr txBox="1"/>
          <p:nvPr/>
        </p:nvSpPr>
        <p:spPr>
          <a:xfrm>
            <a:off x="5623560" y="2542032"/>
            <a:ext cx="1737360" cy="256032"/>
          </a:xfrm>
          <a:prstGeom prst="rect">
            <a:avLst/>
          </a:prstGeom>
          <a:noFill/>
          <a:ln/>
        </p:spPr>
        <p:txBody>
          <a:bodyPr wrap="square" lIns="0" tIns="0" rIns="0" bIns="0" rtlCol="0" anchor="t"/>
          <a:lstStyle/>
          <a:p>
            <a:pPr indent="0" marL="0">
              <a:buNone/>
            </a:pPr>
            <a:r>
              <a:rPr lang="en-US" sz="1150" dirty="0">
                <a:solidFill>
                  <a:srgbClr val="6A5660"/>
                </a:solidFill>
                <a:latin typeface="Calibri" pitchFamily="34" charset="0"/>
                <a:ea typeface="Calibri" pitchFamily="34" charset="-122"/>
                <a:cs typeface="Calibri" pitchFamily="34" charset="-120"/>
              </a:rPr>
              <a:t>Installable, Z Fold, tablettes</a:t>
            </a:r>
            <a:endParaRPr lang="en-US" sz="1150" dirty="0"/>
          </a:p>
        </p:txBody>
      </p:sp>
      <p:sp>
        <p:nvSpPr>
          <p:cNvPr id="15" name="Shape 10"/>
          <p:cNvSpPr/>
          <p:nvPr/>
        </p:nvSpPr>
        <p:spPr>
          <a:xfrm>
            <a:off x="7534656" y="1600200"/>
            <a:ext cx="1965960" cy="1234440"/>
          </a:xfrm>
          <a:prstGeom prst="roundRect">
            <a:avLst>
              <a:gd name="adj" fmla="val 10370"/>
            </a:avLst>
          </a:prstGeom>
          <a:solidFill>
            <a:srgbClr val="F6EDF1"/>
          </a:solidFill>
          <a:ln w="12700">
            <a:solidFill>
              <a:srgbClr val="F6EDF1"/>
            </a:solidFill>
            <a:prstDash val="solid"/>
          </a:ln>
        </p:spPr>
      </p:sp>
      <p:sp>
        <p:nvSpPr>
          <p:cNvPr id="16" name="Shape 11"/>
          <p:cNvSpPr/>
          <p:nvPr/>
        </p:nvSpPr>
        <p:spPr>
          <a:xfrm>
            <a:off x="7717536" y="1764792"/>
            <a:ext cx="457200" cy="457200"/>
          </a:xfrm>
          <a:prstGeom prst="roundRect">
            <a:avLst>
              <a:gd name="adj" fmla="val 28000"/>
            </a:avLst>
          </a:prstGeom>
          <a:solidFill>
            <a:srgbClr val="FFFFFF"/>
          </a:solidFill>
          <a:ln w="12700">
            <a:solidFill>
              <a:srgbClr val="FFFFFF"/>
            </a:solidFill>
            <a:prstDash val="solid"/>
          </a:ln>
        </p:spPr>
      </p:sp>
      <p:pic>
        <p:nvPicPr>
          <p:cNvPr id="17" name="Image 3" descr="preencoded.png">    </p:cNvPr>
          <p:cNvPicPr>
            <a:picLocks noChangeAspect="1"/>
          </p:cNvPicPr>
          <p:nvPr/>
        </p:nvPicPr>
        <p:blipFill>
          <a:blip r:embed="rId4"/>
          <a:stretch>
            <a:fillRect/>
          </a:stretch>
        </p:blipFill>
        <p:spPr>
          <a:xfrm>
            <a:off x="7827264" y="1874520"/>
            <a:ext cx="237744" cy="237744"/>
          </a:xfrm>
          <a:prstGeom prst="rect">
            <a:avLst/>
          </a:prstGeom>
        </p:spPr>
      </p:pic>
      <p:sp>
        <p:nvSpPr>
          <p:cNvPr id="18" name="Text 12"/>
          <p:cNvSpPr txBox="1"/>
          <p:nvPr/>
        </p:nvSpPr>
        <p:spPr>
          <a:xfrm>
            <a:off x="7717536" y="2286000"/>
            <a:ext cx="1737360" cy="274320"/>
          </a:xfrm>
          <a:prstGeom prst="rect">
            <a:avLst/>
          </a:prstGeom>
          <a:noFill/>
          <a:ln/>
        </p:spPr>
        <p:txBody>
          <a:bodyPr wrap="square" lIns="0" tIns="0" rIns="0" bIns="0" rtlCol="0" anchor="t"/>
          <a:lstStyle/>
          <a:p>
            <a:pPr indent="0" marL="0">
              <a:buNone/>
            </a:pPr>
            <a:r>
              <a:rPr lang="en-US" sz="1450" b="1" dirty="0">
                <a:solidFill>
                  <a:srgbClr val="241820"/>
                </a:solidFill>
                <a:latin typeface="Calibri" pitchFamily="34" charset="0"/>
                <a:ea typeface="Calibri" pitchFamily="34" charset="-122"/>
                <a:cs typeface="Calibri" pitchFamily="34" charset="-120"/>
              </a:rPr>
              <a:t>Thème sombre</a:t>
            </a:r>
            <a:endParaRPr lang="en-US" sz="1450" dirty="0"/>
          </a:p>
        </p:txBody>
      </p:sp>
      <p:sp>
        <p:nvSpPr>
          <p:cNvPr id="19" name="Text 13"/>
          <p:cNvSpPr txBox="1"/>
          <p:nvPr/>
        </p:nvSpPr>
        <p:spPr>
          <a:xfrm>
            <a:off x="7717536" y="2542032"/>
            <a:ext cx="1737360" cy="256032"/>
          </a:xfrm>
          <a:prstGeom prst="rect">
            <a:avLst/>
          </a:prstGeom>
          <a:noFill/>
          <a:ln/>
        </p:spPr>
        <p:txBody>
          <a:bodyPr wrap="square" lIns="0" tIns="0" rIns="0" bIns="0" rtlCol="0" anchor="t"/>
          <a:lstStyle/>
          <a:p>
            <a:pPr indent="0" marL="0">
              <a:buNone/>
            </a:pPr>
            <a:r>
              <a:rPr lang="en-US" sz="1150" dirty="0">
                <a:solidFill>
                  <a:srgbClr val="6A5660"/>
                </a:solidFill>
                <a:latin typeface="Calibri" pitchFamily="34" charset="0"/>
                <a:ea typeface="Calibri" pitchFamily="34" charset="-122"/>
                <a:cs typeface="Calibri" pitchFamily="34" charset="-120"/>
              </a:rPr>
              <a:t>Bascule clair / sombre</a:t>
            </a:r>
            <a:endParaRPr lang="en-US" sz="1150" dirty="0"/>
          </a:p>
        </p:txBody>
      </p:sp>
      <p:sp>
        <p:nvSpPr>
          <p:cNvPr id="20" name="Shape 14"/>
          <p:cNvSpPr/>
          <p:nvPr/>
        </p:nvSpPr>
        <p:spPr>
          <a:xfrm>
            <a:off x="9628632" y="1600200"/>
            <a:ext cx="1965960" cy="1234440"/>
          </a:xfrm>
          <a:prstGeom prst="roundRect">
            <a:avLst>
              <a:gd name="adj" fmla="val 10370"/>
            </a:avLst>
          </a:prstGeom>
          <a:solidFill>
            <a:srgbClr val="F6EDF1"/>
          </a:solidFill>
          <a:ln w="12700">
            <a:solidFill>
              <a:srgbClr val="F6EDF1"/>
            </a:solidFill>
            <a:prstDash val="solid"/>
          </a:ln>
        </p:spPr>
      </p:sp>
      <p:sp>
        <p:nvSpPr>
          <p:cNvPr id="21" name="Shape 15"/>
          <p:cNvSpPr/>
          <p:nvPr/>
        </p:nvSpPr>
        <p:spPr>
          <a:xfrm>
            <a:off x="9811512" y="1764792"/>
            <a:ext cx="457200" cy="457200"/>
          </a:xfrm>
          <a:prstGeom prst="roundRect">
            <a:avLst>
              <a:gd name="adj" fmla="val 28000"/>
            </a:avLst>
          </a:prstGeom>
          <a:solidFill>
            <a:srgbClr val="FFFFFF"/>
          </a:solidFill>
          <a:ln w="12700">
            <a:solidFill>
              <a:srgbClr val="FFFFFF"/>
            </a:solidFill>
            <a:prstDash val="solid"/>
          </a:ln>
        </p:spPr>
      </p:sp>
      <p:pic>
        <p:nvPicPr>
          <p:cNvPr id="22" name="Image 4" descr="preencoded.png">    </p:cNvPr>
          <p:cNvPicPr>
            <a:picLocks noChangeAspect="1"/>
          </p:cNvPicPr>
          <p:nvPr/>
        </p:nvPicPr>
        <p:blipFill>
          <a:blip r:embed="rId5"/>
          <a:stretch>
            <a:fillRect/>
          </a:stretch>
        </p:blipFill>
        <p:spPr>
          <a:xfrm>
            <a:off x="9921240" y="1874520"/>
            <a:ext cx="237744" cy="237744"/>
          </a:xfrm>
          <a:prstGeom prst="rect">
            <a:avLst/>
          </a:prstGeom>
        </p:spPr>
      </p:pic>
      <p:sp>
        <p:nvSpPr>
          <p:cNvPr id="23" name="Text 16"/>
          <p:cNvSpPr txBox="1"/>
          <p:nvPr/>
        </p:nvSpPr>
        <p:spPr>
          <a:xfrm>
            <a:off x="9811512" y="2286000"/>
            <a:ext cx="1737360" cy="274320"/>
          </a:xfrm>
          <a:prstGeom prst="rect">
            <a:avLst/>
          </a:prstGeom>
          <a:noFill/>
          <a:ln/>
        </p:spPr>
        <p:txBody>
          <a:bodyPr wrap="square" lIns="0" tIns="0" rIns="0" bIns="0" rtlCol="0" anchor="t"/>
          <a:lstStyle/>
          <a:p>
            <a:pPr indent="0" marL="0">
              <a:buNone/>
            </a:pPr>
            <a:r>
              <a:rPr lang="en-US" sz="1450" b="1" dirty="0">
                <a:solidFill>
                  <a:srgbClr val="241820"/>
                </a:solidFill>
                <a:latin typeface="Calibri" pitchFamily="34" charset="0"/>
                <a:ea typeface="Calibri" pitchFamily="34" charset="-122"/>
                <a:cs typeface="Calibri" pitchFamily="34" charset="-120"/>
              </a:rPr>
              <a:t>Accessibilité</a:t>
            </a:r>
            <a:endParaRPr lang="en-US" sz="1450" dirty="0"/>
          </a:p>
        </p:txBody>
      </p:sp>
      <p:sp>
        <p:nvSpPr>
          <p:cNvPr id="24" name="Text 17"/>
          <p:cNvSpPr txBox="1"/>
          <p:nvPr/>
        </p:nvSpPr>
        <p:spPr>
          <a:xfrm>
            <a:off x="9811512" y="2542032"/>
            <a:ext cx="1737360" cy="256032"/>
          </a:xfrm>
          <a:prstGeom prst="rect">
            <a:avLst/>
          </a:prstGeom>
          <a:noFill/>
          <a:ln/>
        </p:spPr>
        <p:txBody>
          <a:bodyPr wrap="square" lIns="0" tIns="0" rIns="0" bIns="0" rtlCol="0" anchor="t"/>
          <a:lstStyle/>
          <a:p>
            <a:pPr indent="0" marL="0">
              <a:buNone/>
            </a:pPr>
            <a:r>
              <a:rPr lang="en-US" sz="1150" dirty="0">
                <a:solidFill>
                  <a:srgbClr val="6A5660"/>
                </a:solidFill>
                <a:latin typeface="Calibri" pitchFamily="34" charset="0"/>
                <a:ea typeface="Calibri" pitchFamily="34" charset="-122"/>
                <a:cs typeface="Calibri" pitchFamily="34" charset="-120"/>
              </a:rPr>
              <a:t>WCAG 2.2 AA, clavier</a:t>
            </a:r>
            <a:endParaRPr lang="en-US" sz="1150" dirty="0"/>
          </a:p>
        </p:txBody>
      </p:sp>
      <p:sp>
        <p:nvSpPr>
          <p:cNvPr id="25" name="Text 18"/>
          <p:cNvSpPr txBox="1"/>
          <p:nvPr/>
        </p:nvSpPr>
        <p:spPr>
          <a:xfrm>
            <a:off x="5440680" y="3063240"/>
            <a:ext cx="2011680" cy="640080"/>
          </a:xfrm>
          <a:prstGeom prst="rect">
            <a:avLst/>
          </a:prstGeom>
          <a:noFill/>
          <a:ln/>
        </p:spPr>
        <p:txBody>
          <a:bodyPr wrap="square" lIns="0" tIns="0" rIns="0" bIns="0" rtlCol="0" anchor="t"/>
          <a:lstStyle/>
          <a:p>
            <a:pPr indent="0" marL="0">
              <a:buNone/>
            </a:pPr>
            <a:r>
              <a:rPr lang="en-US" sz="3600" b="1" dirty="0">
                <a:solidFill>
                  <a:srgbClr val="9C2F68"/>
                </a:solidFill>
                <a:latin typeface="Calibri" pitchFamily="34" charset="0"/>
                <a:ea typeface="Calibri" pitchFamily="34" charset="-122"/>
                <a:cs typeface="Calibri" pitchFamily="34" charset="-120"/>
              </a:rPr>
              <a:t>103/103</a:t>
            </a:r>
            <a:endParaRPr lang="en-US" sz="3600" dirty="0"/>
          </a:p>
        </p:txBody>
      </p:sp>
      <p:sp>
        <p:nvSpPr>
          <p:cNvPr id="26" name="Text 19"/>
          <p:cNvSpPr txBox="1"/>
          <p:nvPr/>
        </p:nvSpPr>
        <p:spPr>
          <a:xfrm>
            <a:off x="5440680" y="3703320"/>
            <a:ext cx="2011680" cy="457200"/>
          </a:xfrm>
          <a:prstGeom prst="rect">
            <a:avLst/>
          </a:prstGeom>
          <a:noFill/>
          <a:ln/>
        </p:spPr>
        <p:txBody>
          <a:bodyPr wrap="square" lIns="0" tIns="0" rIns="0" bIns="0" rtlCol="0" anchor="t"/>
          <a:lstStyle/>
          <a:p>
            <a:pPr indent="0" marL="0">
              <a:buNone/>
            </a:pPr>
            <a:r>
              <a:rPr lang="en-US" sz="1200" dirty="0">
                <a:solidFill>
                  <a:srgbClr val="6A5660"/>
                </a:solidFill>
                <a:latin typeface="Calibri" pitchFamily="34" charset="0"/>
                <a:ea typeface="Calibri" pitchFamily="34" charset="-122"/>
                <a:cs typeface="Calibri" pitchFamily="34" charset="-120"/>
              </a:rPr>
              <a:t>tests backend (Pytest)</a:t>
            </a:r>
            <a:endParaRPr lang="en-US" sz="1200" dirty="0"/>
          </a:p>
        </p:txBody>
      </p:sp>
      <p:sp>
        <p:nvSpPr>
          <p:cNvPr id="27" name="Text 20"/>
          <p:cNvSpPr txBox="1"/>
          <p:nvPr/>
        </p:nvSpPr>
        <p:spPr>
          <a:xfrm>
            <a:off x="7534656" y="3063240"/>
            <a:ext cx="2011680" cy="640080"/>
          </a:xfrm>
          <a:prstGeom prst="rect">
            <a:avLst/>
          </a:prstGeom>
          <a:noFill/>
          <a:ln/>
        </p:spPr>
        <p:txBody>
          <a:bodyPr wrap="square" lIns="0" tIns="0" rIns="0" bIns="0" rtlCol="0" anchor="t"/>
          <a:lstStyle/>
          <a:p>
            <a:pPr indent="0" marL="0">
              <a:buNone/>
            </a:pPr>
            <a:r>
              <a:rPr lang="en-US" sz="3600" b="1" dirty="0">
                <a:solidFill>
                  <a:srgbClr val="9C2F68"/>
                </a:solidFill>
                <a:latin typeface="Calibri" pitchFamily="34" charset="0"/>
                <a:ea typeface="Calibri" pitchFamily="34" charset="-122"/>
                <a:cs typeface="Calibri" pitchFamily="34" charset="-120"/>
              </a:rPr>
              <a:t>62/62</a:t>
            </a:r>
            <a:endParaRPr lang="en-US" sz="3600" dirty="0"/>
          </a:p>
        </p:txBody>
      </p:sp>
      <p:sp>
        <p:nvSpPr>
          <p:cNvPr id="28" name="Text 21"/>
          <p:cNvSpPr txBox="1"/>
          <p:nvPr/>
        </p:nvSpPr>
        <p:spPr>
          <a:xfrm>
            <a:off x="7534656" y="3703320"/>
            <a:ext cx="2011680" cy="457200"/>
          </a:xfrm>
          <a:prstGeom prst="rect">
            <a:avLst/>
          </a:prstGeom>
          <a:noFill/>
          <a:ln/>
        </p:spPr>
        <p:txBody>
          <a:bodyPr wrap="square" lIns="0" tIns="0" rIns="0" bIns="0" rtlCol="0" anchor="t"/>
          <a:lstStyle/>
          <a:p>
            <a:pPr indent="0" marL="0">
              <a:buNone/>
            </a:pPr>
            <a:r>
              <a:rPr lang="en-US" sz="1200" dirty="0">
                <a:solidFill>
                  <a:srgbClr val="6A5660"/>
                </a:solidFill>
                <a:latin typeface="Calibri" pitchFamily="34" charset="0"/>
                <a:ea typeface="Calibri" pitchFamily="34" charset="-122"/>
                <a:cs typeface="Calibri" pitchFamily="34" charset="-120"/>
              </a:rPr>
              <a:t>tests frontend (Vitest)</a:t>
            </a:r>
            <a:endParaRPr lang="en-US" sz="1200" dirty="0"/>
          </a:p>
        </p:txBody>
      </p:sp>
      <p:sp>
        <p:nvSpPr>
          <p:cNvPr id="29" name="Text 22"/>
          <p:cNvSpPr txBox="1"/>
          <p:nvPr/>
        </p:nvSpPr>
        <p:spPr>
          <a:xfrm>
            <a:off x="9628632" y="3063240"/>
            <a:ext cx="2011680" cy="640080"/>
          </a:xfrm>
          <a:prstGeom prst="rect">
            <a:avLst/>
          </a:prstGeom>
          <a:noFill/>
          <a:ln/>
        </p:spPr>
        <p:txBody>
          <a:bodyPr wrap="square" lIns="0" tIns="0" rIns="0" bIns="0" rtlCol="0" anchor="t"/>
          <a:lstStyle/>
          <a:p>
            <a:pPr indent="0" marL="0">
              <a:buNone/>
            </a:pPr>
            <a:r>
              <a:rPr lang="en-US" sz="3600" b="1" dirty="0">
                <a:solidFill>
                  <a:srgbClr val="9C2F68"/>
                </a:solidFill>
                <a:latin typeface="Calibri" pitchFamily="34" charset="0"/>
                <a:ea typeface="Calibri" pitchFamily="34" charset="-122"/>
                <a:cs typeface="Calibri" pitchFamily="34" charset="-120"/>
              </a:rPr>
              <a:t>165</a:t>
            </a:r>
            <a:endParaRPr lang="en-US" sz="3600" dirty="0"/>
          </a:p>
        </p:txBody>
      </p:sp>
      <p:sp>
        <p:nvSpPr>
          <p:cNvPr id="30" name="Text 23"/>
          <p:cNvSpPr txBox="1"/>
          <p:nvPr/>
        </p:nvSpPr>
        <p:spPr>
          <a:xfrm>
            <a:off x="9628632" y="3703320"/>
            <a:ext cx="2011680" cy="457200"/>
          </a:xfrm>
          <a:prstGeom prst="rect">
            <a:avLst/>
          </a:prstGeom>
          <a:noFill/>
          <a:ln/>
        </p:spPr>
        <p:txBody>
          <a:bodyPr wrap="square" lIns="0" tIns="0" rIns="0" bIns="0" rtlCol="0" anchor="t"/>
          <a:lstStyle/>
          <a:p>
            <a:pPr indent="0" marL="0">
              <a:buNone/>
            </a:pPr>
            <a:r>
              <a:rPr lang="en-US" sz="1200" dirty="0">
                <a:solidFill>
                  <a:srgbClr val="6A5660"/>
                </a:solidFill>
                <a:latin typeface="Calibri" pitchFamily="34" charset="0"/>
                <a:ea typeface="Calibri" pitchFamily="34" charset="-122"/>
                <a:cs typeface="Calibri" pitchFamily="34" charset="-120"/>
              </a:rPr>
              <a:t>commits Git en 20 jours</a:t>
            </a:r>
            <a:endParaRPr lang="en-US" sz="1200" dirty="0"/>
          </a:p>
        </p:txBody>
      </p:sp>
      <p:sp>
        <p:nvSpPr>
          <p:cNvPr id="31" name="Shape 24"/>
          <p:cNvSpPr/>
          <p:nvPr/>
        </p:nvSpPr>
        <p:spPr>
          <a:xfrm>
            <a:off x="5440680" y="4343400"/>
            <a:ext cx="6199632" cy="1783080"/>
          </a:xfrm>
          <a:prstGeom prst="roundRect">
            <a:avLst>
              <a:gd name="adj" fmla="val 7179"/>
            </a:avLst>
          </a:prstGeom>
          <a:solidFill>
            <a:srgbClr val="1C1118"/>
          </a:solidFill>
          <a:ln w="12700">
            <a:solidFill>
              <a:srgbClr val="1C1118"/>
            </a:solidFill>
            <a:prstDash val="solid"/>
          </a:ln>
        </p:spPr>
      </p:sp>
      <p:sp>
        <p:nvSpPr>
          <p:cNvPr id="32" name="Text 25"/>
          <p:cNvSpPr txBox="1"/>
          <p:nvPr/>
        </p:nvSpPr>
        <p:spPr>
          <a:xfrm>
            <a:off x="5715000" y="4526280"/>
            <a:ext cx="4572000" cy="237744"/>
          </a:xfrm>
          <a:prstGeom prst="rect">
            <a:avLst/>
          </a:prstGeom>
          <a:noFill/>
          <a:ln/>
        </p:spPr>
        <p:txBody>
          <a:bodyPr wrap="square" lIns="0" tIns="0" rIns="0" bIns="0" rtlCol="0" anchor="t"/>
          <a:lstStyle/>
          <a:p>
            <a:pPr indent="0" marL="0">
              <a:buNone/>
            </a:pPr>
            <a:r>
              <a:rPr lang="en-US" sz="1050" b="1" spc="300" kern="0" dirty="0">
                <a:solidFill>
                  <a:srgbClr val="E3A857"/>
                </a:solidFill>
                <a:latin typeface="Calibri" pitchFamily="34" charset="0"/>
                <a:ea typeface="Calibri" pitchFamily="34" charset="-122"/>
                <a:cs typeface="Calibri" pitchFamily="34" charset="-120"/>
              </a:rPr>
              <a:t>DIFFICULTÉ RÉSOLUE</a:t>
            </a:r>
            <a:endParaRPr lang="en-US" sz="1050" dirty="0"/>
          </a:p>
        </p:txBody>
      </p:sp>
      <p:sp>
        <p:nvSpPr>
          <p:cNvPr id="33" name="Text 26"/>
          <p:cNvSpPr txBox="1"/>
          <p:nvPr/>
        </p:nvSpPr>
        <p:spPr>
          <a:xfrm>
            <a:off x="5715000" y="4818888"/>
            <a:ext cx="5715000" cy="566928"/>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Les textes accentués ressortaient abîmés : « Mobilité » devenait « MobilitÃ© ». Les colonnes étaient créées en VARCHAR (Windows-1252) au lieu de NVARCHAR.</a:t>
            </a:r>
            <a:endParaRPr lang="en-US" sz="1350" dirty="0"/>
          </a:p>
        </p:txBody>
      </p:sp>
      <p:sp>
        <p:nvSpPr>
          <p:cNvPr id="34" name="Text 27"/>
          <p:cNvSpPr txBox="1"/>
          <p:nvPr/>
        </p:nvSpPr>
        <p:spPr>
          <a:xfrm>
            <a:off x="5715000" y="5413248"/>
            <a:ext cx="5715000" cy="621792"/>
          </a:xfrm>
          <a:prstGeom prst="rect">
            <a:avLst/>
          </a:prstGeom>
          <a:noFill/>
          <a:ln/>
        </p:spPr>
        <p:txBody>
          <a:bodyPr wrap="square" lIns="0" tIns="0" rIns="0" bIns="0" rtlCol="0" anchor="t"/>
          <a:lstStyle/>
          <a:p>
            <a:pPr indent="0" marL="0">
              <a:buNone/>
            </a:pPr>
            <a:r>
              <a:rPr lang="en-US" sz="1250" b="1" dirty="0">
                <a:solidFill>
                  <a:srgbClr val="E3A857"/>
                </a:solidFill>
                <a:latin typeface="Calibri" pitchFamily="34" charset="0"/>
                <a:ea typeface="Calibri" pitchFamily="34" charset="-122"/>
                <a:cs typeface="Calibri" pitchFamily="34" charset="-120"/>
              </a:rPr>
              <a:t>Solution : </a:t>
            </a:r>
            <a:pPr indent="0" marL="0">
              <a:buNone/>
            </a:pPr>
            <a:r>
              <a:rPr lang="en-US" sz="1250" dirty="0">
                <a:solidFill>
                  <a:srgbClr val="D9C7CD"/>
                </a:solidFill>
                <a:latin typeface="Calibri" pitchFamily="34" charset="0"/>
                <a:ea typeface="Calibri" pitchFamily="34" charset="-122"/>
                <a:cs typeface="Calibri" pitchFamily="34" charset="-120"/>
              </a:rPr>
              <a:t>colonnes passées en Unicode / UnicodeText (NVARCHAR sous SQL Server), schéma recréé et données rechargées avec seed.py.</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C1118"/>
        </a:solidFill>
      </p:bgPr>
    </p:bg>
    <p:spTree>
      <p:nvGrpSpPr>
        <p:cNvPr id="1" name=""/>
        <p:cNvGrpSpPr/>
        <p:nvPr/>
      </p:nvGrpSpPr>
      <p:grpSpPr>
        <a:xfrm>
          <a:off x="0" y="0"/>
          <a:ext cx="0" cy="0"/>
          <a:chOff x="0" y="0"/>
          <a:chExt cx="0" cy="0"/>
        </a:xfrm>
      </p:grpSpPr>
      <p:sp>
        <p:nvSpPr>
          <p:cNvPr id="2" name="Text 0"/>
          <p:cNvSpPr txBox="1"/>
          <p:nvPr/>
        </p:nvSpPr>
        <p:spPr>
          <a:xfrm>
            <a:off x="548640" y="6419088"/>
            <a:ext cx="2743200" cy="256032"/>
          </a:xfrm>
          <a:prstGeom prst="rect">
            <a:avLst/>
          </a:prstGeom>
          <a:noFill/>
          <a:ln/>
        </p:spPr>
        <p:txBody>
          <a:bodyPr wrap="square" lIns="0" tIns="0" rIns="0" bIns="0" rtlCol="0" anchor="t"/>
          <a:lstStyle/>
          <a:p>
            <a:pPr indent="0" marL="0">
              <a:buNone/>
            </a:pPr>
            <a:r>
              <a:rPr lang="en-US" sz="1000" dirty="0">
                <a:solidFill>
                  <a:srgbClr val="8C7480"/>
                </a:solidFill>
                <a:latin typeface="Calibri" pitchFamily="34" charset="0"/>
                <a:ea typeface="Calibri" pitchFamily="34" charset="-122"/>
                <a:cs typeface="Calibri" pitchFamily="34" charset="-120"/>
              </a:rPr>
              <a:t>SportPlan</a:t>
            </a:r>
            <a:endParaRPr lang="en-US" sz="1000" dirty="0"/>
          </a:p>
        </p:txBody>
      </p:sp>
      <p:sp>
        <p:nvSpPr>
          <p:cNvPr id="3" name="Text 1"/>
          <p:cNvSpPr txBox="1"/>
          <p:nvPr/>
        </p:nvSpPr>
        <p:spPr>
          <a:xfrm>
            <a:off x="10725912" y="6419088"/>
            <a:ext cx="914400" cy="256032"/>
          </a:xfrm>
          <a:prstGeom prst="rect">
            <a:avLst/>
          </a:prstGeom>
          <a:noFill/>
          <a:ln/>
        </p:spPr>
        <p:txBody>
          <a:bodyPr wrap="square" lIns="0" tIns="0" rIns="0" bIns="0" rtlCol="0" anchor="t"/>
          <a:lstStyle/>
          <a:p>
            <a:pPr algn="r" indent="0" marL="0">
              <a:buNone/>
            </a:pPr>
            <a:r>
              <a:rPr lang="en-US" sz="1000" dirty="0">
                <a:solidFill>
                  <a:srgbClr val="8C7480"/>
                </a:solidFill>
                <a:latin typeface="Calibri" pitchFamily="34" charset="0"/>
                <a:ea typeface="Calibri" pitchFamily="34" charset="-122"/>
                <a:cs typeface="Calibri" pitchFamily="34" charset="-120"/>
              </a:rPr>
              <a:t>13</a:t>
            </a:r>
            <a:endParaRPr lang="en-US" sz="1000" dirty="0"/>
          </a:p>
        </p:txBody>
      </p:sp>
      <p:sp>
        <p:nvSpPr>
          <p:cNvPr id="4" name="Text 2"/>
          <p:cNvSpPr txBox="1"/>
          <p:nvPr/>
        </p:nvSpPr>
        <p:spPr>
          <a:xfrm>
            <a:off x="548640" y="731520"/>
            <a:ext cx="5486400" cy="274320"/>
          </a:xfrm>
          <a:prstGeom prst="rect">
            <a:avLst/>
          </a:prstGeom>
          <a:noFill/>
          <a:ln/>
        </p:spPr>
        <p:txBody>
          <a:bodyPr wrap="square" lIns="0" tIns="0" rIns="0" bIns="0" rtlCol="0" anchor="t"/>
          <a:lstStyle/>
          <a:p>
            <a:pPr indent="0" marL="0">
              <a:buNone/>
            </a:pPr>
            <a:r>
              <a:rPr lang="en-US" sz="1200" b="1" spc="300" kern="0" dirty="0">
                <a:solidFill>
                  <a:srgbClr val="E3A857"/>
                </a:solidFill>
                <a:latin typeface="Calibri" pitchFamily="34" charset="0"/>
                <a:ea typeface="Calibri" pitchFamily="34" charset="-122"/>
                <a:cs typeface="Calibri" pitchFamily="34" charset="-120"/>
              </a:rPr>
              <a:t>CONCLUSION</a:t>
            </a:r>
            <a:endParaRPr lang="en-US" sz="1200" dirty="0"/>
          </a:p>
        </p:txBody>
      </p:sp>
      <p:sp>
        <p:nvSpPr>
          <p:cNvPr id="5" name="Text 3"/>
          <p:cNvSpPr txBox="1"/>
          <p:nvPr/>
        </p:nvSpPr>
        <p:spPr>
          <a:xfrm>
            <a:off x="548640" y="1051560"/>
            <a:ext cx="6126480" cy="118872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Un suivi sportif centralisé,</a:t>
            </a:r>
            <a:endParaRPr lang="en-US" sz="3400" dirty="0"/>
          </a:p>
          <a:p>
            <a:pPr indent="0" marL="0">
              <a:buNone/>
            </a:pPr>
            <a:r>
              <a:rPr lang="en-US" sz="3400" b="1" dirty="0">
                <a:solidFill>
                  <a:srgbClr val="FFFFFF"/>
                </a:solidFill>
                <a:latin typeface="Calibri" pitchFamily="34" charset="0"/>
                <a:ea typeface="Calibri" pitchFamily="34" charset="-122"/>
                <a:cs typeface="Calibri" pitchFamily="34" charset="-120"/>
              </a:rPr>
              <a:t>de bout en bout</a:t>
            </a:r>
            <a:endParaRPr lang="en-US" sz="3400" dirty="0"/>
          </a:p>
        </p:txBody>
      </p:sp>
      <p:sp>
        <p:nvSpPr>
          <p:cNvPr id="6" name="Text 4"/>
          <p:cNvSpPr txBox="1"/>
          <p:nvPr/>
        </p:nvSpPr>
        <p:spPr>
          <a:xfrm>
            <a:off x="548640" y="2468880"/>
            <a:ext cx="5943600" cy="914400"/>
          </a:xfrm>
          <a:prstGeom prst="rect">
            <a:avLst/>
          </a:prstGeom>
          <a:noFill/>
          <a:ln/>
        </p:spPr>
        <p:txBody>
          <a:bodyPr wrap="square" lIns="0" tIns="0" rIns="0" bIns="0" rtlCol="0" anchor="t"/>
          <a:lstStyle/>
          <a:p>
            <a:pPr indent="0" marL="0">
              <a:buNone/>
            </a:pPr>
            <a:r>
              <a:rPr lang="en-US" sz="1600" dirty="0">
                <a:solidFill>
                  <a:srgbClr val="D9C7CD"/>
                </a:solidFill>
                <a:latin typeface="Calibri" pitchFamily="34" charset="0"/>
                <a:ea typeface="Calibri" pitchFamily="34" charset="-122"/>
                <a:cs typeface="Calibri" pitchFamily="34" charset="-120"/>
              </a:rPr>
              <a:t>Planifier, enregistrer et analyser ses entraînements : une application Angular et FastAPI, organisée autour d’une API sécurisée et d’une base de données relationnelle.</a:t>
            </a:r>
            <a:endParaRPr lang="en-US" sz="1600" dirty="0"/>
          </a:p>
        </p:txBody>
      </p:sp>
      <p:sp>
        <p:nvSpPr>
          <p:cNvPr id="7" name="Text 5"/>
          <p:cNvSpPr txBox="1"/>
          <p:nvPr/>
        </p:nvSpPr>
        <p:spPr>
          <a:xfrm>
            <a:off x="548640" y="3840480"/>
            <a:ext cx="5486400" cy="256032"/>
          </a:xfrm>
          <a:prstGeom prst="rect">
            <a:avLst/>
          </a:prstGeom>
          <a:noFill/>
          <a:ln/>
        </p:spPr>
        <p:txBody>
          <a:bodyPr wrap="square" lIns="0" tIns="0" rIns="0" bIns="0" rtlCol="0" anchor="t"/>
          <a:lstStyle/>
          <a:p>
            <a:pPr indent="0" marL="0">
              <a:buNone/>
            </a:pPr>
            <a:r>
              <a:rPr lang="en-US" sz="1100" b="1" spc="300" kern="0" dirty="0">
                <a:solidFill>
                  <a:srgbClr val="E3A857"/>
                </a:solidFill>
                <a:latin typeface="Calibri" pitchFamily="34" charset="0"/>
                <a:ea typeface="Calibri" pitchFamily="34" charset="-122"/>
                <a:cs typeface="Calibri" pitchFamily="34" charset="-120"/>
              </a:rPr>
              <a:t>PROCHAINES ÉVOLUTIONS</a:t>
            </a:r>
            <a:endParaRPr lang="en-US" sz="1100" dirty="0"/>
          </a:p>
        </p:txBody>
      </p:sp>
      <p:sp>
        <p:nvSpPr>
          <p:cNvPr id="8" name="Shape 6"/>
          <p:cNvSpPr/>
          <p:nvPr/>
        </p:nvSpPr>
        <p:spPr>
          <a:xfrm>
            <a:off x="548640" y="4206240"/>
            <a:ext cx="1874520" cy="1325880"/>
          </a:xfrm>
          <a:prstGeom prst="roundRect">
            <a:avLst>
              <a:gd name="adj" fmla="val 9655"/>
            </a:avLst>
          </a:prstGeom>
          <a:solidFill>
            <a:srgbClr val="2E1C27"/>
          </a:solidFill>
          <a:ln w="12700">
            <a:solidFill>
              <a:srgbClr val="2E1C27"/>
            </a:solidFill>
            <a:prstDash val="solid"/>
          </a:ln>
        </p:spPr>
      </p:sp>
      <p:sp>
        <p:nvSpPr>
          <p:cNvPr id="9" name="Shape 7"/>
          <p:cNvSpPr/>
          <p:nvPr/>
        </p:nvSpPr>
        <p:spPr>
          <a:xfrm>
            <a:off x="731520" y="4370832"/>
            <a:ext cx="438912" cy="438912"/>
          </a:xfrm>
          <a:prstGeom prst="roundRect">
            <a:avLst>
              <a:gd name="adj" fmla="val 28000"/>
            </a:avLst>
          </a:prstGeom>
          <a:solidFill>
            <a:srgbClr val="9C2F68"/>
          </a:solidFill>
          <a:ln w="12700">
            <a:solidFill>
              <a:srgbClr val="9C2F68"/>
            </a:solidFill>
            <a:prstDash val="solid"/>
          </a:ln>
        </p:spPr>
      </p:sp>
      <p:pic>
        <p:nvPicPr>
          <p:cNvPr id="10" name="Image 0" descr="preencoded.png">    </p:cNvPr>
          <p:cNvPicPr>
            <a:picLocks noChangeAspect="1"/>
          </p:cNvPicPr>
          <p:nvPr/>
        </p:nvPicPr>
        <p:blipFill>
          <a:blip r:embed="rId1"/>
          <a:stretch>
            <a:fillRect/>
          </a:stretch>
        </p:blipFill>
        <p:spPr>
          <a:xfrm>
            <a:off x="836859" y="4476171"/>
            <a:ext cx="228234" cy="228234"/>
          </a:xfrm>
          <a:prstGeom prst="rect">
            <a:avLst/>
          </a:prstGeom>
        </p:spPr>
      </p:pic>
      <p:sp>
        <p:nvSpPr>
          <p:cNvPr id="11" name="Text 8"/>
          <p:cNvSpPr txBox="1"/>
          <p:nvPr/>
        </p:nvSpPr>
        <p:spPr>
          <a:xfrm>
            <a:off x="731520" y="4901184"/>
            <a:ext cx="160020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Rappels par e-mail</a:t>
            </a:r>
            <a:endParaRPr lang="en-US" sz="1300" dirty="0"/>
          </a:p>
        </p:txBody>
      </p:sp>
      <p:sp>
        <p:nvSpPr>
          <p:cNvPr id="12" name="Text 9"/>
          <p:cNvSpPr txBox="1"/>
          <p:nvPr/>
        </p:nvSpPr>
        <p:spPr>
          <a:xfrm>
            <a:off x="731520" y="5157216"/>
            <a:ext cx="1600200" cy="274320"/>
          </a:xfrm>
          <a:prstGeom prst="rect">
            <a:avLst/>
          </a:prstGeom>
          <a:noFill/>
          <a:ln/>
        </p:spPr>
        <p:txBody>
          <a:bodyPr wrap="square" lIns="0" tIns="0" rIns="0" bIns="0" rtlCol="0" anchor="t"/>
          <a:lstStyle/>
          <a:p>
            <a:pPr indent="0" marL="0">
              <a:buNone/>
            </a:pPr>
            <a:r>
              <a:rPr lang="en-US" sz="1100" dirty="0">
                <a:solidFill>
                  <a:srgbClr val="D9C7CD"/>
                </a:solidFill>
                <a:latin typeface="Calibri" pitchFamily="34" charset="0"/>
                <a:ea typeface="Calibri" pitchFamily="34" charset="-122"/>
                <a:cs typeface="Calibri" pitchFamily="34" charset="-120"/>
              </a:rPr>
              <a:t>Avant chaque séance</a:t>
            </a:r>
            <a:endParaRPr lang="en-US" sz="1100" dirty="0"/>
          </a:p>
        </p:txBody>
      </p:sp>
      <p:sp>
        <p:nvSpPr>
          <p:cNvPr id="13" name="Shape 10"/>
          <p:cNvSpPr/>
          <p:nvPr/>
        </p:nvSpPr>
        <p:spPr>
          <a:xfrm>
            <a:off x="2560320" y="4206240"/>
            <a:ext cx="1874520" cy="1325880"/>
          </a:xfrm>
          <a:prstGeom prst="roundRect">
            <a:avLst>
              <a:gd name="adj" fmla="val 9655"/>
            </a:avLst>
          </a:prstGeom>
          <a:solidFill>
            <a:srgbClr val="2E1C27"/>
          </a:solidFill>
          <a:ln w="12700">
            <a:solidFill>
              <a:srgbClr val="2E1C27"/>
            </a:solidFill>
            <a:prstDash val="solid"/>
          </a:ln>
        </p:spPr>
      </p:sp>
      <p:sp>
        <p:nvSpPr>
          <p:cNvPr id="14" name="Shape 11"/>
          <p:cNvSpPr/>
          <p:nvPr/>
        </p:nvSpPr>
        <p:spPr>
          <a:xfrm>
            <a:off x="2743200" y="4370832"/>
            <a:ext cx="438912" cy="438912"/>
          </a:xfrm>
          <a:prstGeom prst="roundRect">
            <a:avLst>
              <a:gd name="adj" fmla="val 28000"/>
            </a:avLst>
          </a:prstGeom>
          <a:solidFill>
            <a:srgbClr val="9C2F68"/>
          </a:solidFill>
          <a:ln w="12700">
            <a:solidFill>
              <a:srgbClr val="9C2F68"/>
            </a:solidFill>
            <a:prstDash val="solid"/>
          </a:ln>
        </p:spPr>
      </p:sp>
      <p:pic>
        <p:nvPicPr>
          <p:cNvPr id="15" name="Image 1" descr="preencoded.png">    </p:cNvPr>
          <p:cNvPicPr>
            <a:picLocks noChangeAspect="1"/>
          </p:cNvPicPr>
          <p:nvPr/>
        </p:nvPicPr>
        <p:blipFill>
          <a:blip r:embed="rId2"/>
          <a:stretch>
            <a:fillRect/>
          </a:stretch>
        </p:blipFill>
        <p:spPr>
          <a:xfrm>
            <a:off x="2848539" y="4476171"/>
            <a:ext cx="228234" cy="228234"/>
          </a:xfrm>
          <a:prstGeom prst="rect">
            <a:avLst/>
          </a:prstGeom>
        </p:spPr>
      </p:pic>
      <p:sp>
        <p:nvSpPr>
          <p:cNvPr id="16" name="Text 12"/>
          <p:cNvSpPr txBox="1"/>
          <p:nvPr/>
        </p:nvSpPr>
        <p:spPr>
          <a:xfrm>
            <a:off x="2743200" y="4901184"/>
            <a:ext cx="160020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Mise en ligne</a:t>
            </a:r>
            <a:endParaRPr lang="en-US" sz="1300" dirty="0"/>
          </a:p>
        </p:txBody>
      </p:sp>
      <p:sp>
        <p:nvSpPr>
          <p:cNvPr id="17" name="Text 13"/>
          <p:cNvSpPr txBox="1"/>
          <p:nvPr/>
        </p:nvSpPr>
        <p:spPr>
          <a:xfrm>
            <a:off x="2743200" y="5157216"/>
            <a:ext cx="1600200" cy="274320"/>
          </a:xfrm>
          <a:prstGeom prst="rect">
            <a:avLst/>
          </a:prstGeom>
          <a:noFill/>
          <a:ln/>
        </p:spPr>
        <p:txBody>
          <a:bodyPr wrap="square" lIns="0" tIns="0" rIns="0" bIns="0" rtlCol="0" anchor="t"/>
          <a:lstStyle/>
          <a:p>
            <a:pPr indent="0" marL="0">
              <a:buNone/>
            </a:pPr>
            <a:r>
              <a:rPr lang="en-US" sz="1100" dirty="0">
                <a:solidFill>
                  <a:srgbClr val="D9C7CD"/>
                </a:solidFill>
                <a:latin typeface="Calibri" pitchFamily="34" charset="0"/>
                <a:ea typeface="Calibri" pitchFamily="34" charset="-122"/>
                <a:cs typeface="Calibri" pitchFamily="34" charset="-120"/>
              </a:rPr>
              <a:t>HTTPS, base Azure SQL</a:t>
            </a:r>
            <a:endParaRPr lang="en-US" sz="1100" dirty="0"/>
          </a:p>
        </p:txBody>
      </p:sp>
      <p:sp>
        <p:nvSpPr>
          <p:cNvPr id="18" name="Shape 14"/>
          <p:cNvSpPr/>
          <p:nvPr/>
        </p:nvSpPr>
        <p:spPr>
          <a:xfrm>
            <a:off x="4572000" y="4206240"/>
            <a:ext cx="1874520" cy="1325880"/>
          </a:xfrm>
          <a:prstGeom prst="roundRect">
            <a:avLst>
              <a:gd name="adj" fmla="val 9655"/>
            </a:avLst>
          </a:prstGeom>
          <a:solidFill>
            <a:srgbClr val="2E1C27"/>
          </a:solidFill>
          <a:ln w="12700">
            <a:solidFill>
              <a:srgbClr val="2E1C27"/>
            </a:solidFill>
            <a:prstDash val="solid"/>
          </a:ln>
        </p:spPr>
      </p:sp>
      <p:sp>
        <p:nvSpPr>
          <p:cNvPr id="19" name="Shape 15"/>
          <p:cNvSpPr/>
          <p:nvPr/>
        </p:nvSpPr>
        <p:spPr>
          <a:xfrm>
            <a:off x="4754880" y="4370832"/>
            <a:ext cx="438912" cy="438912"/>
          </a:xfrm>
          <a:prstGeom prst="roundRect">
            <a:avLst>
              <a:gd name="adj" fmla="val 28000"/>
            </a:avLst>
          </a:prstGeom>
          <a:solidFill>
            <a:srgbClr val="9C2F68"/>
          </a:solidFill>
          <a:ln w="12700">
            <a:solidFill>
              <a:srgbClr val="9C2F68"/>
            </a:solidFill>
            <a:prstDash val="solid"/>
          </a:ln>
        </p:spPr>
      </p:sp>
      <p:pic>
        <p:nvPicPr>
          <p:cNvPr id="20" name="Image 2" descr="preencoded.png">    </p:cNvPr>
          <p:cNvPicPr>
            <a:picLocks noChangeAspect="1"/>
          </p:cNvPicPr>
          <p:nvPr/>
        </p:nvPicPr>
        <p:blipFill>
          <a:blip r:embed="rId3"/>
          <a:stretch>
            <a:fillRect/>
          </a:stretch>
        </p:blipFill>
        <p:spPr>
          <a:xfrm>
            <a:off x="4860219" y="4476171"/>
            <a:ext cx="228234" cy="228234"/>
          </a:xfrm>
          <a:prstGeom prst="rect">
            <a:avLst/>
          </a:prstGeom>
        </p:spPr>
      </p:pic>
      <p:sp>
        <p:nvSpPr>
          <p:cNvPr id="21" name="Text 16"/>
          <p:cNvSpPr txBox="1"/>
          <p:nvPr/>
        </p:nvSpPr>
        <p:spPr>
          <a:xfrm>
            <a:off x="4754880" y="4901184"/>
            <a:ext cx="160020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Messagerie</a:t>
            </a:r>
            <a:endParaRPr lang="en-US" sz="1300" dirty="0"/>
          </a:p>
        </p:txBody>
      </p:sp>
      <p:sp>
        <p:nvSpPr>
          <p:cNvPr id="22" name="Text 17"/>
          <p:cNvSpPr txBox="1"/>
          <p:nvPr/>
        </p:nvSpPr>
        <p:spPr>
          <a:xfrm>
            <a:off x="4754880" y="5157216"/>
            <a:ext cx="1600200" cy="274320"/>
          </a:xfrm>
          <a:prstGeom prst="rect">
            <a:avLst/>
          </a:prstGeom>
          <a:noFill/>
          <a:ln/>
        </p:spPr>
        <p:txBody>
          <a:bodyPr wrap="square" lIns="0" tIns="0" rIns="0" bIns="0" rtlCol="0" anchor="t"/>
          <a:lstStyle/>
          <a:p>
            <a:pPr indent="0" marL="0">
              <a:buNone/>
            </a:pPr>
            <a:r>
              <a:rPr lang="en-US" sz="1100" dirty="0">
                <a:solidFill>
                  <a:srgbClr val="D9C7CD"/>
                </a:solidFill>
                <a:latin typeface="Calibri" pitchFamily="34" charset="0"/>
                <a:ea typeface="Calibri" pitchFamily="34" charset="-122"/>
                <a:cs typeface="Calibri" pitchFamily="34" charset="-120"/>
              </a:rPr>
              <a:t>Coach ↔ sportif</a:t>
            </a:r>
            <a:endParaRPr lang="en-US" sz="1100" dirty="0"/>
          </a:p>
        </p:txBody>
      </p:sp>
      <p:sp>
        <p:nvSpPr>
          <p:cNvPr id="23" name="Shape 18"/>
          <p:cNvSpPr/>
          <p:nvPr/>
        </p:nvSpPr>
        <p:spPr>
          <a:xfrm>
            <a:off x="6949440" y="1051560"/>
            <a:ext cx="4690872" cy="2926080"/>
          </a:xfrm>
          <a:prstGeom prst="roundRect">
            <a:avLst>
              <a:gd name="adj" fmla="val 2500"/>
            </a:avLst>
          </a:prstGeom>
          <a:solidFill>
            <a:srgbClr val="FFFFFF"/>
          </a:solidFill>
          <a:ln w="9525">
            <a:solidFill>
              <a:srgbClr val="E6D8DE"/>
            </a:solidFill>
            <a:prstDash val="solid"/>
          </a:ln>
          <a:effectLst>
            <a:outerShdw sx="100000" sy="100000" kx="0" ky="0" algn="bl" rotWithShape="0" blurRad="177800" dist="38100" dir="5400000">
              <a:srgbClr val="000000">
                <a:alpha val="16000"/>
              </a:srgbClr>
            </a:outerShdw>
          </a:effectLst>
        </p:spPr>
      </p:sp>
      <p:pic>
        <p:nvPicPr>
          <p:cNvPr id="24" name="Image 3" descr="img/dashboard-dark.png">    </p:cNvPr>
          <p:cNvPicPr>
            <a:picLocks noChangeAspect="1"/>
          </p:cNvPicPr>
          <p:nvPr/>
        </p:nvPicPr>
        <p:blipFill>
          <a:blip r:embed="rId4"/>
          <a:stretch>
            <a:fillRect/>
          </a:stretch>
        </p:blipFill>
        <p:spPr>
          <a:xfrm>
            <a:off x="6949440" y="1051560"/>
            <a:ext cx="4690872" cy="2926080"/>
          </a:xfrm>
          <a:prstGeom prst="rect">
            <a:avLst/>
          </a:prstGeom>
        </p:spPr>
      </p:pic>
      <p:sp>
        <p:nvSpPr>
          <p:cNvPr id="25" name="Text 19"/>
          <p:cNvSpPr txBox="1"/>
          <p:nvPr/>
        </p:nvSpPr>
        <p:spPr>
          <a:xfrm>
            <a:off x="6949440" y="4480560"/>
            <a:ext cx="4690872" cy="54864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Merci de votre attention</a:t>
            </a:r>
            <a:endParaRPr lang="en-US" sz="3000" dirty="0"/>
          </a:p>
        </p:txBody>
      </p:sp>
      <p:sp>
        <p:nvSpPr>
          <p:cNvPr id="26" name="Text 20"/>
          <p:cNvSpPr txBox="1"/>
          <p:nvPr/>
        </p:nvSpPr>
        <p:spPr>
          <a:xfrm>
            <a:off x="6949440" y="5074920"/>
            <a:ext cx="4690872" cy="457200"/>
          </a:xfrm>
          <a:prstGeom prst="rect">
            <a:avLst/>
          </a:prstGeom>
          <a:noFill/>
          <a:ln/>
        </p:spPr>
        <p:txBody>
          <a:bodyPr wrap="square" lIns="0" tIns="0" rIns="0" bIns="0" rtlCol="0" anchor="t"/>
          <a:lstStyle/>
          <a:p>
            <a:pPr indent="0" marL="0">
              <a:buNone/>
            </a:pPr>
            <a:r>
              <a:rPr lang="en-US" sz="2200" dirty="0">
                <a:solidFill>
                  <a:srgbClr val="E3A857"/>
                </a:solidFill>
                <a:latin typeface="Calibri" pitchFamily="34" charset="0"/>
                <a:ea typeface="Calibri" pitchFamily="34" charset="-122"/>
                <a:cs typeface="Calibri" pitchFamily="34" charset="-120"/>
              </a:rPr>
              <a:t>Des questions ?</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SportPlan — Présentation du projet de fin de formation</dc:title>
  <dc:subject>PptxGenJS Presentation</dc:subject>
  <dc:creator>Loïc Vanden Berghe</dc:creator>
  <cp:lastModifiedBy>Loïc Vanden Berghe</cp:lastModifiedBy>
  <cp:revision>1</cp:revision>
  <dcterms:created xsi:type="dcterms:W3CDTF">2026-09-30T17:06:33Z</dcterms:created>
  <dcterms:modified xsi:type="dcterms:W3CDTF">2026-09-30T17:06:33Z</dcterms:modified>
</cp:coreProperties>
</file>